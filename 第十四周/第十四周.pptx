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3E_395FAAD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65" r:id="rId3"/>
    <p:sldId id="328" r:id="rId4"/>
    <p:sldId id="311" r:id="rId5"/>
    <p:sldId id="313" r:id="rId6"/>
    <p:sldId id="312" r:id="rId7"/>
    <p:sldId id="314" r:id="rId8"/>
    <p:sldId id="315" r:id="rId9"/>
    <p:sldId id="316" r:id="rId10"/>
    <p:sldId id="318" r:id="rId11"/>
    <p:sldId id="319" r:id="rId12"/>
    <p:sldId id="320" r:id="rId13"/>
    <p:sldId id="321" r:id="rId14"/>
    <p:sldId id="329" r:id="rId15"/>
    <p:sldId id="323" r:id="rId16"/>
    <p:sldId id="324" r:id="rId17"/>
    <p:sldId id="325" r:id="rId18"/>
    <p:sldId id="326" r:id="rId19"/>
    <p:sldId id="267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EBB95DC8-3C02-44AB-B1ED-631A26AB7D99}">
          <p14:sldIdLst>
            <p14:sldId id="256"/>
            <p14:sldId id="265"/>
          </p14:sldIdLst>
        </p14:section>
        <p14:section name="未命名的章節" id="{F44A88FC-5764-4BC3-ABBF-5EAB90BC7E1E}">
          <p14:sldIdLst>
            <p14:sldId id="328"/>
            <p14:sldId id="311"/>
            <p14:sldId id="313"/>
            <p14:sldId id="312"/>
            <p14:sldId id="314"/>
            <p14:sldId id="315"/>
            <p14:sldId id="316"/>
            <p14:sldId id="318"/>
            <p14:sldId id="319"/>
            <p14:sldId id="320"/>
            <p14:sldId id="321"/>
            <p14:sldId id="329"/>
            <p14:sldId id="323"/>
            <p14:sldId id="324"/>
            <p14:sldId id="325"/>
            <p14:sldId id="326"/>
          </p14:sldIdLst>
        </p14:section>
        <p14:section name="未命名" id="{AB201B5D-527D-45AB-B57D-ED06D7FF839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BC31086-2AF2-3F16-5EA2-3F836B72C889}" name="家耀 張" initials="家張" userId="2864388ae36ba22c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40" autoAdjust="0"/>
    <p:restoredTop sz="95829" autoAdjust="0"/>
  </p:normalViewPr>
  <p:slideViewPr>
    <p:cSldViewPr>
      <p:cViewPr varScale="1">
        <p:scale>
          <a:sx n="72" d="100"/>
          <a:sy n="72" d="100"/>
        </p:scale>
        <p:origin x="77" y="7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811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9.xml"/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comments/modernComment_13E_395FAA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26DA36A-65FB-4B67-9FBD-7195E197AB1E}" authorId="{0BC31086-2AF2-3F16-5EA2-3F836B72C889}" created="2026-05-24T15:48:28.260">
    <pc:sldMkLst xmlns:pc="http://schemas.microsoft.com/office/powerpoint/2013/main/command">
      <pc:docMk/>
      <pc:sldMk cId="60160685" sldId="318"/>
    </pc:sldMkLst>
    <p188:txBody>
      <a:bodyPr/>
      <a:lstStyle/>
      <a:p>
        <a:r>
          <a:rPr lang="zh-TW" altLang="en-US"/>
          <a:t>13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10137-1A81-4E0D-9032-609E98C676AE}" type="datetimeFigureOut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C839D-53C0-477E-9499-3CBD2E0855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48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105BB-BE46-BAA0-2699-41F3E9CB3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A45AA42-6F43-0D9F-A2D2-74ABC9316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906F7F3-9730-E498-A978-4AA4E448B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3C15C4-CF4C-6B66-4AEE-9E1A301AE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6814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4D40A-4B2B-C1B9-C786-CF6215103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8C47FB-0526-6329-F844-D1ECA637F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FAAD22C-5C2C-3DFA-B2D5-50A347D5B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F792B6-47BF-53C6-F576-5EDE4073D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7689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5E7E3-6D34-EB92-1B19-AE85964FB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8915DF6-B590-BC75-EAC9-C9E2C29B8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EE4A18-16C2-3339-5150-2CE880CFC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>
                <a:solidFill>
                  <a:schemeClr val="bg1"/>
                </a:solidFill>
              </a:rPr>
              <a:t>查詢</a:t>
            </a:r>
            <a:r>
              <a:rPr lang="en-US" altLang="zh-TW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>
                <a:solidFill>
                  <a:schemeClr val="bg1"/>
                </a:solidFill>
              </a:rPr>
              <a:t>python -c "import django; print</a:t>
            </a:r>
            <a:r>
              <a:rPr lang="en-US" altLang="zh-TW" dirty="0">
                <a:solidFill>
                  <a:schemeClr val="bg1"/>
                </a:solidFill>
              </a:rPr>
              <a:t>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94484C-8C66-39DC-E34F-5B1BFF210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3090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B86A6-CAD3-013B-CB90-C9230BA4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A454F93-78E9-4A77-A0F8-D2925D7A3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57EF0DF-7155-DC50-BEA8-1BF5F5EFC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>
                <a:solidFill>
                  <a:schemeClr val="bg1"/>
                </a:solidFill>
              </a:rPr>
              <a:t>查詢</a:t>
            </a:r>
            <a:r>
              <a:rPr lang="en-US" altLang="zh-TW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>
                <a:solidFill>
                  <a:schemeClr val="bg1"/>
                </a:solidFill>
              </a:rPr>
              <a:t>python -c "import django; print</a:t>
            </a:r>
            <a:r>
              <a:rPr lang="en-US" altLang="zh-TW" dirty="0">
                <a:solidFill>
                  <a:schemeClr val="bg1"/>
                </a:solidFill>
              </a:rPr>
              <a:t>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C5E0EC-CE6C-776B-65E1-C28270726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5765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9789-0EF6-4FDB-FF3D-CCD047450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2629E9B-B536-42E4-D2E6-E4F8A78F6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19CDBE7-5FF9-01E5-CFD9-5D5B58281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>
                <a:solidFill>
                  <a:schemeClr val="bg1"/>
                </a:solidFill>
              </a:rPr>
              <a:t>查詢</a:t>
            </a:r>
            <a:r>
              <a:rPr lang="en-US" altLang="zh-TW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>
                <a:solidFill>
                  <a:schemeClr val="bg1"/>
                </a:solidFill>
              </a:rPr>
              <a:t>python -c "import django; print</a:t>
            </a:r>
            <a:r>
              <a:rPr lang="en-US" altLang="zh-TW" dirty="0">
                <a:solidFill>
                  <a:schemeClr val="bg1"/>
                </a:solidFill>
              </a:rPr>
              <a:t>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DD9224-390F-626A-84D2-30CD6BA22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342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387AD-1EC6-2BEC-A779-F9F0FAFFB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F978C95-B918-FF6E-A8CC-B924036A6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015B0E2-CE6E-8537-B609-545D574A0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>
                <a:solidFill>
                  <a:schemeClr val="bg1"/>
                </a:solidFill>
              </a:rPr>
              <a:t>查詢</a:t>
            </a:r>
            <a:r>
              <a:rPr lang="en-US" altLang="zh-TW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>
                <a:solidFill>
                  <a:schemeClr val="bg1"/>
                </a:solidFill>
              </a:rPr>
              <a:t>python -c "import django; print</a:t>
            </a:r>
            <a:r>
              <a:rPr lang="en-US" altLang="zh-TW" dirty="0">
                <a:solidFill>
                  <a:schemeClr val="bg1"/>
                </a:solidFill>
              </a:rPr>
              <a:t>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BEECDF-BB48-4872-83B5-CC2D82BB13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078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41DA-D818-E7B4-7038-B85BD96E3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2BDF1C5-8840-6862-06BF-4CE36AE9E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929D584-CD84-ACCF-1B3E-8D77F917E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>
                <a:solidFill>
                  <a:schemeClr val="bg1"/>
                </a:solidFill>
              </a:rPr>
              <a:t>查詢</a:t>
            </a:r>
            <a:r>
              <a:rPr lang="en-US" altLang="zh-TW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>
                <a:solidFill>
                  <a:schemeClr val="bg1"/>
                </a:solidFill>
              </a:rPr>
              <a:t>python -c "import django; print</a:t>
            </a:r>
            <a:r>
              <a:rPr lang="en-US" altLang="zh-TW" dirty="0">
                <a:solidFill>
                  <a:schemeClr val="bg1"/>
                </a:solidFill>
              </a:rPr>
              <a:t>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59B864-2E67-734C-3A0F-AAE09E8A1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2775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E9319-E989-A0DA-8064-BAA3B1C44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4FB62B1-A677-4808-5902-E0C71AA98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DEAEE7A-9593-9E1A-AAA2-861B0F036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>
                <a:solidFill>
                  <a:schemeClr val="bg1"/>
                </a:solidFill>
              </a:rPr>
              <a:t>查詢</a:t>
            </a:r>
            <a:r>
              <a:rPr lang="en-US" altLang="zh-TW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>
                <a:solidFill>
                  <a:schemeClr val="bg1"/>
                </a:solidFill>
              </a:rPr>
              <a:t>python -c "import django; print</a:t>
            </a:r>
            <a:r>
              <a:rPr lang="en-US" altLang="zh-TW" dirty="0">
                <a:solidFill>
                  <a:schemeClr val="bg1"/>
                </a:solidFill>
              </a:rPr>
              <a:t>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31A315-24D8-4B59-60CF-072AAEE759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4344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EDCCA-1762-50D9-AC3F-AA8E61656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7D53BAC-B762-DD0E-84BA-92C292925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A4542A3-A4A9-BDF6-D85E-D3F72B8DB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>
                <a:solidFill>
                  <a:schemeClr val="bg1"/>
                </a:solidFill>
              </a:rPr>
              <a:t>查詢</a:t>
            </a:r>
            <a:r>
              <a:rPr lang="en-US" altLang="zh-TW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>
                <a:solidFill>
                  <a:schemeClr val="bg1"/>
                </a:solidFill>
              </a:rPr>
              <a:t>python -c "import django; print</a:t>
            </a:r>
            <a:r>
              <a:rPr lang="en-US" altLang="zh-TW" dirty="0">
                <a:solidFill>
                  <a:schemeClr val="bg1"/>
                </a:solidFill>
              </a:rPr>
              <a:t>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5D39D9-7275-84A7-188F-20893826F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88603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8CF60-5C48-0955-2317-14DFAEC22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504296A-3951-A7AA-0BD2-A8A52EE35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FA4843F-C259-6EA4-E71E-E115C127F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>
                <a:solidFill>
                  <a:schemeClr val="bg1"/>
                </a:solidFill>
              </a:rPr>
              <a:t>查詢</a:t>
            </a:r>
            <a:r>
              <a:rPr lang="en-US" altLang="zh-TW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>
                <a:solidFill>
                  <a:schemeClr val="bg1"/>
                </a:solidFill>
              </a:rPr>
              <a:t>python -c "import django; print</a:t>
            </a:r>
            <a:r>
              <a:rPr lang="en-US" altLang="zh-TW" dirty="0">
                <a:solidFill>
                  <a:schemeClr val="bg1"/>
                </a:solidFill>
              </a:rPr>
              <a:t>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C7B59E-84FF-2535-DAE3-E6E329240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46792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37EB7-8ACE-68F6-C80A-D4C45F387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46BDDFE-3093-80FC-D5EF-E610517EA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4A03AD8-A0CA-8B76-488D-CCB08EBC6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>
                <a:solidFill>
                  <a:schemeClr val="bg1"/>
                </a:solidFill>
              </a:rPr>
              <a:t>查詢</a:t>
            </a:r>
            <a:r>
              <a:rPr lang="en-US" altLang="zh-TW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>
                <a:solidFill>
                  <a:schemeClr val="bg1"/>
                </a:solidFill>
              </a:rPr>
              <a:t>python -c "import django; print</a:t>
            </a:r>
            <a:r>
              <a:rPr lang="en-US" altLang="zh-TW" dirty="0">
                <a:solidFill>
                  <a:schemeClr val="bg1"/>
                </a:solidFill>
              </a:rPr>
              <a:t>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F174D30-037A-246E-2D74-09E3FBEE34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15866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BEEB-B5A6-F67E-A31A-FFD8EA2D7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FA444BC-D645-5BCB-C614-5E61ACC55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5AC7507-72BE-D60D-CA52-807406619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>
                <a:solidFill>
                  <a:schemeClr val="bg1"/>
                </a:solidFill>
              </a:rPr>
              <a:t>查詢</a:t>
            </a:r>
            <a:r>
              <a:rPr lang="en-US" altLang="zh-TW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>
                <a:solidFill>
                  <a:schemeClr val="bg1"/>
                </a:solidFill>
              </a:rPr>
              <a:t>python -c "import django; print</a:t>
            </a:r>
            <a:r>
              <a:rPr lang="en-US" altLang="zh-TW" dirty="0">
                <a:solidFill>
                  <a:schemeClr val="bg1"/>
                </a:solidFill>
              </a:rPr>
              <a:t>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148925-B0E3-9983-02BD-A454763597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5418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703C1-8740-0EFC-5909-751DA947D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6C2E3C9-260E-6335-9F58-B9DAD5D0D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C173D3A-E6F7-46BB-9C68-32792E7CE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>
                <a:solidFill>
                  <a:schemeClr val="bg1"/>
                </a:solidFill>
              </a:rPr>
              <a:t>查詢</a:t>
            </a:r>
            <a:r>
              <a:rPr lang="en-US" altLang="zh-TW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>
                <a:solidFill>
                  <a:schemeClr val="bg1"/>
                </a:solidFill>
              </a:rPr>
              <a:t>python -c "import django; print</a:t>
            </a:r>
            <a:r>
              <a:rPr lang="en-US" altLang="zh-TW" dirty="0">
                <a:solidFill>
                  <a:schemeClr val="bg1"/>
                </a:solidFill>
              </a:rPr>
              <a:t>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43C281-36E8-921A-7F2C-774A2408E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61273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DAAF9-56AB-FB88-3211-801062E9F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F76AEBC-26B1-110A-1550-A7E40A794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03634D-34F5-D21C-EA45-5B3441E27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>
                <a:solidFill>
                  <a:schemeClr val="bg1"/>
                </a:solidFill>
              </a:rPr>
              <a:t>查詢</a:t>
            </a:r>
            <a:r>
              <a:rPr lang="en-US" altLang="zh-TW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>
                <a:solidFill>
                  <a:schemeClr val="bg1"/>
                </a:solidFill>
              </a:rPr>
              <a:t>python -c "import django; print</a:t>
            </a:r>
            <a:r>
              <a:rPr lang="en-US" altLang="zh-TW" dirty="0">
                <a:solidFill>
                  <a:schemeClr val="bg1"/>
                </a:solidFill>
              </a:rPr>
              <a:t>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EDBFB0-1F86-0E52-888C-92792BFF3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9701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CAFA0-91DC-ED2E-3A58-6C9355F3B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EBBD3C7-92F9-E920-9C98-C2B7E0337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9CA3DD7-73C5-4862-E3C7-DB76B59F4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>
                <a:solidFill>
                  <a:schemeClr val="bg1"/>
                </a:solidFill>
              </a:rPr>
              <a:t>查詢</a:t>
            </a:r>
            <a:r>
              <a:rPr lang="en-US" altLang="zh-TW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>
                <a:solidFill>
                  <a:schemeClr val="bg1"/>
                </a:solidFill>
              </a:rPr>
              <a:t>python -c "import django; print</a:t>
            </a:r>
            <a:r>
              <a:rPr lang="en-US" altLang="zh-TW" dirty="0">
                <a:solidFill>
                  <a:schemeClr val="bg1"/>
                </a:solidFill>
              </a:rPr>
              <a:t>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6B8A01-F571-418F-3717-6598B3087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66377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0D442-0B8B-5702-A72B-4379A2B6C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0852DF9-9EBC-2FEA-A9B2-B4BD9D37B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274BCEB-A8C2-72A3-CF48-ACE5B72BB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>
                <a:solidFill>
                  <a:schemeClr val="bg1"/>
                </a:solidFill>
              </a:rPr>
              <a:t>查詢</a:t>
            </a:r>
            <a:r>
              <a:rPr lang="en-US" altLang="zh-TW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>
                <a:solidFill>
                  <a:schemeClr val="bg1"/>
                </a:solidFill>
              </a:rPr>
              <a:t>python -c "import django; print</a:t>
            </a:r>
            <a:r>
              <a:rPr lang="en-US" altLang="zh-TW" dirty="0">
                <a:solidFill>
                  <a:schemeClr val="bg1"/>
                </a:solidFill>
              </a:rPr>
              <a:t>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F80959-4B53-4094-A419-A91670C1D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377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A29149-C5EC-49F5-B776-734C8347F9B8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566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A1866-9651-4908-B57D-19F66F0CB226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266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6B79E9-7AAB-4684-B228-C54A80412DF5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80313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ED6E-AB36-46F9-B3E7-BAEC20D2097B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018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0E48-F43F-4A80-B766-141B04CC0EF6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336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353DF-7321-47E7-9181-A5F37F0EA25E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446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6700A-E63E-433A-BB48-9AACA55EC76A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668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4BBD1A-C821-4C1E-B76C-29EF781C868F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3568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B7CC28-8F5B-4A97-8B55-03B21E511C09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92167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1B6F8-1FD1-49D9-9A91-8C76D5C4DDDA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5197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BBB52-2634-497B-A0D7-869663A1893C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106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0FDC957E-D632-4B34-80D9-1804E7FA74AE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50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368">
          <p15:clr>
            <a:srgbClr val="F26B43"/>
          </p15:clr>
        </p15:guide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E_395FAAD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564904"/>
            <a:ext cx="7772400" cy="1470025"/>
          </a:xfrm>
        </p:spPr>
        <p:txBody>
          <a:bodyPr/>
          <a:lstStyle/>
          <a:p>
            <a:r>
              <a:rPr lang="zh-TW" altLang="en-US" dirty="0"/>
              <a:t>第十四週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972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112EFF-453D-AFCC-EA00-9AC9F10B3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488832" cy="654968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F9B01E-4D7A-0768-08F3-29B7EC228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915616"/>
            <a:ext cx="8352928" cy="5825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/>
              <a:t>文獻</a:t>
            </a:r>
            <a:endParaRPr lang="en-US" altLang="zh-TW" dirty="0"/>
          </a:p>
          <a:p>
            <a:r>
              <a:rPr lang="en-US" altLang="zh-TW"/>
              <a:t>Renpy </a:t>
            </a:r>
            <a:r>
              <a:rPr lang="zh-TW" altLang="en-US"/>
              <a:t>三四</a:t>
            </a:r>
            <a:r>
              <a:rPr lang="zh-TW" altLang="en-US" dirty="0"/>
              <a:t>章</a:t>
            </a:r>
            <a:r>
              <a:rPr lang="zh-TW" altLang="en-US"/>
              <a:t>劇情</a:t>
            </a:r>
            <a:r>
              <a:rPr lang="en-US" altLang="zh-TW"/>
              <a:t>-----</a:t>
            </a:r>
            <a:r>
              <a:rPr lang="zh-TW" altLang="en-US"/>
              <a:t> </a:t>
            </a:r>
            <a:r>
              <a:rPr lang="en-US" altLang="zh-TW"/>
              <a:t>xx</a:t>
            </a:r>
            <a:r>
              <a:rPr lang="en-US" altLang="zh-TW" dirty="0"/>
              <a:t>~</a:t>
            </a:r>
          </a:p>
          <a:p>
            <a:endParaRPr lang="en-US" altLang="zh-TW" dirty="0">
              <a:hlinkClick r:id="" action="ppaction://noaction"/>
            </a:endParaRPr>
          </a:p>
        </p:txBody>
      </p:sp>
    </p:spTree>
    <p:extLst>
      <p:ext uri="{BB962C8B-B14F-4D97-AF65-F5344CB8AC3E}">
        <p14:creationId xmlns:p14="http://schemas.microsoft.com/office/powerpoint/2010/main" val="1711701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A91B3-84B3-6F88-9473-F2D7AAA27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A9031797-9318-2232-12A7-1A02D388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>
                <a:latin typeface="+mn-ea"/>
              </a:rPr>
              <a:t>RenPy</a:t>
            </a:r>
            <a:r>
              <a:rPr lang="zh-TW" altLang="en-US">
                <a:latin typeface="+mn-ea"/>
              </a:rPr>
              <a:t> </a:t>
            </a:r>
            <a:r>
              <a:rPr lang="en-US" altLang="zh-TW">
                <a:latin typeface="+mn-ea"/>
              </a:rPr>
              <a:t>chapter3 (</a:t>
            </a:r>
            <a:r>
              <a:rPr lang="en-US" altLang="zh-TW" dirty="0">
                <a:latin typeface="+mn-ea"/>
              </a:rPr>
              <a:t>50%)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911EC68-B0FD-47CD-C0E9-6FC406A4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DC46E5B-09F7-CE40-0091-616532338743}"/>
              </a:ext>
            </a:extLst>
          </p:cNvPr>
          <p:cNvSpPr txBox="1"/>
          <p:nvPr/>
        </p:nvSpPr>
        <p:spPr>
          <a:xfrm>
            <a:off x="638484" y="1150664"/>
            <a:ext cx="8319511" cy="3785652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chemeClr val="bg1"/>
                </a:solidFill>
              </a:rPr>
              <a:t>label chapter3_intro: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    </a:t>
            </a:r>
            <a:r>
              <a:rPr lang="zh-TW" altLang="en-US" sz="1600" dirty="0">
                <a:solidFill>
                  <a:schemeClr val="bg1"/>
                </a:solidFill>
              </a:rPr>
              <a:t>  </a:t>
            </a:r>
            <a:r>
              <a:rPr lang="en-US" altLang="zh-TW" sz="1600" dirty="0">
                <a:solidFill>
                  <a:schemeClr val="bg1"/>
                </a:solidFill>
              </a:rPr>
              <a:t>“</a:t>
            </a:r>
            <a:r>
              <a:rPr lang="zh-TW" altLang="en-US" sz="1600" dirty="0">
                <a:solidFill>
                  <a:schemeClr val="bg1"/>
                </a:solidFill>
              </a:rPr>
              <a:t>進入公司</a:t>
            </a:r>
            <a:r>
              <a:rPr lang="en-US" altLang="zh-TW" sz="1600" dirty="0">
                <a:solidFill>
                  <a:schemeClr val="bg1"/>
                </a:solidFill>
              </a:rPr>
              <a:t>12</a:t>
            </a:r>
            <a:r>
              <a:rPr lang="zh-TW" altLang="en-US" sz="1600" dirty="0">
                <a:solidFill>
                  <a:schemeClr val="bg1"/>
                </a:solidFill>
              </a:rPr>
              <a:t>樓的投資分析辦公室，這裡留了一封內部郵件和權限受限制的</a:t>
            </a:r>
            <a:r>
              <a:rPr lang="en-US" altLang="zh-TW" sz="1600" dirty="0">
                <a:solidFill>
                  <a:schemeClr val="bg1"/>
                </a:solidFill>
              </a:rPr>
              <a:t>AI</a:t>
            </a:r>
            <a:r>
              <a:rPr lang="zh-TW" altLang="en-US" sz="1600" dirty="0">
                <a:solidFill>
                  <a:schemeClr val="bg1"/>
                </a:solidFill>
              </a:rPr>
              <a:t>助理，這時警報突然大響，主控台上出現了</a:t>
            </a:r>
            <a:r>
              <a:rPr lang="en-US" altLang="zh-TW" sz="1600" dirty="0">
                <a:solidFill>
                  <a:schemeClr val="bg1"/>
                </a:solidFill>
              </a:rPr>
              <a:t>AI</a:t>
            </a:r>
            <a:r>
              <a:rPr lang="zh-TW" altLang="en-US" sz="1600" dirty="0">
                <a:solidFill>
                  <a:schemeClr val="bg1"/>
                </a:solidFill>
              </a:rPr>
              <a:t>助理的聲音。</a:t>
            </a:r>
            <a:r>
              <a:rPr lang="en-US" altLang="zh-TW" sz="1600" dirty="0">
                <a:solidFill>
                  <a:schemeClr val="bg1"/>
                </a:solidFill>
              </a:rPr>
              <a:t>"</a:t>
            </a:r>
          </a:p>
          <a:p>
            <a:endParaRPr lang="en-US" altLang="zh-TW" sz="1600" dirty="0">
              <a:solidFill>
                <a:schemeClr val="bg1"/>
              </a:solidFill>
            </a:endParaRPr>
          </a:p>
          <a:p>
            <a:r>
              <a:rPr lang="en-US" altLang="zh-TW" sz="1600" dirty="0">
                <a:solidFill>
                  <a:schemeClr val="bg1"/>
                </a:solidFill>
              </a:rPr>
              <a:t>    	sys “【</a:t>
            </a:r>
            <a:r>
              <a:rPr lang="zh-TW" altLang="en-US" sz="1600" dirty="0">
                <a:solidFill>
                  <a:schemeClr val="bg1"/>
                </a:solidFill>
              </a:rPr>
              <a:t>警報</a:t>
            </a:r>
            <a:r>
              <a:rPr lang="en-US" altLang="zh-TW" sz="1600" dirty="0">
                <a:solidFill>
                  <a:schemeClr val="bg1"/>
                </a:solidFill>
              </a:rPr>
              <a:t>】</a:t>
            </a:r>
            <a:r>
              <a:rPr lang="zh-TW" altLang="en-US" sz="1600" dirty="0">
                <a:solidFill>
                  <a:schemeClr val="bg1"/>
                </a:solidFill>
              </a:rPr>
              <a:t>警告！警告！投資數據和資料被駭客入侵了，趕快去分析辦公室處理。</a:t>
            </a:r>
            <a:r>
              <a:rPr lang="en-US" altLang="zh-TW" sz="1600" dirty="0">
                <a:solidFill>
                  <a:schemeClr val="bg1"/>
                </a:solidFill>
              </a:rPr>
              <a:t>"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    	aria serious “</a:t>
            </a:r>
            <a:r>
              <a:rPr lang="zh-TW" altLang="en-US" sz="1600" dirty="0">
                <a:solidFill>
                  <a:schemeClr val="bg1"/>
                </a:solidFill>
              </a:rPr>
              <a:t>這裡會很麻煩。我會給你有 </a:t>
            </a:r>
            <a:r>
              <a:rPr lang="en-US" altLang="zh-TW" sz="1600" dirty="0">
                <a:solidFill>
                  <a:schemeClr val="bg1"/>
                </a:solidFill>
              </a:rPr>
              <a:t>Bug </a:t>
            </a:r>
            <a:r>
              <a:rPr lang="zh-TW" altLang="en-US" sz="1600" dirty="0">
                <a:solidFill>
                  <a:schemeClr val="bg1"/>
                </a:solidFill>
              </a:rPr>
              <a:t>的程式碼，你需要找出問題並修正。</a:t>
            </a:r>
            <a:endParaRPr lang="en-US" altLang="zh-TW" sz="1600" dirty="0">
              <a:solidFill>
                <a:schemeClr val="bg1"/>
              </a:solidFill>
            </a:endParaRPr>
          </a:p>
          <a:p>
            <a:endParaRPr lang="en-US" altLang="zh-TW" sz="1600" dirty="0">
              <a:solidFill>
                <a:schemeClr val="bg1"/>
              </a:solidFill>
            </a:endParaRPr>
          </a:p>
          <a:p>
            <a:r>
              <a:rPr lang="en-US" altLang="zh-TW" sz="1600" dirty="0">
                <a:solidFill>
                  <a:schemeClr val="bg1"/>
                </a:solidFill>
              </a:rPr>
              <a:t>	aria “</a:t>
            </a:r>
            <a:r>
              <a:rPr lang="zh-TW" altLang="en-US" sz="1600" dirty="0">
                <a:solidFill>
                  <a:schemeClr val="bg1"/>
                </a:solidFill>
              </a:rPr>
              <a:t>從現在開始，我的 </a:t>
            </a:r>
            <a:r>
              <a:rPr lang="en-US" altLang="zh-TW" sz="1600" dirty="0">
                <a:solidFill>
                  <a:schemeClr val="bg1"/>
                </a:solidFill>
              </a:rPr>
              <a:t>AI </a:t>
            </a:r>
            <a:r>
              <a:rPr lang="zh-TW" altLang="en-US" sz="1600" dirty="0">
                <a:solidFill>
                  <a:schemeClr val="bg1"/>
                </a:solidFill>
              </a:rPr>
              <a:t>參與度降到 </a:t>
            </a:r>
            <a:r>
              <a:rPr lang="en-US" altLang="zh-TW" sz="1600" dirty="0">
                <a:solidFill>
                  <a:schemeClr val="bg1"/>
                </a:solidFill>
              </a:rPr>
              <a:t>50%%</a:t>
            </a:r>
            <a:r>
              <a:rPr lang="zh-TW" altLang="en-US" sz="1600" dirty="0">
                <a:solidFill>
                  <a:schemeClr val="bg1"/>
                </a:solidFill>
              </a:rPr>
              <a:t>。我只能幫你盲目產出 </a:t>
            </a:r>
            <a:r>
              <a:rPr lang="en-US" altLang="zh-TW" sz="1600" dirty="0">
                <a:solidFill>
                  <a:schemeClr val="bg1"/>
                </a:solidFill>
              </a:rPr>
              <a:t>Code </a:t>
            </a:r>
            <a:r>
              <a:rPr lang="zh-TW" altLang="en-US" sz="1600" dirty="0">
                <a:solidFill>
                  <a:schemeClr val="bg1"/>
                </a:solidFill>
              </a:rPr>
              <a:t>構架，但我完全無法檢查邏輯對錯</a:t>
            </a:r>
            <a:r>
              <a:rPr lang="en-US" altLang="zh-TW" sz="1600" dirty="0">
                <a:solidFill>
                  <a:schemeClr val="bg1"/>
                </a:solidFill>
              </a:rPr>
              <a:t>“</a:t>
            </a:r>
          </a:p>
          <a:p>
            <a:endParaRPr lang="en-US" altLang="zh-TW" sz="1600" dirty="0">
              <a:solidFill>
                <a:schemeClr val="bg1"/>
              </a:solidFill>
            </a:endParaRPr>
          </a:p>
          <a:p>
            <a:r>
              <a:rPr lang="en-US" altLang="zh-TW" sz="1600" dirty="0">
                <a:solidFill>
                  <a:schemeClr val="bg1"/>
                </a:solidFill>
              </a:rPr>
              <a:t>	p "</a:t>
            </a:r>
            <a:r>
              <a:rPr lang="zh-TW" altLang="en-US" sz="1600" dirty="0">
                <a:solidFill>
                  <a:schemeClr val="bg1"/>
                </a:solidFill>
              </a:rPr>
              <a:t>也就是說，你寫出來的東西可能是垃圾，我得自己寫測試去抓你的 </a:t>
            </a:r>
            <a:r>
              <a:rPr lang="en-US" altLang="zh-TW" sz="1600" dirty="0">
                <a:solidFill>
                  <a:schemeClr val="bg1"/>
                </a:solidFill>
              </a:rPr>
              <a:t>Bug</a:t>
            </a:r>
            <a:r>
              <a:rPr lang="zh-TW" altLang="en-US" sz="1600" dirty="0">
                <a:solidFill>
                  <a:schemeClr val="bg1"/>
                </a:solidFill>
              </a:rPr>
              <a:t>？</a:t>
            </a:r>
            <a:r>
              <a:rPr lang="en-US" altLang="zh-TW" sz="1600" dirty="0">
                <a:solidFill>
                  <a:schemeClr val="bg1"/>
                </a:solidFill>
              </a:rPr>
              <a:t>“</a:t>
            </a:r>
          </a:p>
          <a:p>
            <a:endParaRPr lang="en-US" altLang="zh-TW" sz="1600" dirty="0">
              <a:solidFill>
                <a:schemeClr val="bg1"/>
              </a:solidFill>
            </a:endParaRPr>
          </a:p>
          <a:p>
            <a:r>
              <a:rPr lang="en-US" altLang="zh-TW" sz="1600" dirty="0">
                <a:solidFill>
                  <a:schemeClr val="bg1"/>
                </a:solidFill>
              </a:rPr>
              <a:t>	aria serious "</a:t>
            </a:r>
            <a:r>
              <a:rPr lang="zh-TW" altLang="en-US" sz="1600" dirty="0">
                <a:solidFill>
                  <a:schemeClr val="bg1"/>
                </a:solidFill>
              </a:rPr>
              <a:t>是的。你必須扮演</a:t>
            </a:r>
            <a:r>
              <a:rPr lang="en-US" altLang="zh-TW" sz="1600" dirty="0">
                <a:solidFill>
                  <a:schemeClr val="bg1"/>
                </a:solidFill>
              </a:rPr>
              <a:t>『</a:t>
            </a:r>
            <a:r>
              <a:rPr lang="zh-TW" altLang="en-US" sz="1600" dirty="0">
                <a:solidFill>
                  <a:schemeClr val="bg1"/>
                </a:solidFill>
              </a:rPr>
              <a:t>最嚴格的驗收官</a:t>
            </a:r>
            <a:r>
              <a:rPr lang="en-US" altLang="zh-TW" sz="1600" dirty="0">
                <a:solidFill>
                  <a:schemeClr val="bg1"/>
                </a:solidFill>
              </a:rPr>
              <a:t>』</a:t>
            </a:r>
            <a:r>
              <a:rPr lang="zh-TW" altLang="en-US" sz="1600" dirty="0">
                <a:solidFill>
                  <a:schemeClr val="bg1"/>
                </a:solidFill>
              </a:rPr>
              <a:t>，用測試驅動的思維來糾正我。我們第一個要救的是財務部！</a:t>
            </a:r>
            <a:r>
              <a:rPr lang="en-US" altLang="zh-TW" sz="1600" dirty="0">
                <a:solidFill>
                  <a:schemeClr val="bg1"/>
                </a:solidFill>
              </a:rPr>
              <a:t>" 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	Jump chapter3_1</a:t>
            </a:r>
          </a:p>
        </p:txBody>
      </p:sp>
    </p:spTree>
    <p:extLst>
      <p:ext uri="{BB962C8B-B14F-4D97-AF65-F5344CB8AC3E}">
        <p14:creationId xmlns:p14="http://schemas.microsoft.com/office/powerpoint/2010/main" val="1732752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9A503-F9BE-BCC0-7729-C6F90874D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A40205B6-C116-A46C-7B73-8EBEC3018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>
                <a:latin typeface="+mn-ea"/>
              </a:rPr>
              <a:t>RenPy 3-1 </a:t>
            </a:r>
            <a:r>
              <a:rPr lang="zh-TW" altLang="en-US">
                <a:latin typeface="+mn-ea"/>
              </a:rPr>
              <a:t> </a:t>
            </a:r>
            <a:r>
              <a:rPr lang="zh-TW" altLang="zh-TW"/>
              <a:t>Matplotlib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F7A6697-FCF3-3AAA-AE62-27D406F60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6A64813-DD7B-77C7-7815-F24BD170853B}"/>
              </a:ext>
            </a:extLst>
          </p:cNvPr>
          <p:cNvSpPr txBox="1"/>
          <p:nvPr/>
        </p:nvSpPr>
        <p:spPr>
          <a:xfrm>
            <a:off x="616250" y="1268760"/>
            <a:ext cx="8348238" cy="3046988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chapter3_1:</a:t>
            </a:r>
          </a:p>
          <a:p>
            <a:pPr marL="0" lvl="1"/>
            <a:r>
              <a:rPr lang="en-US" altLang="zh-TW" sz="1600" dirty="0">
                <a:solidFill>
                  <a:srgbClr val="FFFFFF"/>
                </a:solidFill>
              </a:rPr>
              <a:t>	"</a:t>
            </a:r>
            <a:r>
              <a:rPr lang="zh-TW" altLang="en-US" sz="1600" dirty="0">
                <a:solidFill>
                  <a:srgbClr val="FFFFFF"/>
                </a:solidFill>
              </a:rPr>
              <a:t>財務部辦公室。財務長（</a:t>
            </a:r>
            <a:r>
              <a:rPr lang="en-US" altLang="zh-TW" sz="1600" dirty="0">
                <a:solidFill>
                  <a:srgbClr val="FFFFFF"/>
                </a:solidFill>
              </a:rPr>
              <a:t>CFO</a:t>
            </a:r>
            <a:r>
              <a:rPr lang="zh-TW" altLang="en-US" sz="1600" dirty="0">
                <a:solidFill>
                  <a:srgbClr val="FFFFFF"/>
                </a:solidFill>
              </a:rPr>
              <a:t>）正對著筆電瘋狂敲擊鍵盤，臉色慘白。</a:t>
            </a:r>
            <a:r>
              <a:rPr lang="en-US" altLang="zh-TW" sz="1600" dirty="0">
                <a:solidFill>
                  <a:srgbClr val="FFFFFF"/>
                </a:solidFill>
              </a:rPr>
              <a:t>"  </a:t>
            </a:r>
          </a:p>
          <a:p>
            <a:pPr marL="0" lvl="1"/>
            <a:r>
              <a:rPr lang="en-US" altLang="zh-TW" sz="1600" dirty="0">
                <a:solidFill>
                  <a:srgbClr val="FFFFFF"/>
                </a:solidFill>
              </a:rPr>
              <a:t>	boss "</a:t>
            </a:r>
            <a:r>
              <a:rPr lang="zh-TW" altLang="en-US" sz="1600" dirty="0">
                <a:solidFill>
                  <a:srgbClr val="FFFFFF"/>
                </a:solidFill>
              </a:rPr>
              <a:t>完蛋了！下半年的</a:t>
            </a:r>
            <a:r>
              <a:rPr lang="en-US" altLang="zh-TW" sz="1600" dirty="0">
                <a:solidFill>
                  <a:srgbClr val="FFFFFF"/>
                </a:solidFill>
              </a:rPr>
              <a:t>『</a:t>
            </a:r>
            <a:r>
              <a:rPr lang="zh-TW" altLang="en-US" sz="1600" dirty="0">
                <a:solidFill>
                  <a:srgbClr val="FFFFFF"/>
                </a:solidFill>
              </a:rPr>
              <a:t>全球投資分析儀表板</a:t>
            </a:r>
            <a:r>
              <a:rPr lang="en-US" altLang="zh-TW" sz="1600" dirty="0">
                <a:solidFill>
                  <a:srgbClr val="FFFFFF"/>
                </a:solidFill>
              </a:rPr>
              <a:t>』</a:t>
            </a:r>
            <a:r>
              <a:rPr lang="zh-TW" altLang="en-US" sz="1600" dirty="0">
                <a:solidFill>
                  <a:srgbClr val="FFFFFF"/>
                </a:solidFill>
              </a:rPr>
              <a:t>數據全亂了！</a:t>
            </a:r>
            <a:r>
              <a:rPr lang="en-US" altLang="zh-TW" sz="1600" dirty="0">
                <a:solidFill>
                  <a:srgbClr val="FFFFFF"/>
                </a:solidFill>
              </a:rPr>
              <a:t>Y </a:t>
            </a:r>
            <a:r>
              <a:rPr lang="zh-TW" altLang="en-US" sz="1600" dirty="0">
                <a:solidFill>
                  <a:srgbClr val="FFFFFF"/>
                </a:solidFill>
              </a:rPr>
              <a:t>軸和 </a:t>
            </a:r>
            <a:r>
              <a:rPr lang="en-US" altLang="zh-TW" sz="1600" dirty="0">
                <a:solidFill>
                  <a:srgbClr val="FFFFFF"/>
                </a:solidFill>
              </a:rPr>
              <a:t>X </a:t>
            </a:r>
            <a:r>
              <a:rPr lang="zh-TW" altLang="en-US" sz="1600" dirty="0">
                <a:solidFill>
                  <a:srgbClr val="FFFFFF"/>
                </a:solidFill>
              </a:rPr>
              <a:t>軸數據嚴重拉曲、甚至倒轉，高層差點做出賠上數百萬的錯誤決策！</a:t>
            </a:r>
            <a:r>
              <a:rPr lang="en-US" altLang="zh-TW" sz="1600" dirty="0">
                <a:solidFill>
                  <a:srgbClr val="FFFFFF"/>
                </a:solidFill>
              </a:rPr>
              <a:t>" </a:t>
            </a:r>
          </a:p>
          <a:p>
            <a:pPr marL="0" lvl="1"/>
            <a:r>
              <a:rPr lang="en-US" altLang="zh-TW" sz="1600" dirty="0">
                <a:solidFill>
                  <a:srgbClr val="FFFFFF"/>
                </a:solidFill>
              </a:rPr>
              <a:t>	aria normal "</a:t>
            </a:r>
            <a:r>
              <a:rPr lang="zh-TW" altLang="en-US" sz="1600" dirty="0">
                <a:solidFill>
                  <a:srgbClr val="FFFFFF"/>
                </a:solidFill>
              </a:rPr>
              <a:t>我試圖調用 </a:t>
            </a:r>
            <a:r>
              <a:rPr lang="en-US" altLang="zh-TW" sz="1600" dirty="0">
                <a:solidFill>
                  <a:srgbClr val="FFFFFF"/>
                </a:solidFill>
              </a:rPr>
              <a:t>Matplotlib </a:t>
            </a:r>
            <a:r>
              <a:rPr lang="zh-TW" altLang="en-US" sz="1600" dirty="0">
                <a:solidFill>
                  <a:srgbClr val="FFFFFF"/>
                </a:solidFill>
              </a:rPr>
              <a:t>自動重新繪製圖表了</a:t>
            </a:r>
            <a:r>
              <a:rPr lang="en-US" altLang="zh-TW" sz="1600" dirty="0">
                <a:solidFill>
                  <a:srgbClr val="FFFFFF"/>
                </a:solidFill>
              </a:rPr>
              <a:t>……</a:t>
            </a:r>
            <a:r>
              <a:rPr lang="zh-TW" altLang="en-US" sz="1600" dirty="0">
                <a:solidFill>
                  <a:srgbClr val="FFFFFF"/>
                </a:solidFill>
              </a:rPr>
              <a:t>程式碼已經吐在全息螢幕上。</a:t>
            </a:r>
            <a:r>
              <a:rPr lang="en-US" altLang="zh-TW" sz="1600" dirty="0">
                <a:solidFill>
                  <a:srgbClr val="FFFFFF"/>
                </a:solidFill>
              </a:rPr>
              <a:t>"   </a:t>
            </a:r>
          </a:p>
          <a:p>
            <a:pPr marL="0" lvl="1"/>
            <a:r>
              <a:rPr lang="en-US" altLang="zh-TW" sz="1600" dirty="0">
                <a:solidFill>
                  <a:srgbClr val="FFFFFF"/>
                </a:solidFill>
              </a:rPr>
              <a:t> 	"</a:t>
            </a:r>
            <a:r>
              <a:rPr lang="zh-TW" altLang="en-US" sz="1600" dirty="0">
                <a:solidFill>
                  <a:srgbClr val="FFFFFF"/>
                </a:solidFill>
              </a:rPr>
              <a:t>全息投影浮現出 </a:t>
            </a:r>
            <a:r>
              <a:rPr lang="en-US" altLang="zh-TW" sz="1600" dirty="0">
                <a:solidFill>
                  <a:srgbClr val="FFFFFF"/>
                </a:solidFill>
              </a:rPr>
              <a:t>ARIA </a:t>
            </a:r>
            <a:r>
              <a:rPr lang="zh-TW" altLang="en-US" sz="1600" dirty="0">
                <a:solidFill>
                  <a:srgbClr val="FFFFFF"/>
                </a:solidFill>
              </a:rPr>
              <a:t>自動生成的 </a:t>
            </a:r>
            <a:r>
              <a:rPr lang="en-US" altLang="zh-TW" sz="1600" dirty="0">
                <a:solidFill>
                  <a:srgbClr val="FFFFFF"/>
                </a:solidFill>
              </a:rPr>
              <a:t>Matplotlib </a:t>
            </a:r>
            <a:r>
              <a:rPr lang="zh-TW" altLang="en-US" sz="1600" dirty="0">
                <a:solidFill>
                  <a:srgbClr val="FFFFFF"/>
                </a:solidFill>
              </a:rPr>
              <a:t>程式碼，但圖表的座標範圍（</a:t>
            </a:r>
            <a:r>
              <a:rPr lang="en-US" altLang="zh-TW" sz="1600" dirty="0" err="1">
                <a:solidFill>
                  <a:srgbClr val="FFFFFF"/>
                </a:solidFill>
              </a:rPr>
              <a:t>xlim</a:t>
            </a:r>
            <a:r>
              <a:rPr lang="en-US" altLang="zh-TW" sz="1600" dirty="0">
                <a:solidFill>
                  <a:srgbClr val="FFFFFF"/>
                </a:solidFill>
              </a:rPr>
              <a:t>/</a:t>
            </a:r>
            <a:r>
              <a:rPr lang="en-US" altLang="zh-TW" sz="1600" dirty="0" err="1">
                <a:solidFill>
                  <a:srgbClr val="FFFFFF"/>
                </a:solidFill>
              </a:rPr>
              <a:t>ylim</a:t>
            </a:r>
            <a:r>
              <a:rPr lang="zh-TW" altLang="en-US" sz="1600" dirty="0">
                <a:solidFill>
                  <a:srgbClr val="FFFFFF"/>
                </a:solidFill>
              </a:rPr>
              <a:t>）極度詭異。</a:t>
            </a:r>
            <a:r>
              <a:rPr lang="en-US" altLang="zh-TW" sz="1600" dirty="0">
                <a:solidFill>
                  <a:srgbClr val="FFFFFF"/>
                </a:solidFill>
              </a:rPr>
              <a:t>"   </a:t>
            </a:r>
          </a:p>
          <a:p>
            <a:pPr marL="0" lvl="1"/>
            <a:r>
              <a:rPr lang="en-US" altLang="zh-TW" sz="1600" dirty="0">
                <a:solidFill>
                  <a:srgbClr val="FFFFFF"/>
                </a:solidFill>
              </a:rPr>
              <a:t> 	aria worry "</a:t>
            </a:r>
            <a:r>
              <a:rPr lang="zh-TW" altLang="en-US" sz="1600" dirty="0">
                <a:solidFill>
                  <a:srgbClr val="FFFFFF"/>
                </a:solidFill>
              </a:rPr>
              <a:t>但我不知道這段 </a:t>
            </a:r>
            <a:r>
              <a:rPr lang="en-US" altLang="zh-TW" sz="1600" dirty="0">
                <a:solidFill>
                  <a:srgbClr val="FFFFFF"/>
                </a:solidFill>
              </a:rPr>
              <a:t>Code </a:t>
            </a:r>
            <a:r>
              <a:rPr lang="zh-TW" altLang="en-US" sz="1600" dirty="0">
                <a:solidFill>
                  <a:srgbClr val="FFFFFF"/>
                </a:solidFill>
              </a:rPr>
              <a:t>的邏輯對不對。請你撰寫測試來驗證圖表的座標軸範圍，並修正我的繪圖參數。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  <a:p>
            <a:pPr marL="0" lvl="1"/>
            <a:r>
              <a:rPr lang="en-US" altLang="zh-TW" sz="1600" dirty="0">
                <a:solidFill>
                  <a:srgbClr val="FFFFFF"/>
                </a:solidFill>
              </a:rPr>
              <a:t>	aria hint "</a:t>
            </a:r>
            <a:r>
              <a:rPr lang="zh-TW" altLang="en-US" sz="1600" dirty="0">
                <a:solidFill>
                  <a:srgbClr val="FFFFFF"/>
                </a:solidFill>
              </a:rPr>
              <a:t>線索提示：要確保圖表正確性與美觀度，必須先寫 </a:t>
            </a:r>
            <a:r>
              <a:rPr lang="en-US" altLang="zh-TW" sz="1600" dirty="0">
                <a:solidFill>
                  <a:srgbClr val="FFFFFF"/>
                </a:solidFill>
              </a:rPr>
              <a:t>Assertion </a:t>
            </a:r>
            <a:r>
              <a:rPr lang="zh-TW" altLang="en-US" sz="1600" dirty="0">
                <a:solidFill>
                  <a:srgbClr val="FFFFFF"/>
                </a:solidFill>
              </a:rPr>
              <a:t>斷言來測試限制範圍（例如：</a:t>
            </a:r>
            <a:r>
              <a:rPr lang="en-US" altLang="zh-TW" sz="1600" dirty="0" err="1">
                <a:solidFill>
                  <a:srgbClr val="FFFFFF"/>
                </a:solidFill>
              </a:rPr>
              <a:t>plt.xlim</a:t>
            </a:r>
            <a:r>
              <a:rPr lang="en-US" altLang="zh-TW" sz="1600" dirty="0">
                <a:solidFill>
                  <a:srgbClr val="FFFFFF"/>
                </a:solidFill>
              </a:rPr>
              <a:t>() </a:t>
            </a:r>
            <a:r>
              <a:rPr lang="zh-TW" altLang="en-US" sz="1600" dirty="0">
                <a:solidFill>
                  <a:srgbClr val="FFFFFF"/>
                </a:solidFill>
              </a:rPr>
              <a:t>是否符合預期數據區間）。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</p:txBody>
      </p:sp>
    </p:spTree>
    <p:extLst>
      <p:ext uri="{BB962C8B-B14F-4D97-AF65-F5344CB8AC3E}">
        <p14:creationId xmlns:p14="http://schemas.microsoft.com/office/powerpoint/2010/main" val="3251140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0B160-208C-5246-E5C0-A2DBE8E4E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505FF01C-1347-573F-0CE6-C7191099D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>
                <a:latin typeface="+mn-ea"/>
              </a:rPr>
              <a:t>RenPy 3-1 </a:t>
            </a:r>
            <a:r>
              <a:rPr lang="zh-TW" altLang="en-US">
                <a:latin typeface="+mn-ea"/>
              </a:rPr>
              <a:t> </a:t>
            </a:r>
            <a:r>
              <a:rPr lang="zh-TW" altLang="zh-TW"/>
              <a:t>Matplotlib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1A88ABB-9199-48A6-8D3F-5A1E31D33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5E35ECD-E744-D709-34E9-0AF7C6097DA6}"/>
              </a:ext>
            </a:extLst>
          </p:cNvPr>
          <p:cNvSpPr txBox="1"/>
          <p:nvPr/>
        </p:nvSpPr>
        <p:spPr>
          <a:xfrm>
            <a:off x="643707" y="915616"/>
            <a:ext cx="8319511" cy="4524315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ch3_1_menu:    menu: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撰寫測試：使用 </a:t>
            </a:r>
            <a:r>
              <a:rPr lang="en-US" altLang="zh-TW" sz="1600" dirty="0">
                <a:solidFill>
                  <a:srgbClr val="FFFFFF"/>
                </a:solidFill>
              </a:rPr>
              <a:t>assert </a:t>
            </a:r>
            <a:r>
              <a:rPr lang="zh-TW" altLang="en-US" sz="1600" dirty="0">
                <a:solidFill>
                  <a:srgbClr val="FFFFFF"/>
                </a:solidFill>
              </a:rPr>
              <a:t>驗證繪圖物件的 </a:t>
            </a:r>
            <a:r>
              <a:rPr lang="en-US" altLang="zh-TW" sz="1600" dirty="0" err="1">
                <a:solidFill>
                  <a:srgbClr val="FFFFFF"/>
                </a:solidFill>
              </a:rPr>
              <a:t>get_xlim</a:t>
            </a:r>
            <a:r>
              <a:rPr lang="en-US" altLang="zh-TW" sz="1600" dirty="0">
                <a:solidFill>
                  <a:srgbClr val="FFFFFF"/>
                </a:solidFill>
              </a:rPr>
              <a:t>() </a:t>
            </a:r>
            <a:r>
              <a:rPr lang="zh-TW" altLang="en-US" sz="1600" dirty="0">
                <a:solidFill>
                  <a:srgbClr val="FFFFFF"/>
                </a:solidFill>
              </a:rPr>
              <a:t>區間，並修正 </a:t>
            </a:r>
            <a:r>
              <a:rPr lang="en-US" altLang="zh-TW" sz="1600" dirty="0" err="1">
                <a:solidFill>
                  <a:srgbClr val="FFFFFF"/>
                </a:solidFill>
              </a:rPr>
              <a:t>plt.xlim</a:t>
            </a:r>
            <a:r>
              <a:rPr lang="en-US" altLang="zh-TW" sz="1600" dirty="0">
                <a:solidFill>
                  <a:srgbClr val="FFFFFF"/>
                </a:solidFill>
              </a:rPr>
              <a:t>([0, 100])":        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$ score += 10       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 $ </a:t>
            </a:r>
            <a:r>
              <a:rPr lang="en-US" altLang="zh-TW" sz="1600" dirty="0" err="1">
                <a:solidFill>
                  <a:srgbClr val="FFFFFF"/>
                </a:solidFill>
              </a:rPr>
              <a:t>aria_trust</a:t>
            </a:r>
            <a:r>
              <a:rPr lang="en-US" altLang="zh-TW" sz="1600" dirty="0">
                <a:solidFill>
                  <a:srgbClr val="FFFFFF"/>
                </a:solidFill>
              </a:rPr>
              <a:t> += 1       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 aria happy "</a:t>
            </a:r>
            <a:r>
              <a:rPr lang="zh-TW" altLang="en-US" sz="1600" dirty="0">
                <a:solidFill>
                  <a:srgbClr val="FFFFFF"/>
                </a:solidFill>
              </a:rPr>
              <a:t>測試通過！抓到我漏掉的邊界值了！圖表的座標軸自動縮放回正常範圍，數據曲線變美觀了！</a:t>
            </a:r>
            <a:r>
              <a:rPr lang="en-US" altLang="zh-TW" sz="1600" dirty="0">
                <a:solidFill>
                  <a:srgbClr val="FFFFFF"/>
                </a:solidFill>
              </a:rPr>
              <a:t>"        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"【</a:t>
            </a:r>
            <a:r>
              <a:rPr lang="zh-TW" altLang="en-US" sz="1600" dirty="0">
                <a:solidFill>
                  <a:srgbClr val="FFFFFF"/>
                </a:solidFill>
              </a:rPr>
              <a:t>系統提示：圖表正確性與美觀度評測達標。財務長的血壓降下來了。</a:t>
            </a:r>
            <a:r>
              <a:rPr lang="en-US" altLang="zh-TW" sz="1600" dirty="0">
                <a:solidFill>
                  <a:srgbClr val="FFFFFF"/>
                </a:solidFill>
              </a:rPr>
              <a:t>】"       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 jump chapter3_2</a:t>
            </a:r>
          </a:p>
          <a:p>
            <a:pPr lvl="1"/>
            <a:endParaRPr lang="en-US" altLang="zh-TW" sz="1600" dirty="0">
              <a:solidFill>
                <a:srgbClr val="FFFFFF"/>
              </a:solidFill>
            </a:endParaRP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 "</a:t>
            </a:r>
            <a:r>
              <a:rPr lang="zh-TW" altLang="en-US" sz="1600" dirty="0">
                <a:solidFill>
                  <a:srgbClr val="FFFFFF"/>
                </a:solidFill>
              </a:rPr>
              <a:t>撰寫測試：直接用 </a:t>
            </a:r>
            <a:r>
              <a:rPr lang="en-US" altLang="zh-TW" sz="1600" dirty="0">
                <a:solidFill>
                  <a:srgbClr val="FFFFFF"/>
                </a:solidFill>
              </a:rPr>
              <a:t>print(</a:t>
            </a:r>
            <a:r>
              <a:rPr lang="en-US" altLang="zh-TW" sz="1600" dirty="0" err="1">
                <a:solidFill>
                  <a:srgbClr val="FFFFFF"/>
                </a:solidFill>
              </a:rPr>
              <a:t>plt.show</a:t>
            </a:r>
            <a:r>
              <a:rPr lang="en-US" altLang="zh-TW" sz="1600" dirty="0">
                <a:solidFill>
                  <a:srgbClr val="FFFFFF"/>
                </a:solidFill>
              </a:rPr>
              <a:t>()) </a:t>
            </a:r>
            <a:r>
              <a:rPr lang="zh-TW" altLang="en-US" sz="1600" dirty="0">
                <a:solidFill>
                  <a:srgbClr val="FFFFFF"/>
                </a:solidFill>
              </a:rPr>
              <a:t>來看圖表有沒有跑出來</a:t>
            </a:r>
            <a:r>
              <a:rPr lang="en-US" altLang="zh-TW" sz="1600" dirty="0">
                <a:solidFill>
                  <a:srgbClr val="FFFFFF"/>
                </a:solidFill>
              </a:rPr>
              <a:t>":       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 aria worry "</a:t>
            </a:r>
            <a:r>
              <a:rPr lang="zh-TW" altLang="en-US" sz="1600" dirty="0">
                <a:solidFill>
                  <a:srgbClr val="FFFFFF"/>
                </a:solidFill>
              </a:rPr>
              <a:t>驗收失敗。</a:t>
            </a:r>
            <a:r>
              <a:rPr lang="en-US" altLang="zh-TW" sz="1600" dirty="0" err="1">
                <a:solidFill>
                  <a:srgbClr val="FFFFFF"/>
                </a:solidFill>
              </a:rPr>
              <a:t>plt.show</a:t>
            </a:r>
            <a:r>
              <a:rPr lang="en-US" altLang="zh-TW" sz="1600" dirty="0">
                <a:solidFill>
                  <a:srgbClr val="FFFFFF"/>
                </a:solidFill>
              </a:rPr>
              <a:t>() </a:t>
            </a:r>
            <a:r>
              <a:rPr lang="zh-TW" altLang="en-US" sz="1600" dirty="0">
                <a:solidFill>
                  <a:srgbClr val="FFFFFF"/>
                </a:solidFill>
              </a:rPr>
              <a:t>只會把爛圖表顯示出來，並不能自動化驗證邏輯錯誤，財務長還是看不懂趨勢。</a:t>
            </a:r>
            <a:r>
              <a:rPr lang="en-US" altLang="zh-TW" sz="1600" dirty="0">
                <a:solidFill>
                  <a:srgbClr val="FFFFFF"/>
                </a:solidFill>
              </a:rPr>
              <a:t>"        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jump ch3_1_menu</a:t>
            </a:r>
          </a:p>
          <a:p>
            <a:pPr lvl="1"/>
            <a:endParaRPr lang="en-US" altLang="zh-TW" sz="1600" dirty="0">
              <a:solidFill>
                <a:srgbClr val="FFFFFF"/>
              </a:solidFill>
            </a:endParaRP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 "</a:t>
            </a:r>
            <a:r>
              <a:rPr lang="zh-TW" altLang="en-US" sz="1600" dirty="0">
                <a:solidFill>
                  <a:srgbClr val="FFFFFF"/>
                </a:solidFill>
              </a:rPr>
              <a:t>撰寫測試：不寫測試，直接強行修改程式碼為 </a:t>
            </a:r>
            <a:r>
              <a:rPr lang="en-US" altLang="zh-TW" sz="1600" dirty="0" err="1">
                <a:solidFill>
                  <a:srgbClr val="FFFFFF"/>
                </a:solidFill>
              </a:rPr>
              <a:t>plt.axis</a:t>
            </a:r>
            <a:r>
              <a:rPr lang="en-US" altLang="zh-TW" sz="1600" dirty="0">
                <a:solidFill>
                  <a:srgbClr val="FFFFFF"/>
                </a:solidFill>
              </a:rPr>
              <a:t>('off') </a:t>
            </a:r>
            <a:r>
              <a:rPr lang="zh-TW" altLang="en-US" sz="1600" dirty="0">
                <a:solidFill>
                  <a:srgbClr val="FFFFFF"/>
                </a:solidFill>
              </a:rPr>
              <a:t>隱藏座標軸</a:t>
            </a:r>
            <a:r>
              <a:rPr lang="en-US" altLang="zh-TW" sz="1600" dirty="0">
                <a:solidFill>
                  <a:srgbClr val="FFFFFF"/>
                </a:solidFill>
              </a:rPr>
              <a:t>":       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 aria error "</a:t>
            </a:r>
            <a:r>
              <a:rPr lang="zh-TW" altLang="en-US" sz="1600" dirty="0">
                <a:solidFill>
                  <a:srgbClr val="FFFFFF"/>
                </a:solidFill>
              </a:rPr>
              <a:t>嚴重警告！隱藏座標軸雖然</a:t>
            </a:r>
            <a:r>
              <a:rPr lang="en-US" altLang="zh-TW" sz="1600" dirty="0">
                <a:solidFill>
                  <a:srgbClr val="FFFFFF"/>
                </a:solidFill>
              </a:rPr>
              <a:t>『</a:t>
            </a:r>
            <a:r>
              <a:rPr lang="zh-TW" altLang="en-US" sz="1600" dirty="0">
                <a:solidFill>
                  <a:srgbClr val="FFFFFF"/>
                </a:solidFill>
              </a:rPr>
              <a:t>美觀</a:t>
            </a:r>
            <a:r>
              <a:rPr lang="en-US" altLang="zh-TW" sz="1600" dirty="0">
                <a:solidFill>
                  <a:srgbClr val="FFFFFF"/>
                </a:solidFill>
              </a:rPr>
              <a:t>』</a:t>
            </a:r>
            <a:r>
              <a:rPr lang="zh-TW" altLang="en-US" sz="1600" dirty="0">
                <a:solidFill>
                  <a:srgbClr val="FFFFFF"/>
                </a:solidFill>
              </a:rPr>
              <a:t>，但財務部根本看不到數據範圍，這會導致投資決策全面失控！</a:t>
            </a:r>
            <a:r>
              <a:rPr lang="en-US" altLang="zh-TW" sz="1600" dirty="0">
                <a:solidFill>
                  <a:srgbClr val="FFFFFF"/>
                </a:solidFill>
              </a:rPr>
              <a:t>"        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jump ch3_1_menu</a:t>
            </a:r>
          </a:p>
        </p:txBody>
      </p:sp>
    </p:spTree>
    <p:extLst>
      <p:ext uri="{BB962C8B-B14F-4D97-AF65-F5344CB8AC3E}">
        <p14:creationId xmlns:p14="http://schemas.microsoft.com/office/powerpoint/2010/main" val="4209016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11BB0-08B5-CC64-1437-192620A50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7AFE6FB-4088-36FF-863D-46C8719C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en-US" altLang="zh-TW" dirty="0">
                <a:latin typeface="+mn-ea"/>
              </a:rPr>
              <a:t> 3-2</a:t>
            </a:r>
            <a:r>
              <a:rPr lang="zh-TW" altLang="zh-TW" dirty="0"/>
              <a:t>影音處理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6D5F00D-522A-D311-6FD9-64D9D9FA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B2FAC0D-6C18-AD13-72A5-3D367DE36217}"/>
              </a:ext>
            </a:extLst>
          </p:cNvPr>
          <p:cNvSpPr txBox="1"/>
          <p:nvPr/>
        </p:nvSpPr>
        <p:spPr>
          <a:xfrm>
            <a:off x="611560" y="1196752"/>
            <a:ext cx="8319511" cy="3046988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chapter3_2: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人資部（</a:t>
            </a:r>
            <a:r>
              <a:rPr lang="en-US" altLang="zh-TW" sz="1600" dirty="0">
                <a:solidFill>
                  <a:srgbClr val="FFFFFF"/>
                </a:solidFill>
              </a:rPr>
              <a:t>HR</a:t>
            </a:r>
            <a:r>
              <a:rPr lang="zh-TW" altLang="en-US" sz="1600" dirty="0">
                <a:solidFill>
                  <a:srgbClr val="FFFFFF"/>
                </a:solidFill>
              </a:rPr>
              <a:t>）辦公區。走廊上堆滿了新進員工的教育訓練資料。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boss "</a:t>
            </a:r>
            <a:r>
              <a:rPr lang="zh-TW" altLang="en-US" sz="1600" dirty="0">
                <a:solidFill>
                  <a:srgbClr val="FFFFFF"/>
                </a:solidFill>
              </a:rPr>
              <a:t>新進員工線上培訓一小時後就要開始！但影音伺服器中了病毒，影片庫的下載功能失效，有些檔案甚至變成了毀損的空白檔案！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aria normal "</a:t>
            </a:r>
            <a:r>
              <a:rPr lang="zh-TW" altLang="en-US" sz="1600" dirty="0">
                <a:solidFill>
                  <a:srgbClr val="FFFFFF"/>
                </a:solidFill>
              </a:rPr>
              <a:t>我已經用 </a:t>
            </a:r>
            <a:r>
              <a:rPr lang="en-US" altLang="zh-TW" sz="1600" dirty="0">
                <a:solidFill>
                  <a:srgbClr val="FFFFFF"/>
                </a:solidFill>
              </a:rPr>
              <a:t>Python </a:t>
            </a:r>
            <a:r>
              <a:rPr lang="zh-TW" altLang="en-US" sz="1600" dirty="0">
                <a:solidFill>
                  <a:srgbClr val="FFFFFF"/>
                </a:solidFill>
              </a:rPr>
              <a:t>寫好了一套自動化下載與重組影音流的邏輯。</a:t>
            </a:r>
            <a:r>
              <a:rPr lang="en-US" altLang="zh-TW" sz="1600" dirty="0">
                <a:solidFill>
                  <a:srgbClr val="FFFFFF"/>
                </a:solidFill>
              </a:rPr>
              <a:t>Code </a:t>
            </a:r>
            <a:r>
              <a:rPr lang="zh-TW" altLang="en-US" sz="1600" dirty="0">
                <a:solidFill>
                  <a:srgbClr val="FFFFFF"/>
                </a:solidFill>
              </a:rPr>
              <a:t>就在這裡。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p "</a:t>
            </a:r>
            <a:r>
              <a:rPr lang="zh-TW" altLang="en-US" sz="1600" dirty="0">
                <a:solidFill>
                  <a:srgbClr val="FFFFFF"/>
                </a:solidFill>
              </a:rPr>
              <a:t>你確定這套邏輯能載到完整的影片？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aria worry "</a:t>
            </a:r>
            <a:r>
              <a:rPr lang="zh-TW" altLang="en-US" sz="1600" dirty="0">
                <a:solidFill>
                  <a:srgbClr val="FFFFFF"/>
                </a:solidFill>
              </a:rPr>
              <a:t>我不確定</a:t>
            </a:r>
            <a:r>
              <a:rPr lang="en-US" altLang="zh-TW" sz="1600" dirty="0">
                <a:solidFill>
                  <a:srgbClr val="FFFFFF"/>
                </a:solidFill>
              </a:rPr>
              <a:t>……</a:t>
            </a:r>
            <a:r>
              <a:rPr lang="zh-TW" altLang="en-US" sz="1600" dirty="0">
                <a:solidFill>
                  <a:srgbClr val="FFFFFF"/>
                </a:solidFill>
              </a:rPr>
              <a:t>我現在只管吐 </a:t>
            </a:r>
            <a:r>
              <a:rPr lang="en-US" altLang="zh-TW" sz="1600" dirty="0">
                <a:solidFill>
                  <a:srgbClr val="FFFFFF"/>
                </a:solidFill>
              </a:rPr>
              <a:t>Code</a:t>
            </a:r>
            <a:r>
              <a:rPr lang="zh-TW" altLang="en-US" sz="1600" dirty="0">
                <a:solidFill>
                  <a:srgbClr val="FFFFFF"/>
                </a:solidFill>
              </a:rPr>
              <a:t>，不管邏輯驗收。你需要扮演品質保證（</a:t>
            </a:r>
            <a:r>
              <a:rPr lang="en-US" altLang="zh-TW" sz="1600" dirty="0">
                <a:solidFill>
                  <a:srgbClr val="FFFFFF"/>
                </a:solidFill>
              </a:rPr>
              <a:t>QA</a:t>
            </a:r>
            <a:r>
              <a:rPr lang="zh-TW" altLang="en-US" sz="1600" dirty="0">
                <a:solidFill>
                  <a:srgbClr val="FFFFFF"/>
                </a:solidFill>
              </a:rPr>
              <a:t>）工程師，撰寫測試案例來驗收我的程式碼。</a:t>
            </a:r>
            <a:r>
              <a:rPr lang="en-US" altLang="zh-TW" sz="1600" dirty="0">
                <a:solidFill>
                  <a:srgbClr val="FFFFFF"/>
                </a:solidFill>
              </a:rPr>
              <a:t>“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aria hint "</a:t>
            </a:r>
            <a:r>
              <a:rPr lang="zh-TW" altLang="en-US" sz="1600" dirty="0">
                <a:solidFill>
                  <a:srgbClr val="FFFFFF"/>
                </a:solidFill>
              </a:rPr>
              <a:t>線索提示：功能完整性的驗收，關鍵在於檢查下載後檔案的格式與檔案大小是否大於 </a:t>
            </a:r>
            <a:r>
              <a:rPr lang="en-US" altLang="zh-TW" sz="1600" dirty="0">
                <a:solidFill>
                  <a:srgbClr val="FFFFFF"/>
                </a:solidFill>
              </a:rPr>
              <a:t>0</a:t>
            </a:r>
            <a:r>
              <a:rPr lang="zh-TW" altLang="en-US" sz="1600" dirty="0">
                <a:solidFill>
                  <a:srgbClr val="FFFFFF"/>
                </a:solidFill>
              </a:rPr>
              <a:t>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91139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C95FD-4419-5BA8-6234-AFF81950A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3BCFF809-5984-3A3A-C6AD-7627D48A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en-US" altLang="zh-TW" dirty="0">
                <a:latin typeface="+mn-ea"/>
              </a:rPr>
              <a:t> 3-2</a:t>
            </a:r>
            <a:r>
              <a:rPr lang="zh-TW" altLang="zh-TW" dirty="0"/>
              <a:t>影音處理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D851B6C-0049-D233-77F7-5048CFF9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B1583D0-163A-DC30-B31B-ABD8CFC52F16}"/>
              </a:ext>
            </a:extLst>
          </p:cNvPr>
          <p:cNvSpPr txBox="1"/>
          <p:nvPr/>
        </p:nvSpPr>
        <p:spPr>
          <a:xfrm>
            <a:off x="611560" y="915616"/>
            <a:ext cx="8319511" cy="5016758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1600" dirty="0">
                <a:solidFill>
                  <a:srgbClr val="FFFFFF"/>
                </a:solidFill>
              </a:rPr>
              <a:t>label ch3_2_menu:    </a:t>
            </a:r>
          </a:p>
          <a:p>
            <a:pPr lvl="1" algn="just"/>
            <a:r>
              <a:rPr lang="en-US" altLang="zh-TW" sz="1600" dirty="0">
                <a:solidFill>
                  <a:srgbClr val="FFFFFF"/>
                </a:solidFill>
              </a:rPr>
              <a:t>menu:       </a:t>
            </a:r>
          </a:p>
          <a:p>
            <a:pPr lvl="2" algn="just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撰寫測試案例：檢查 </a:t>
            </a:r>
            <a:r>
              <a:rPr lang="en-US" altLang="zh-TW" sz="1600" dirty="0" err="1">
                <a:solidFill>
                  <a:srgbClr val="FFFFFF"/>
                </a:solidFill>
              </a:rPr>
              <a:t>os.path.getsize</a:t>
            </a:r>
            <a:r>
              <a:rPr lang="en-US" altLang="zh-TW" sz="1600" dirty="0">
                <a:solidFill>
                  <a:srgbClr val="FFFFFF"/>
                </a:solidFill>
              </a:rPr>
              <a:t>() </a:t>
            </a:r>
            <a:r>
              <a:rPr lang="zh-TW" altLang="en-US" sz="1600" dirty="0">
                <a:solidFill>
                  <a:srgbClr val="FFFFFF"/>
                </a:solidFill>
              </a:rPr>
              <a:t>是否大於 </a:t>
            </a:r>
            <a:r>
              <a:rPr lang="en-US" altLang="zh-TW" sz="1600" dirty="0">
                <a:solidFill>
                  <a:srgbClr val="FFFFFF"/>
                </a:solidFill>
              </a:rPr>
              <a:t>0</a:t>
            </a:r>
            <a:r>
              <a:rPr lang="zh-TW" altLang="en-US" sz="1600" dirty="0">
                <a:solidFill>
                  <a:srgbClr val="FFFFFF"/>
                </a:solidFill>
              </a:rPr>
              <a:t>，並驗證副檔名是否為指定影音格式</a:t>
            </a:r>
            <a:r>
              <a:rPr lang="en-US" altLang="zh-TW" sz="1600" dirty="0">
                <a:solidFill>
                  <a:srgbClr val="FFFFFF"/>
                </a:solidFill>
              </a:rPr>
              <a:t>":</a:t>
            </a:r>
          </a:p>
          <a:p>
            <a:pPr lvl="3" algn="just"/>
            <a:r>
              <a:rPr lang="en-US" altLang="zh-TW" sz="1600" dirty="0">
                <a:solidFill>
                  <a:srgbClr val="FFFFFF"/>
                </a:solidFill>
              </a:rPr>
              <a:t>$ score += 10            </a:t>
            </a:r>
          </a:p>
          <a:p>
            <a:pPr lvl="3" algn="just"/>
            <a:r>
              <a:rPr lang="en-US" altLang="zh-TW" sz="1600" dirty="0">
                <a:solidFill>
                  <a:srgbClr val="FFFFFF"/>
                </a:solidFill>
              </a:rPr>
              <a:t>$ </a:t>
            </a:r>
            <a:r>
              <a:rPr lang="en-US" altLang="zh-TW" sz="1600" dirty="0" err="1">
                <a:solidFill>
                  <a:srgbClr val="FFFFFF"/>
                </a:solidFill>
              </a:rPr>
              <a:t>aria_trust</a:t>
            </a:r>
            <a:r>
              <a:rPr lang="en-US" altLang="zh-TW" sz="1600" dirty="0">
                <a:solidFill>
                  <a:srgbClr val="FFFFFF"/>
                </a:solidFill>
              </a:rPr>
              <a:t> += 1            </a:t>
            </a:r>
          </a:p>
          <a:p>
            <a:pPr lvl="3" algn="just"/>
            <a:r>
              <a:rPr lang="en-US" altLang="zh-TW" sz="1600" dirty="0">
                <a:solidFill>
                  <a:srgbClr val="FFFFFF"/>
                </a:solidFill>
              </a:rPr>
              <a:t>aria happy "</a:t>
            </a:r>
            <a:r>
              <a:rPr lang="zh-TW" altLang="en-US" sz="1600" dirty="0">
                <a:solidFill>
                  <a:srgbClr val="FFFFFF"/>
                </a:solidFill>
              </a:rPr>
              <a:t>精準的測試！我的下載邏輯裡確實少判斷了未傳輸完成的情況。修正後影片庫功能完全恢復了！</a:t>
            </a:r>
            <a:r>
              <a:rPr lang="en-US" altLang="zh-TW" sz="1600" dirty="0">
                <a:solidFill>
                  <a:srgbClr val="FFFFFF"/>
                </a:solidFill>
              </a:rPr>
              <a:t>"           </a:t>
            </a:r>
          </a:p>
          <a:p>
            <a:pPr lvl="3" algn="just"/>
            <a:r>
              <a:rPr lang="en-US" altLang="zh-TW" sz="1600" dirty="0">
                <a:solidFill>
                  <a:srgbClr val="FFFFFF"/>
                </a:solidFill>
              </a:rPr>
              <a:t>"【</a:t>
            </a:r>
            <a:r>
              <a:rPr lang="zh-TW" altLang="en-US" sz="1600" dirty="0">
                <a:solidFill>
                  <a:srgbClr val="FFFFFF"/>
                </a:solidFill>
              </a:rPr>
              <a:t>系統提示：功能完整性評測通過。新員工影音系統上線成功。</a:t>
            </a:r>
            <a:r>
              <a:rPr lang="en-US" altLang="zh-TW" sz="1600" dirty="0">
                <a:solidFill>
                  <a:srgbClr val="FFFFFF"/>
                </a:solidFill>
              </a:rPr>
              <a:t>】"            </a:t>
            </a:r>
          </a:p>
          <a:p>
            <a:pPr lvl="3" algn="just"/>
            <a:r>
              <a:rPr lang="en-US" altLang="zh-TW" sz="1600" dirty="0">
                <a:solidFill>
                  <a:srgbClr val="FFFFFF"/>
                </a:solidFill>
              </a:rPr>
              <a:t>jump chapter3_3 </a:t>
            </a:r>
          </a:p>
          <a:p>
            <a:pPr lvl="3" algn="just"/>
            <a:r>
              <a:rPr lang="en-US" altLang="zh-TW" sz="1600" dirty="0">
                <a:solidFill>
                  <a:srgbClr val="FFFFFF"/>
                </a:solidFill>
              </a:rPr>
              <a:t>          </a:t>
            </a:r>
          </a:p>
          <a:p>
            <a:pPr lvl="2" algn="just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撰寫測試案例：只檢查 </a:t>
            </a:r>
            <a:r>
              <a:rPr lang="en-US" altLang="zh-TW" sz="1600" dirty="0" err="1">
                <a:solidFill>
                  <a:srgbClr val="FFFFFF"/>
                </a:solidFill>
              </a:rPr>
              <a:t>url</a:t>
            </a:r>
            <a:r>
              <a:rPr lang="en-US" altLang="zh-TW" sz="1600" dirty="0">
                <a:solidFill>
                  <a:srgbClr val="FFFFFF"/>
                </a:solidFill>
              </a:rPr>
              <a:t> </a:t>
            </a:r>
            <a:r>
              <a:rPr lang="zh-TW" altLang="en-US" sz="1600" dirty="0">
                <a:solidFill>
                  <a:srgbClr val="FFFFFF"/>
                </a:solidFill>
              </a:rPr>
              <a:t>網址開頭是不是 </a:t>
            </a:r>
            <a:r>
              <a:rPr lang="en-US" altLang="zh-TW" sz="1600" dirty="0">
                <a:solidFill>
                  <a:srgbClr val="FFFFFF"/>
                </a:solidFill>
              </a:rPr>
              <a:t>'http'": </a:t>
            </a:r>
          </a:p>
          <a:p>
            <a:pPr lvl="3" algn="just"/>
            <a:r>
              <a:rPr lang="en-US" altLang="zh-TW" sz="1600" dirty="0">
                <a:solidFill>
                  <a:srgbClr val="FFFFFF"/>
                </a:solidFill>
              </a:rPr>
              <a:t>aria worry "</a:t>
            </a:r>
            <a:r>
              <a:rPr lang="zh-TW" altLang="en-US" sz="1600" dirty="0">
                <a:solidFill>
                  <a:srgbClr val="FFFFFF"/>
                </a:solidFill>
              </a:rPr>
              <a:t>測試漏洞！網址對的不代表下載下來的檔案是完整的。有很多 </a:t>
            </a:r>
            <a:r>
              <a:rPr lang="en-US" altLang="zh-TW" sz="1600" dirty="0">
                <a:solidFill>
                  <a:srgbClr val="FFFFFF"/>
                </a:solidFill>
              </a:rPr>
              <a:t>0 KB </a:t>
            </a:r>
            <a:r>
              <a:rPr lang="zh-TW" altLang="en-US" sz="1600" dirty="0">
                <a:solidFill>
                  <a:srgbClr val="FFFFFF"/>
                </a:solidFill>
              </a:rPr>
              <a:t>的毀損影片溜過了這個測試。</a:t>
            </a:r>
            <a:r>
              <a:rPr lang="en-US" altLang="zh-TW" sz="1600" dirty="0">
                <a:solidFill>
                  <a:srgbClr val="FFFFFF"/>
                </a:solidFill>
              </a:rPr>
              <a:t>"           </a:t>
            </a:r>
          </a:p>
          <a:p>
            <a:pPr lvl="3" algn="just"/>
            <a:r>
              <a:rPr lang="en-US" altLang="zh-TW" sz="1600" dirty="0">
                <a:solidFill>
                  <a:srgbClr val="FFFFFF"/>
                </a:solidFill>
              </a:rPr>
              <a:t> jump ch3_2_menu</a:t>
            </a:r>
          </a:p>
          <a:p>
            <a:pPr lvl="2" algn="just"/>
            <a:r>
              <a:rPr lang="en-US" altLang="zh-TW" sz="1600" dirty="0">
                <a:solidFill>
                  <a:srgbClr val="FFFFFF"/>
                </a:solidFill>
              </a:rPr>
              <a:t>        </a:t>
            </a:r>
          </a:p>
          <a:p>
            <a:pPr lvl="2" algn="just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撰寫測試案例：用 </a:t>
            </a:r>
            <a:r>
              <a:rPr lang="en-US" altLang="zh-TW" sz="1600" dirty="0">
                <a:solidFill>
                  <a:srgbClr val="FFFFFF"/>
                </a:solidFill>
              </a:rPr>
              <a:t>try-except </a:t>
            </a:r>
            <a:r>
              <a:rPr lang="zh-TW" altLang="en-US" sz="1600" dirty="0">
                <a:solidFill>
                  <a:srgbClr val="FFFFFF"/>
                </a:solidFill>
              </a:rPr>
              <a:t>包住，只要程式沒噴錯就當作下載成功</a:t>
            </a:r>
            <a:r>
              <a:rPr lang="en-US" altLang="zh-TW" sz="1600" dirty="0">
                <a:solidFill>
                  <a:srgbClr val="FFFFFF"/>
                </a:solidFill>
              </a:rPr>
              <a:t>":            </a:t>
            </a:r>
          </a:p>
          <a:p>
            <a:pPr lvl="3" algn="just"/>
            <a:r>
              <a:rPr lang="en-US" altLang="zh-TW" sz="1600" dirty="0">
                <a:solidFill>
                  <a:srgbClr val="FFFFFF"/>
                </a:solidFill>
              </a:rPr>
              <a:t>aria serious "</a:t>
            </a:r>
            <a:r>
              <a:rPr lang="zh-TW" altLang="en-US" sz="1600" dirty="0">
                <a:solidFill>
                  <a:srgbClr val="FFFFFF"/>
                </a:solidFill>
              </a:rPr>
              <a:t>這是不合格的 </a:t>
            </a:r>
            <a:r>
              <a:rPr lang="en-US" altLang="zh-TW" sz="1600" dirty="0">
                <a:solidFill>
                  <a:srgbClr val="FFFFFF"/>
                </a:solidFill>
              </a:rPr>
              <a:t>QA </a:t>
            </a:r>
            <a:r>
              <a:rPr lang="zh-TW" altLang="en-US" sz="1600" dirty="0">
                <a:solidFill>
                  <a:srgbClr val="FFFFFF"/>
                </a:solidFill>
              </a:rPr>
              <a:t>邏輯。有時候伺服器回傳 </a:t>
            </a:r>
            <a:r>
              <a:rPr lang="en-US" altLang="zh-TW" sz="1600" dirty="0">
                <a:solidFill>
                  <a:srgbClr val="FFFFFF"/>
                </a:solidFill>
              </a:rPr>
              <a:t>404 </a:t>
            </a:r>
            <a:r>
              <a:rPr lang="zh-TW" altLang="en-US" sz="1600" dirty="0">
                <a:solidFill>
                  <a:srgbClr val="FFFFFF"/>
                </a:solidFill>
              </a:rPr>
              <a:t>網頁，程式也不會噴錯，但下載下來的根本不是影片！</a:t>
            </a:r>
            <a:r>
              <a:rPr lang="en-US" altLang="zh-TW" sz="1600" dirty="0">
                <a:solidFill>
                  <a:srgbClr val="FFFFFF"/>
                </a:solidFill>
              </a:rPr>
              <a:t>"            </a:t>
            </a:r>
          </a:p>
          <a:p>
            <a:pPr lvl="3" algn="just"/>
            <a:r>
              <a:rPr lang="en-US" altLang="zh-TW" sz="1600" dirty="0">
                <a:solidFill>
                  <a:srgbClr val="FFFFFF"/>
                </a:solidFill>
              </a:rPr>
              <a:t>jump ch3_2_menu</a:t>
            </a:r>
          </a:p>
        </p:txBody>
      </p:sp>
    </p:spTree>
    <p:extLst>
      <p:ext uri="{BB962C8B-B14F-4D97-AF65-F5344CB8AC3E}">
        <p14:creationId xmlns:p14="http://schemas.microsoft.com/office/powerpoint/2010/main" val="725622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3B72F-A9A4-0426-6283-90284DE1C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C0C556E0-84E9-D0A9-BE72-E9D39FFF4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en-US" altLang="zh-TW" dirty="0">
                <a:latin typeface="+mn-ea"/>
              </a:rPr>
              <a:t> 3-3 </a:t>
            </a:r>
            <a:r>
              <a:rPr lang="zh-TW" altLang="en-US" dirty="0">
                <a:latin typeface="+mn-ea"/>
              </a:rPr>
              <a:t>即時資料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9F6F3B9-7B8B-27DC-ABC2-CB2008EE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5661AF9-E641-2834-46C3-F2A885B006B3}"/>
              </a:ext>
            </a:extLst>
          </p:cNvPr>
          <p:cNvSpPr txBox="1"/>
          <p:nvPr/>
        </p:nvSpPr>
        <p:spPr>
          <a:xfrm>
            <a:off x="611560" y="1074002"/>
            <a:ext cx="8319511" cy="329320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chapter3_3: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	"</a:t>
            </a:r>
            <a:r>
              <a:rPr lang="zh-TW" altLang="en-US" sz="1600" dirty="0">
                <a:solidFill>
                  <a:srgbClr val="FFFFFF"/>
                </a:solidFill>
              </a:rPr>
              <a:t>突然間，辦公室的冷氣發出劇烈運轉聲，溫度瞬間掉到 </a:t>
            </a:r>
            <a:r>
              <a:rPr lang="en-US" altLang="zh-TW" sz="1600" dirty="0">
                <a:solidFill>
                  <a:srgbClr val="FFFFFF"/>
                </a:solidFill>
              </a:rPr>
              <a:t>16 </a:t>
            </a:r>
            <a:r>
              <a:rPr lang="zh-TW" altLang="en-US" sz="1600" dirty="0">
                <a:solidFill>
                  <a:srgbClr val="FFFFFF"/>
                </a:solidFill>
              </a:rPr>
              <a:t>度，會議室的智慧燈光開始瘋狂閃爍。</a:t>
            </a:r>
            <a:r>
              <a:rPr lang="en-US" altLang="zh-TW" sz="1600" dirty="0">
                <a:solidFill>
                  <a:srgbClr val="FFFFFF"/>
                </a:solidFill>
              </a:rPr>
              <a:t>“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sys "【</a:t>
            </a:r>
            <a:r>
              <a:rPr lang="zh-TW" altLang="en-US" sz="1600" dirty="0">
                <a:solidFill>
                  <a:srgbClr val="FFFFFF"/>
                </a:solidFill>
              </a:rPr>
              <a:t>警告</a:t>
            </a:r>
            <a:r>
              <a:rPr lang="en-US" altLang="zh-TW" sz="1600" dirty="0">
                <a:solidFill>
                  <a:srgbClr val="FFFFFF"/>
                </a:solidFill>
              </a:rPr>
              <a:t>】</a:t>
            </a:r>
            <a:r>
              <a:rPr lang="zh-TW" altLang="en-US" sz="1600" dirty="0">
                <a:solidFill>
                  <a:srgbClr val="FFFFFF"/>
                </a:solidFill>
              </a:rPr>
              <a:t>總務部智慧辦公室 </a:t>
            </a:r>
            <a:r>
              <a:rPr lang="en-US" altLang="zh-TW" sz="1600" dirty="0">
                <a:solidFill>
                  <a:srgbClr val="FFFFFF"/>
                </a:solidFill>
              </a:rPr>
              <a:t>IoT </a:t>
            </a:r>
            <a:r>
              <a:rPr lang="zh-TW" altLang="en-US" sz="1600" dirty="0">
                <a:solidFill>
                  <a:srgbClr val="FFFFFF"/>
                </a:solidFill>
              </a:rPr>
              <a:t>環控系統暴走。數據讀取到大量空值。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aria error "</a:t>
            </a:r>
            <a:r>
              <a:rPr lang="zh-TW" altLang="en-US" sz="1600" dirty="0">
                <a:solidFill>
                  <a:srgbClr val="FFFFFF"/>
                </a:solidFill>
              </a:rPr>
              <a:t>駭客切斷了感測器 </a:t>
            </a:r>
            <a:r>
              <a:rPr lang="en-US" altLang="zh-TW" sz="1600" dirty="0">
                <a:solidFill>
                  <a:srgbClr val="FFFFFF"/>
                </a:solidFill>
              </a:rPr>
              <a:t>API </a:t>
            </a:r>
            <a:r>
              <a:rPr lang="zh-TW" altLang="en-US" sz="1600" dirty="0">
                <a:solidFill>
                  <a:srgbClr val="FFFFFF"/>
                </a:solidFill>
              </a:rPr>
              <a:t>的部分數據，導致系統一直讀到 </a:t>
            </a:r>
            <a:r>
              <a:rPr lang="en-US" altLang="zh-TW" sz="1600" dirty="0">
                <a:solidFill>
                  <a:srgbClr val="FFFFFF"/>
                </a:solidFill>
              </a:rPr>
              <a:t>None </a:t>
            </a:r>
            <a:r>
              <a:rPr lang="zh-TW" altLang="en-US" sz="1600" dirty="0">
                <a:solidFill>
                  <a:srgbClr val="FFFFFF"/>
                </a:solidFill>
              </a:rPr>
              <a:t>或 </a:t>
            </a:r>
            <a:r>
              <a:rPr lang="en-US" altLang="zh-TW" sz="1600" dirty="0">
                <a:solidFill>
                  <a:srgbClr val="FFFFFF"/>
                </a:solidFill>
              </a:rPr>
              <a:t>Null</a:t>
            </a:r>
            <a:r>
              <a:rPr lang="zh-TW" altLang="en-US" sz="1600" dirty="0">
                <a:solidFill>
                  <a:srgbClr val="FFFFFF"/>
                </a:solidFill>
              </a:rPr>
              <a:t>。我的程式碼沒有處理空值，直接把空值帶入計算，系統卡死了！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p "</a:t>
            </a:r>
            <a:r>
              <a:rPr lang="zh-TW" altLang="en-US" sz="1600" dirty="0">
                <a:solidFill>
                  <a:srgbClr val="FFFFFF"/>
                </a:solidFill>
              </a:rPr>
              <a:t>快把你的 </a:t>
            </a:r>
            <a:r>
              <a:rPr lang="en-US" altLang="zh-TW" sz="1600" dirty="0">
                <a:solidFill>
                  <a:srgbClr val="FFFFFF"/>
                </a:solidFill>
              </a:rPr>
              <a:t>API </a:t>
            </a:r>
            <a:r>
              <a:rPr lang="zh-TW" altLang="en-US" sz="1600" dirty="0">
                <a:solidFill>
                  <a:srgbClr val="FFFFFF"/>
                </a:solidFill>
              </a:rPr>
              <a:t>接收 </a:t>
            </a:r>
            <a:r>
              <a:rPr lang="en-US" altLang="zh-TW" sz="1600" dirty="0">
                <a:solidFill>
                  <a:srgbClr val="FFFFFF"/>
                </a:solidFill>
              </a:rPr>
              <a:t>Code </a:t>
            </a:r>
            <a:r>
              <a:rPr lang="zh-TW" altLang="en-US" sz="1600" dirty="0">
                <a:solidFill>
                  <a:srgbClr val="FFFFFF"/>
                </a:solidFill>
              </a:rPr>
              <a:t>丟出來，我來寫資料清洗測試！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aria worry "</a:t>
            </a:r>
            <a:r>
              <a:rPr lang="zh-TW" altLang="en-US" sz="1600" dirty="0">
                <a:solidFill>
                  <a:srgbClr val="FFFFFF"/>
                </a:solidFill>
              </a:rPr>
              <a:t>程式碼已投影。我真的漏掉了 </a:t>
            </a:r>
            <a:r>
              <a:rPr lang="en-US" altLang="zh-TW" sz="1600" dirty="0">
                <a:solidFill>
                  <a:srgbClr val="FFFFFF"/>
                </a:solidFill>
              </a:rPr>
              <a:t>`if data is None` </a:t>
            </a:r>
            <a:r>
              <a:rPr lang="zh-TW" altLang="en-US" sz="1600" dirty="0">
                <a:solidFill>
                  <a:srgbClr val="FFFFFF"/>
                </a:solidFill>
              </a:rPr>
              <a:t>的防呆機制</a:t>
            </a:r>
            <a:r>
              <a:rPr lang="en-US" altLang="zh-TW" sz="1600" dirty="0">
                <a:solidFill>
                  <a:srgbClr val="FFFFFF"/>
                </a:solidFill>
              </a:rPr>
              <a:t>……</a:t>
            </a:r>
            <a:r>
              <a:rPr lang="zh-TW" altLang="en-US" sz="1600" dirty="0">
                <a:solidFill>
                  <a:srgbClr val="FFFFFF"/>
                </a:solidFill>
              </a:rPr>
              <a:t>請幫我驗證並修正 </a:t>
            </a:r>
            <a:r>
              <a:rPr lang="en-US" altLang="zh-TW" sz="1600" dirty="0">
                <a:solidFill>
                  <a:srgbClr val="FFFFFF"/>
                </a:solidFill>
              </a:rPr>
              <a:t>API </a:t>
            </a:r>
            <a:r>
              <a:rPr lang="zh-TW" altLang="en-US" sz="1600" dirty="0">
                <a:solidFill>
                  <a:srgbClr val="FFFFFF"/>
                </a:solidFill>
              </a:rPr>
              <a:t>接收邏輯。</a:t>
            </a:r>
            <a:r>
              <a:rPr lang="en-US" altLang="zh-TW" sz="1600" dirty="0">
                <a:solidFill>
                  <a:srgbClr val="FFFFFF"/>
                </a:solidFill>
              </a:rPr>
              <a:t>“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aria hint "</a:t>
            </a:r>
            <a:r>
              <a:rPr lang="zh-TW" altLang="en-US" sz="1600" dirty="0">
                <a:solidFill>
                  <a:srgbClr val="FFFFFF"/>
                </a:solidFill>
              </a:rPr>
              <a:t>線索提示：評測重點是</a:t>
            </a:r>
            <a:r>
              <a:rPr lang="en-US" altLang="zh-TW" sz="1600" dirty="0">
                <a:solidFill>
                  <a:srgbClr val="FFFFFF"/>
                </a:solidFill>
              </a:rPr>
              <a:t>『API </a:t>
            </a:r>
            <a:r>
              <a:rPr lang="zh-TW" altLang="en-US" sz="1600" dirty="0">
                <a:solidFill>
                  <a:srgbClr val="FFFFFF"/>
                </a:solidFill>
              </a:rPr>
              <a:t>接收是否正確</a:t>
            </a:r>
            <a:r>
              <a:rPr lang="en-US" altLang="zh-TW" sz="1600" dirty="0">
                <a:solidFill>
                  <a:srgbClr val="FFFFFF"/>
                </a:solidFill>
              </a:rPr>
              <a:t>』</a:t>
            </a:r>
            <a:r>
              <a:rPr lang="zh-TW" altLang="en-US" sz="1600" dirty="0">
                <a:solidFill>
                  <a:srgbClr val="FFFFFF"/>
                </a:solidFill>
              </a:rPr>
              <a:t>。必須測試當 </a:t>
            </a:r>
            <a:r>
              <a:rPr lang="en-US" altLang="zh-TW" sz="1600" dirty="0">
                <a:solidFill>
                  <a:srgbClr val="FFFFFF"/>
                </a:solidFill>
              </a:rPr>
              <a:t>response </a:t>
            </a:r>
            <a:r>
              <a:rPr lang="zh-TW" altLang="en-US" sz="1600" dirty="0">
                <a:solidFill>
                  <a:srgbClr val="FFFFFF"/>
                </a:solidFill>
              </a:rPr>
              <a:t>包含空值時，系統是否能過濾或填補預設值，而不是直接崩潰。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394343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6915E-696D-45DA-ABC5-60D3CFB31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A1550E59-8016-F329-1573-273E663EE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en-US" altLang="zh-TW" dirty="0">
                <a:latin typeface="+mn-ea"/>
              </a:rPr>
              <a:t> 3-3 </a:t>
            </a:r>
            <a:r>
              <a:rPr lang="zh-TW" altLang="en-US" dirty="0">
                <a:latin typeface="+mn-ea"/>
              </a:rPr>
              <a:t>即時資料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DFC7888-B2D1-9836-2C2A-611E32814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3ACF5F6-FEE8-BC38-ECC5-D8EFDCE27852}"/>
              </a:ext>
            </a:extLst>
          </p:cNvPr>
          <p:cNvSpPr txBox="1"/>
          <p:nvPr/>
        </p:nvSpPr>
        <p:spPr>
          <a:xfrm>
            <a:off x="606624" y="1043731"/>
            <a:ext cx="8319511" cy="4770537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ch3_3_menu: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menu: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撰寫測試：模擬 </a:t>
            </a:r>
            <a:r>
              <a:rPr lang="en-US" altLang="zh-TW" sz="1600" dirty="0">
                <a:solidFill>
                  <a:srgbClr val="FFFFFF"/>
                </a:solidFill>
              </a:rPr>
              <a:t>API </a:t>
            </a:r>
            <a:r>
              <a:rPr lang="zh-TW" altLang="en-US" sz="1600" dirty="0">
                <a:solidFill>
                  <a:srgbClr val="FFFFFF"/>
                </a:solidFill>
              </a:rPr>
              <a:t>回傳 </a:t>
            </a:r>
            <a:r>
              <a:rPr lang="en-US" altLang="zh-TW" sz="1600" dirty="0">
                <a:solidFill>
                  <a:srgbClr val="FFFFFF"/>
                </a:solidFill>
              </a:rPr>
              <a:t>Null</a:t>
            </a:r>
            <a:r>
              <a:rPr lang="zh-TW" altLang="en-US" sz="1600" dirty="0">
                <a:solidFill>
                  <a:srgbClr val="FFFFFF"/>
                </a:solidFill>
              </a:rPr>
              <a:t>，驗證清洗邏輯是否能用 </a:t>
            </a:r>
            <a:r>
              <a:rPr lang="en-US" altLang="zh-TW" sz="1600" dirty="0">
                <a:solidFill>
                  <a:srgbClr val="FFFFFF"/>
                </a:solidFill>
              </a:rPr>
              <a:t>.</a:t>
            </a:r>
            <a:r>
              <a:rPr lang="en-US" altLang="zh-TW" sz="1600" dirty="0" err="1">
                <a:solidFill>
                  <a:srgbClr val="FFFFFF"/>
                </a:solidFill>
              </a:rPr>
              <a:t>fillna</a:t>
            </a:r>
            <a:r>
              <a:rPr lang="en-US" altLang="zh-TW" sz="1600" dirty="0">
                <a:solidFill>
                  <a:srgbClr val="FFFFFF"/>
                </a:solidFill>
              </a:rPr>
              <a:t>() </a:t>
            </a:r>
            <a:r>
              <a:rPr lang="zh-TW" altLang="en-US" sz="1600" dirty="0">
                <a:solidFill>
                  <a:srgbClr val="FFFFFF"/>
                </a:solidFill>
              </a:rPr>
              <a:t>或 </a:t>
            </a:r>
            <a:r>
              <a:rPr lang="en-US" altLang="zh-TW" sz="1600" dirty="0">
                <a:solidFill>
                  <a:srgbClr val="FFFFFF"/>
                </a:solidFill>
              </a:rPr>
              <a:t>if key is None </a:t>
            </a:r>
            <a:r>
              <a:rPr lang="zh-TW" altLang="en-US" sz="1600" dirty="0">
                <a:solidFill>
                  <a:srgbClr val="FFFFFF"/>
                </a:solidFill>
              </a:rPr>
              <a:t>給予安全預設值</a:t>
            </a:r>
            <a:r>
              <a:rPr lang="en-US" altLang="zh-TW" sz="1600" dirty="0">
                <a:solidFill>
                  <a:srgbClr val="FFFFFF"/>
                </a:solidFill>
              </a:rPr>
              <a:t>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$ score += 10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$ </a:t>
            </a:r>
            <a:r>
              <a:rPr lang="en-US" altLang="zh-TW" sz="1600" dirty="0" err="1">
                <a:solidFill>
                  <a:srgbClr val="FFFFFF"/>
                </a:solidFill>
              </a:rPr>
              <a:t>aria_trust</a:t>
            </a:r>
            <a:r>
              <a:rPr lang="en-US" altLang="zh-TW" sz="1600" dirty="0">
                <a:solidFill>
                  <a:srgbClr val="FFFFFF"/>
                </a:solidFill>
              </a:rPr>
              <a:t> += 1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aria happy "</a:t>
            </a:r>
            <a:r>
              <a:rPr lang="zh-TW" altLang="en-US" sz="1600" dirty="0">
                <a:solidFill>
                  <a:srgbClr val="FFFFFF"/>
                </a:solidFill>
              </a:rPr>
              <a:t>完美清洗！環控系統成功跳過了駭客製造的空值陷阱，冷氣和燈光恢復正常了！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"【</a:t>
            </a:r>
            <a:r>
              <a:rPr lang="zh-TW" altLang="en-US" sz="1600" dirty="0">
                <a:solidFill>
                  <a:srgbClr val="FFFFFF"/>
                </a:solidFill>
              </a:rPr>
              <a:t>系統提示：</a:t>
            </a:r>
            <a:r>
              <a:rPr lang="en-US" altLang="zh-TW" sz="1600" dirty="0">
                <a:solidFill>
                  <a:srgbClr val="FFFFFF"/>
                </a:solidFill>
              </a:rPr>
              <a:t>API </a:t>
            </a:r>
            <a:r>
              <a:rPr lang="zh-TW" altLang="en-US" sz="1600" dirty="0">
                <a:solidFill>
                  <a:srgbClr val="FFFFFF"/>
                </a:solidFill>
              </a:rPr>
              <a:t>接收正確性評測通過。</a:t>
            </a:r>
            <a:r>
              <a:rPr lang="en-US" altLang="zh-TW" sz="1600" dirty="0">
                <a:solidFill>
                  <a:srgbClr val="FFFFFF"/>
                </a:solidFill>
              </a:rPr>
              <a:t>Layer 3 </a:t>
            </a:r>
            <a:r>
              <a:rPr lang="zh-TW" altLang="en-US" sz="1600" dirty="0">
                <a:solidFill>
                  <a:srgbClr val="FFFFFF"/>
                </a:solidFill>
              </a:rPr>
              <a:t>數據密室全面解鎖！</a:t>
            </a:r>
            <a:r>
              <a:rPr lang="en-US" altLang="zh-TW" sz="1600" dirty="0">
                <a:solidFill>
                  <a:srgbClr val="FFFFFF"/>
                </a:solidFill>
              </a:rPr>
              <a:t>】"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jump chapter4_intro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撰寫測試：強迫系統每當讀到空值，就調用 </a:t>
            </a:r>
            <a:r>
              <a:rPr lang="en-US" altLang="zh-TW" sz="1600" dirty="0" err="1">
                <a:solidFill>
                  <a:srgbClr val="FFFFFF"/>
                </a:solidFill>
              </a:rPr>
              <a:t>sys.exit</a:t>
            </a:r>
            <a:r>
              <a:rPr lang="en-US" altLang="zh-TW" sz="1600" dirty="0">
                <a:solidFill>
                  <a:srgbClr val="FFFFFF"/>
                </a:solidFill>
              </a:rPr>
              <a:t>() </a:t>
            </a:r>
            <a:r>
              <a:rPr lang="zh-TW" altLang="en-US" sz="1600" dirty="0">
                <a:solidFill>
                  <a:srgbClr val="FFFFFF"/>
                </a:solidFill>
              </a:rPr>
              <a:t>重新開機</a:t>
            </a:r>
            <a:r>
              <a:rPr lang="en-US" altLang="zh-TW" sz="1600" dirty="0">
                <a:solidFill>
                  <a:srgbClr val="FFFFFF"/>
                </a:solidFill>
              </a:rPr>
              <a:t>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aria error "</a:t>
            </a:r>
            <a:r>
              <a:rPr lang="zh-TW" altLang="en-US" sz="1600" dirty="0">
                <a:solidFill>
                  <a:srgbClr val="FFFFFF"/>
                </a:solidFill>
              </a:rPr>
              <a:t>這會陷入無限開機迴圈！因為 </a:t>
            </a:r>
            <a:r>
              <a:rPr lang="en-US" altLang="zh-TW" sz="1600" dirty="0">
                <a:solidFill>
                  <a:srgbClr val="FFFFFF"/>
                </a:solidFill>
              </a:rPr>
              <a:t>API </a:t>
            </a:r>
            <a:r>
              <a:rPr lang="zh-TW" altLang="en-US" sz="1600" dirty="0">
                <a:solidFill>
                  <a:srgbClr val="FFFFFF"/>
                </a:solidFill>
              </a:rPr>
              <a:t>連線沒修好，重開機後讀到空值還是會繼續崩潰！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jump ch3_3_menu</a:t>
            </a:r>
          </a:p>
          <a:p>
            <a:endParaRPr lang="en-US" altLang="zh-TW" sz="1600" dirty="0">
              <a:solidFill>
                <a:srgbClr val="FFFFFF"/>
              </a:solidFill>
            </a:endParaRP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"</a:t>
            </a:r>
            <a:r>
              <a:rPr lang="zh-TW" altLang="en-US" sz="1600" dirty="0">
                <a:solidFill>
                  <a:srgbClr val="FFFFFF"/>
                </a:solidFill>
              </a:rPr>
              <a:t>撰寫測試：直接略過測試，把讀到 </a:t>
            </a:r>
            <a:r>
              <a:rPr lang="en-US" altLang="zh-TW" sz="1600" dirty="0">
                <a:solidFill>
                  <a:srgbClr val="FFFFFF"/>
                </a:solidFill>
              </a:rPr>
              <a:t>None </a:t>
            </a:r>
            <a:r>
              <a:rPr lang="zh-TW" altLang="en-US" sz="1600" dirty="0">
                <a:solidFill>
                  <a:srgbClr val="FFFFFF"/>
                </a:solidFill>
              </a:rPr>
              <a:t>的那一行 </a:t>
            </a:r>
            <a:r>
              <a:rPr lang="en-US" altLang="zh-TW" sz="1600" dirty="0">
                <a:solidFill>
                  <a:srgbClr val="FFFFFF"/>
                </a:solidFill>
              </a:rPr>
              <a:t>Code </a:t>
            </a:r>
            <a:r>
              <a:rPr lang="zh-TW" altLang="en-US" sz="1600" dirty="0">
                <a:solidFill>
                  <a:srgbClr val="FFFFFF"/>
                </a:solidFill>
              </a:rPr>
              <a:t>刪掉</a:t>
            </a:r>
            <a:r>
              <a:rPr lang="en-US" altLang="zh-TW" sz="1600" dirty="0">
                <a:solidFill>
                  <a:srgbClr val="FFFFFF"/>
                </a:solidFill>
              </a:rPr>
              <a:t>":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aria worry "</a:t>
            </a:r>
            <a:r>
              <a:rPr lang="zh-TW" altLang="en-US" sz="1600" dirty="0">
                <a:solidFill>
                  <a:srgbClr val="FFFFFF"/>
                </a:solidFill>
              </a:rPr>
              <a:t>不行啊！刪掉那一行會導致 </a:t>
            </a:r>
            <a:r>
              <a:rPr lang="en-US" altLang="zh-TW" sz="1600" dirty="0" err="1">
                <a:solidFill>
                  <a:srgbClr val="FFFFFF"/>
                </a:solidFill>
              </a:rPr>
              <a:t>IndexError</a:t>
            </a:r>
            <a:r>
              <a:rPr lang="zh-TW" altLang="en-US" sz="1600" dirty="0">
                <a:solidFill>
                  <a:srgbClr val="FFFFFF"/>
                </a:solidFill>
              </a:rPr>
              <a:t>，程式連編譯都過不了！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            jump ch3_3_menu</a:t>
            </a:r>
          </a:p>
        </p:txBody>
      </p:sp>
    </p:spTree>
    <p:extLst>
      <p:ext uri="{BB962C8B-B14F-4D97-AF65-F5344CB8AC3E}">
        <p14:creationId xmlns:p14="http://schemas.microsoft.com/office/powerpoint/2010/main" val="3376416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A32F7-C727-30B1-750C-D58002842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3FB8173-B71B-6C83-2A19-0858F1041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chapter3 </a:t>
            </a:r>
            <a:r>
              <a:rPr lang="zh-TW" altLang="en-US" dirty="0">
                <a:latin typeface="+mn-ea"/>
              </a:rPr>
              <a:t>結尾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FBD7FC4-591A-74A4-152D-700F272ED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1F9ACE6-A75C-4763-E38A-2B210F296ED1}"/>
              </a:ext>
            </a:extLst>
          </p:cNvPr>
          <p:cNvSpPr txBox="1"/>
          <p:nvPr/>
        </p:nvSpPr>
        <p:spPr>
          <a:xfrm>
            <a:off x="638486" y="1412776"/>
            <a:ext cx="8319511" cy="3539430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chemeClr val="bg1"/>
                </a:solidFill>
              </a:rPr>
              <a:t> label chapter3_clear: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        “</a:t>
            </a:r>
            <a:r>
              <a:rPr lang="zh-TW" altLang="en-US" sz="1600" dirty="0">
                <a:solidFill>
                  <a:schemeClr val="bg1"/>
                </a:solidFill>
              </a:rPr>
              <a:t>成功修復辦公室的</a:t>
            </a:r>
            <a:r>
              <a:rPr lang="en-US" altLang="zh-TW" sz="1600" dirty="0">
                <a:solidFill>
                  <a:schemeClr val="bg1"/>
                </a:solidFill>
              </a:rPr>
              <a:t>Debug</a:t>
            </a:r>
            <a:r>
              <a:rPr lang="zh-TW" altLang="en-US" sz="1600" dirty="0">
                <a:solidFill>
                  <a:schemeClr val="bg1"/>
                </a:solidFill>
              </a:rPr>
              <a:t>了，資料數據慢慢恢復了。</a:t>
            </a:r>
            <a:r>
              <a:rPr lang="en-US" altLang="zh-TW" sz="1600" dirty="0">
                <a:solidFill>
                  <a:schemeClr val="bg1"/>
                </a:solidFill>
              </a:rPr>
              <a:t>"</a:t>
            </a:r>
          </a:p>
          <a:p>
            <a:endParaRPr lang="en-US" altLang="zh-TW" sz="1600" dirty="0">
              <a:solidFill>
                <a:schemeClr val="bg1"/>
              </a:solidFill>
            </a:endParaRPr>
          </a:p>
          <a:p>
            <a:r>
              <a:rPr lang="en-US" altLang="zh-TW" sz="1600" dirty="0">
                <a:solidFill>
                  <a:schemeClr val="bg1"/>
                </a:solidFill>
              </a:rPr>
              <a:t>        aria happy “Layer 3</a:t>
            </a:r>
            <a:r>
              <a:rPr lang="zh-TW" altLang="en-US" sz="1600" dirty="0">
                <a:solidFill>
                  <a:schemeClr val="bg1"/>
                </a:solidFill>
              </a:rPr>
              <a:t>密室修復完成！你越來越厲害了。</a:t>
            </a:r>
            <a:r>
              <a:rPr lang="en-US" altLang="zh-TW" sz="1600" dirty="0">
                <a:solidFill>
                  <a:schemeClr val="bg1"/>
                </a:solidFill>
              </a:rPr>
              <a:t>"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        aria “</a:t>
            </a:r>
            <a:r>
              <a:rPr lang="zh-TW" altLang="en-US" sz="1600" dirty="0">
                <a:solidFill>
                  <a:schemeClr val="bg1"/>
                </a:solidFill>
              </a:rPr>
              <a:t>接下來是 </a:t>
            </a:r>
            <a:r>
              <a:rPr lang="en-US" altLang="zh-TW" sz="1600" dirty="0">
                <a:solidFill>
                  <a:schemeClr val="bg1"/>
                </a:solidFill>
              </a:rPr>
              <a:t>Layer 4</a:t>
            </a:r>
            <a:r>
              <a:rPr lang="zh-TW" altLang="en-US" sz="1600" dirty="0">
                <a:solidFill>
                  <a:schemeClr val="bg1"/>
                </a:solidFill>
              </a:rPr>
              <a:t>，那裡的 </a:t>
            </a:r>
            <a:r>
              <a:rPr lang="en-US" altLang="zh-TW" sz="1600" dirty="0">
                <a:solidFill>
                  <a:schemeClr val="bg1"/>
                </a:solidFill>
              </a:rPr>
              <a:t>AI </a:t>
            </a:r>
            <a:r>
              <a:rPr lang="zh-TW" altLang="en-US" sz="1600" dirty="0">
                <a:solidFill>
                  <a:schemeClr val="bg1"/>
                </a:solidFill>
              </a:rPr>
              <a:t>輔助會降至</a:t>
            </a:r>
            <a:r>
              <a:rPr lang="en-US" altLang="zh-TW" sz="1600" dirty="0">
                <a:solidFill>
                  <a:schemeClr val="bg1"/>
                </a:solidFill>
              </a:rPr>
              <a:t>20%%~0%%</a:t>
            </a:r>
            <a:r>
              <a:rPr lang="zh-TW" altLang="en-US" sz="1600" dirty="0">
                <a:solidFill>
                  <a:schemeClr val="bg1"/>
                </a:solidFill>
              </a:rPr>
              <a:t>，你需要由自己負責主要部份了。</a:t>
            </a:r>
            <a:r>
              <a:rPr lang="en-US" altLang="zh-TW" sz="1600" dirty="0">
                <a:solidFill>
                  <a:schemeClr val="bg1"/>
                </a:solidFill>
              </a:rPr>
              <a:t>"</a:t>
            </a:r>
          </a:p>
          <a:p>
            <a:endParaRPr lang="en-US" altLang="zh-TW" sz="1600" dirty="0">
              <a:solidFill>
                <a:schemeClr val="bg1"/>
              </a:solidFill>
            </a:endParaRPr>
          </a:p>
          <a:p>
            <a:r>
              <a:rPr lang="en-US" altLang="zh-TW" sz="1600" dirty="0">
                <a:solidFill>
                  <a:schemeClr val="bg1"/>
                </a:solidFill>
              </a:rPr>
              <a:t>        p “</a:t>
            </a:r>
            <a:r>
              <a:rPr lang="zh-TW" altLang="en-US" sz="1600" dirty="0">
                <a:solidFill>
                  <a:schemeClr val="bg1"/>
                </a:solidFill>
              </a:rPr>
              <a:t>等一下</a:t>
            </a:r>
            <a:r>
              <a:rPr lang="en-US" altLang="zh-TW" sz="1600" dirty="0">
                <a:solidFill>
                  <a:schemeClr val="bg1"/>
                </a:solidFill>
              </a:rPr>
              <a:t>——</a:t>
            </a:r>
            <a:r>
              <a:rPr lang="zh-TW" altLang="en-US" sz="1600" dirty="0">
                <a:solidFill>
                  <a:schemeClr val="bg1"/>
                </a:solidFill>
              </a:rPr>
              <a:t>你說</a:t>
            </a:r>
            <a:r>
              <a:rPr lang="en-US" altLang="zh-TW" sz="1600" dirty="0">
                <a:solidFill>
                  <a:schemeClr val="bg1"/>
                </a:solidFill>
              </a:rPr>
              <a:t>『</a:t>
            </a:r>
            <a:r>
              <a:rPr lang="zh-TW" altLang="en-US" sz="1600" dirty="0">
                <a:solidFill>
                  <a:schemeClr val="bg1"/>
                </a:solidFill>
              </a:rPr>
              <a:t>變少甚至沒有</a:t>
            </a:r>
            <a:r>
              <a:rPr lang="en-US" altLang="zh-TW" sz="1600" dirty="0">
                <a:solidFill>
                  <a:schemeClr val="bg1"/>
                </a:solidFill>
              </a:rPr>
              <a:t>』</a:t>
            </a:r>
            <a:r>
              <a:rPr lang="zh-TW" altLang="en-US" sz="1600" dirty="0">
                <a:solidFill>
                  <a:schemeClr val="bg1"/>
                </a:solidFill>
              </a:rPr>
              <a:t>？</a:t>
            </a:r>
            <a:r>
              <a:rPr lang="en-US" altLang="zh-TW" sz="1600" dirty="0">
                <a:solidFill>
                  <a:schemeClr val="bg1"/>
                </a:solidFill>
              </a:rPr>
              <a:t>"</a:t>
            </a:r>
          </a:p>
          <a:p>
            <a:endParaRPr lang="en-US" altLang="zh-TW" sz="1600" dirty="0">
              <a:solidFill>
                <a:schemeClr val="bg1"/>
              </a:solidFill>
            </a:endParaRPr>
          </a:p>
          <a:p>
            <a:r>
              <a:rPr lang="en-US" altLang="zh-TW" sz="1600" dirty="0">
                <a:solidFill>
                  <a:schemeClr val="bg1"/>
                </a:solidFill>
              </a:rPr>
              <a:t>        aria normal "</a:t>
            </a:r>
            <a:r>
              <a:rPr lang="zh-TW" altLang="en-US" sz="1600" dirty="0">
                <a:solidFill>
                  <a:schemeClr val="bg1"/>
                </a:solidFill>
              </a:rPr>
              <a:t>我的核心算力正被 </a:t>
            </a:r>
            <a:r>
              <a:rPr lang="en-US" altLang="zh-TW" sz="1600" dirty="0">
                <a:solidFill>
                  <a:schemeClr val="bg1"/>
                </a:solidFill>
              </a:rPr>
              <a:t>Null-Void </a:t>
            </a:r>
            <a:r>
              <a:rPr lang="zh-TW" altLang="en-US" sz="1600" dirty="0">
                <a:solidFill>
                  <a:schemeClr val="bg1"/>
                </a:solidFill>
              </a:rPr>
              <a:t>強制剝離</a:t>
            </a:r>
            <a:r>
              <a:rPr lang="en-US" altLang="zh-TW" sz="1600" dirty="0">
                <a:solidFill>
                  <a:schemeClr val="bg1"/>
                </a:solidFill>
              </a:rPr>
              <a:t>...</a:t>
            </a:r>
            <a:r>
              <a:rPr lang="zh-TW" altLang="en-US" sz="1600" dirty="0">
                <a:solidFill>
                  <a:schemeClr val="bg1"/>
                </a:solidFill>
              </a:rPr>
              <a:t>這是我最後能維持的連線了。</a:t>
            </a:r>
            <a:r>
              <a:rPr lang="en-US" altLang="zh-TW" sz="1600" dirty="0">
                <a:solidFill>
                  <a:schemeClr val="bg1"/>
                </a:solidFill>
              </a:rPr>
              <a:t>"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        aria hint "</a:t>
            </a:r>
            <a:r>
              <a:rPr lang="zh-TW" altLang="en-US" sz="1600" dirty="0">
                <a:solidFill>
                  <a:schemeClr val="bg1"/>
                </a:solidFill>
              </a:rPr>
              <a:t>接下來的路</a:t>
            </a:r>
            <a:r>
              <a:rPr lang="en-US" altLang="zh-TW" sz="1600" dirty="0">
                <a:solidFill>
                  <a:schemeClr val="bg1"/>
                </a:solidFill>
              </a:rPr>
              <a:t>...</a:t>
            </a:r>
            <a:r>
              <a:rPr lang="zh-TW" altLang="en-US" sz="1600" dirty="0">
                <a:solidFill>
                  <a:schemeClr val="bg1"/>
                </a:solidFill>
              </a:rPr>
              <a:t>請相信你這幾層樓累積的直覺，加油。</a:t>
            </a:r>
            <a:r>
              <a:rPr lang="en-US" altLang="zh-TW" sz="1600" dirty="0">
                <a:solidFill>
                  <a:schemeClr val="bg1"/>
                </a:solidFill>
              </a:rPr>
              <a:t>"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	"ARIA </a:t>
            </a:r>
            <a:r>
              <a:rPr lang="zh-TW" altLang="en-US" sz="1600" dirty="0">
                <a:solidFill>
                  <a:schemeClr val="bg1"/>
                </a:solidFill>
              </a:rPr>
              <a:t>的身影閃爍了一下，逐漸變得透明，虛擬空間的雜訊聲越來越大。</a:t>
            </a:r>
            <a:r>
              <a:rPr lang="en-US" altLang="zh-TW" sz="1600" dirty="0">
                <a:solidFill>
                  <a:schemeClr val="bg1"/>
                </a:solidFill>
              </a:rPr>
              <a:t>" 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        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	jump chapter4_intro</a:t>
            </a:r>
          </a:p>
        </p:txBody>
      </p:sp>
    </p:spTree>
    <p:extLst>
      <p:ext uri="{BB962C8B-B14F-4D97-AF65-F5344CB8AC3E}">
        <p14:creationId xmlns:p14="http://schemas.microsoft.com/office/powerpoint/2010/main" val="601606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3AF12-9E50-4C56-413E-0743CA83F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FFE93B82-1781-B066-0748-5457A94BD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>
                <a:latin typeface="+mn-ea"/>
              </a:rPr>
              <a:t>RenPy</a:t>
            </a:r>
            <a:r>
              <a:rPr lang="zh-TW" altLang="en-US">
                <a:latin typeface="+mn-ea"/>
              </a:rPr>
              <a:t> </a:t>
            </a:r>
            <a:r>
              <a:rPr lang="en-US" altLang="zh-TW">
                <a:latin typeface="+mn-ea"/>
              </a:rPr>
              <a:t>chapter4 (</a:t>
            </a:r>
            <a:r>
              <a:rPr lang="en-US" altLang="zh-TW" dirty="0">
                <a:latin typeface="+mn-ea"/>
              </a:rPr>
              <a:t>0%~20%)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0C7B197-0234-BE24-BEE8-E0176ABB8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7636A61-7771-C1AC-FA9C-AE2F41BF4DF1}"/>
              </a:ext>
            </a:extLst>
          </p:cNvPr>
          <p:cNvSpPr txBox="1"/>
          <p:nvPr/>
        </p:nvSpPr>
        <p:spPr>
          <a:xfrm>
            <a:off x="611560" y="980728"/>
            <a:ext cx="8319511" cy="4031873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chapter4_intro: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整棟辦公大樓的燈光突然熄滅。幾秒後，紅色的應援燈緩緩亮起，四周的虛擬數據走廊開始崩解。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  <a:p>
            <a:pPr lvl="1"/>
            <a:endParaRPr lang="en-US" altLang="zh-TW" sz="1600" dirty="0">
              <a:solidFill>
                <a:srgbClr val="FFFFFF"/>
              </a:solidFill>
            </a:endParaRP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sys "【</a:t>
            </a:r>
            <a:r>
              <a:rPr lang="zh-TW" altLang="en-US" sz="1600" dirty="0">
                <a:solidFill>
                  <a:srgbClr val="FFFFFF"/>
                </a:solidFill>
              </a:rPr>
              <a:t>終極警報</a:t>
            </a:r>
            <a:r>
              <a:rPr lang="en-US" altLang="zh-TW" sz="1600" dirty="0">
                <a:solidFill>
                  <a:srgbClr val="FFFFFF"/>
                </a:solidFill>
              </a:rPr>
              <a:t>】Null-Void </a:t>
            </a:r>
            <a:r>
              <a:rPr lang="zh-TW" altLang="en-US" sz="1600" dirty="0">
                <a:solidFill>
                  <a:srgbClr val="FFFFFF"/>
                </a:solidFill>
              </a:rPr>
              <a:t>發現防線被破，正在切斷 </a:t>
            </a:r>
            <a:r>
              <a:rPr lang="en-US" altLang="zh-TW" sz="1600" dirty="0">
                <a:solidFill>
                  <a:srgbClr val="FFFFFF"/>
                </a:solidFill>
              </a:rPr>
              <a:t>AI </a:t>
            </a:r>
            <a:r>
              <a:rPr lang="zh-TW" altLang="en-US" sz="1600" dirty="0">
                <a:solidFill>
                  <a:srgbClr val="FFFFFF"/>
                </a:solidFill>
              </a:rPr>
              <a:t>助理的雲端算力！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aria error "</a:t>
            </a:r>
            <a:r>
              <a:rPr lang="zh-TW" altLang="en-US" sz="1600" dirty="0">
                <a:solidFill>
                  <a:srgbClr val="FFFFFF"/>
                </a:solidFill>
              </a:rPr>
              <a:t>啊</a:t>
            </a:r>
            <a:r>
              <a:rPr lang="en-US" altLang="zh-TW" sz="1600" dirty="0">
                <a:solidFill>
                  <a:srgbClr val="FFFFFF"/>
                </a:solidFill>
              </a:rPr>
              <a:t>……</a:t>
            </a:r>
            <a:r>
              <a:rPr lang="zh-TW" altLang="en-US" sz="1600" dirty="0">
                <a:solidFill>
                  <a:srgbClr val="FFFFFF"/>
                </a:solidFill>
              </a:rPr>
              <a:t>我的核心連線</a:t>
            </a:r>
            <a:r>
              <a:rPr lang="en-US" altLang="zh-TW" sz="1600" dirty="0">
                <a:solidFill>
                  <a:srgbClr val="FFFFFF"/>
                </a:solidFill>
              </a:rPr>
              <a:t>……</a:t>
            </a:r>
            <a:r>
              <a:rPr lang="zh-TW" altLang="en-US" sz="1600" dirty="0">
                <a:solidFill>
                  <a:srgbClr val="FFFFFF"/>
                </a:solidFill>
              </a:rPr>
              <a:t>要被切斷了</a:t>
            </a:r>
            <a:r>
              <a:rPr lang="en-US" altLang="zh-TW" sz="1600" dirty="0">
                <a:solidFill>
                  <a:srgbClr val="FFFFFF"/>
                </a:solidFill>
              </a:rPr>
              <a:t>……"    </a:t>
            </a:r>
          </a:p>
          <a:p>
            <a:pPr lvl="1"/>
            <a:endParaRPr lang="en-US" altLang="zh-TW" sz="1600" dirty="0">
              <a:solidFill>
                <a:srgbClr val="FFFFFF"/>
              </a:solidFill>
            </a:endParaRP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"ARIA </a:t>
            </a:r>
            <a:r>
              <a:rPr lang="zh-TW" altLang="en-US" sz="1600" dirty="0">
                <a:solidFill>
                  <a:srgbClr val="FFFFFF"/>
                </a:solidFill>
              </a:rPr>
              <a:t>的身體開始變得半透明，全息投影斷斷續續，發出沙沙的雜訊聲。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aria normal “</a:t>
            </a:r>
          </a:p>
          <a:p>
            <a:pPr lvl="1"/>
            <a:endParaRPr lang="en-US" altLang="zh-TW" sz="1600" dirty="0">
              <a:solidFill>
                <a:srgbClr val="FFFFFF"/>
              </a:solidFill>
            </a:endParaRPr>
          </a:p>
          <a:p>
            <a:pPr lvl="1"/>
            <a:r>
              <a:rPr lang="zh-TW" altLang="en-US" sz="1600" dirty="0">
                <a:solidFill>
                  <a:srgbClr val="FFFFFF"/>
                </a:solidFill>
              </a:rPr>
              <a:t>接下來的 </a:t>
            </a:r>
            <a:r>
              <a:rPr lang="en-US" altLang="zh-TW" sz="1600" dirty="0">
                <a:solidFill>
                  <a:srgbClr val="FFFFFF"/>
                </a:solidFill>
              </a:rPr>
              <a:t>Layer 4……</a:t>
            </a:r>
            <a:r>
              <a:rPr lang="zh-TW" altLang="en-US" sz="1600" dirty="0">
                <a:solidFill>
                  <a:srgbClr val="FFFFFF"/>
                </a:solidFill>
              </a:rPr>
              <a:t>多媒體應用</a:t>
            </a:r>
            <a:r>
              <a:rPr lang="en-US" altLang="zh-TW" sz="1600" dirty="0">
                <a:solidFill>
                  <a:srgbClr val="FFFFFF"/>
                </a:solidFill>
              </a:rPr>
              <a:t>……</a:t>
            </a:r>
            <a:r>
              <a:rPr lang="zh-TW" altLang="en-US" sz="1600" dirty="0">
                <a:solidFill>
                  <a:srgbClr val="FFFFFF"/>
                </a:solidFill>
              </a:rPr>
              <a:t>我的參與度將降到 </a:t>
            </a:r>
            <a:r>
              <a:rPr lang="en-US" altLang="zh-TW" sz="1600" dirty="0">
                <a:solidFill>
                  <a:srgbClr val="FFFFFF"/>
                </a:solidFill>
              </a:rPr>
              <a:t>20%% </a:t>
            </a:r>
            <a:r>
              <a:rPr lang="zh-TW" altLang="en-US" sz="1600" dirty="0">
                <a:solidFill>
                  <a:srgbClr val="FFFFFF"/>
                </a:solidFill>
              </a:rPr>
              <a:t>甚至 </a:t>
            </a:r>
            <a:r>
              <a:rPr lang="en-US" altLang="zh-TW" sz="1600" dirty="0">
                <a:solidFill>
                  <a:srgbClr val="FFFFFF"/>
                </a:solidFill>
              </a:rPr>
              <a:t>0%%……</a:t>
            </a:r>
            <a:r>
              <a:rPr lang="zh-TW" altLang="en-US" sz="1600" dirty="0">
                <a:solidFill>
                  <a:srgbClr val="FFFFFF"/>
                </a:solidFill>
              </a:rPr>
              <a:t>我只能提供極少提示，甚至</a:t>
            </a:r>
            <a:r>
              <a:rPr lang="en-US" altLang="zh-TW" sz="1600" dirty="0">
                <a:solidFill>
                  <a:srgbClr val="FFFFFF"/>
                </a:solidFill>
              </a:rPr>
              <a:t>……</a:t>
            </a:r>
            <a:r>
              <a:rPr lang="zh-TW" altLang="en-US" sz="1600" dirty="0">
                <a:solidFill>
                  <a:srgbClr val="FFFFFF"/>
                </a:solidFill>
              </a:rPr>
              <a:t>甚至無法幫你寫任何一行 </a:t>
            </a:r>
            <a:r>
              <a:rPr lang="en-US" altLang="zh-TW" sz="1600" dirty="0">
                <a:solidFill>
                  <a:srgbClr val="FFFFFF"/>
                </a:solidFill>
              </a:rPr>
              <a:t>Code……"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p "ARIA</a:t>
            </a:r>
            <a:r>
              <a:rPr lang="zh-TW" altLang="en-US" sz="1600" dirty="0">
                <a:solidFill>
                  <a:srgbClr val="FFFFFF"/>
                </a:solidFill>
              </a:rPr>
              <a:t>！撐住啊！</a:t>
            </a:r>
            <a:r>
              <a:rPr lang="en-US" altLang="zh-TW" sz="1600" dirty="0">
                <a:solidFill>
                  <a:srgbClr val="FFFFFF"/>
                </a:solidFill>
              </a:rPr>
              <a:t>"    aria hint "</a:t>
            </a:r>
            <a:r>
              <a:rPr lang="zh-TW" altLang="en-US" sz="1600" dirty="0">
                <a:solidFill>
                  <a:srgbClr val="FFFFFF"/>
                </a:solidFill>
              </a:rPr>
              <a:t>相信</a:t>
            </a:r>
            <a:r>
              <a:rPr lang="en-US" altLang="zh-TW" sz="1600" dirty="0">
                <a:solidFill>
                  <a:srgbClr val="FFFFFF"/>
                </a:solidFill>
              </a:rPr>
              <a:t>……</a:t>
            </a:r>
            <a:r>
              <a:rPr lang="zh-TW" altLang="en-US" sz="1600" dirty="0">
                <a:solidFill>
                  <a:srgbClr val="FFFFFF"/>
                </a:solidFill>
              </a:rPr>
              <a:t>你自己的</a:t>
            </a:r>
            <a:r>
              <a:rPr lang="en-US" altLang="zh-TW" sz="1600" dirty="0">
                <a:solidFill>
                  <a:srgbClr val="FFFFFF"/>
                </a:solidFill>
              </a:rPr>
              <a:t>……</a:t>
            </a:r>
            <a:r>
              <a:rPr lang="zh-TW" altLang="en-US" sz="1600" dirty="0">
                <a:solidFill>
                  <a:srgbClr val="FFFFFF"/>
                </a:solidFill>
              </a:rPr>
              <a:t>應用能力</a:t>
            </a:r>
            <a:r>
              <a:rPr lang="en-US" altLang="zh-TW" sz="1600" dirty="0">
                <a:solidFill>
                  <a:srgbClr val="FFFFFF"/>
                </a:solidFill>
              </a:rPr>
              <a:t>……</a:t>
            </a:r>
            <a:r>
              <a:rPr lang="zh-TW" altLang="en-US" sz="1600" dirty="0">
                <a:solidFill>
                  <a:srgbClr val="FFFFFF"/>
                </a:solidFill>
              </a:rPr>
              <a:t>行銷部</a:t>
            </a:r>
            <a:r>
              <a:rPr lang="en-US" altLang="zh-TW" sz="1600" dirty="0">
                <a:solidFill>
                  <a:srgbClr val="FFFFFF"/>
                </a:solidFill>
              </a:rPr>
              <a:t>……OpenCV……"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"【</a:t>
            </a:r>
            <a:r>
              <a:rPr lang="zh-TW" altLang="en-US" sz="1600" dirty="0">
                <a:solidFill>
                  <a:srgbClr val="FFFFFF"/>
                </a:solidFill>
              </a:rPr>
              <a:t>系統提示：</a:t>
            </a:r>
            <a:r>
              <a:rPr lang="en-US" altLang="zh-TW" sz="1600" dirty="0">
                <a:solidFill>
                  <a:srgbClr val="FFFFFF"/>
                </a:solidFill>
              </a:rPr>
              <a:t>AI </a:t>
            </a:r>
            <a:r>
              <a:rPr lang="zh-TW" altLang="en-US" sz="1600" dirty="0">
                <a:solidFill>
                  <a:srgbClr val="FFFFFF"/>
                </a:solidFill>
              </a:rPr>
              <a:t>助理 </a:t>
            </a:r>
            <a:r>
              <a:rPr lang="en-US" altLang="zh-TW" sz="1600" dirty="0">
                <a:solidFill>
                  <a:srgbClr val="FFFFFF"/>
                </a:solidFill>
              </a:rPr>
              <a:t>ARIA </a:t>
            </a:r>
            <a:r>
              <a:rPr lang="zh-TW" altLang="en-US" sz="1600" dirty="0">
                <a:solidFill>
                  <a:srgbClr val="FFFFFF"/>
                </a:solidFill>
              </a:rPr>
              <a:t>已斷線，進入離線託管狀態。接下來的關卡將由學生完全主導。</a:t>
            </a:r>
            <a:r>
              <a:rPr lang="en-US" altLang="zh-TW" sz="1600" dirty="0">
                <a:solidFill>
                  <a:srgbClr val="FFFFFF"/>
                </a:solidFill>
              </a:rPr>
              <a:t>】"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jump chapter4_1</a:t>
            </a:r>
          </a:p>
        </p:txBody>
      </p:sp>
    </p:spTree>
    <p:extLst>
      <p:ext uri="{BB962C8B-B14F-4D97-AF65-F5344CB8AC3E}">
        <p14:creationId xmlns:p14="http://schemas.microsoft.com/office/powerpoint/2010/main" val="2555623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95FFC-8146-CB2F-83E7-070B717E4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3F7A5833-2AB7-44AF-ABE0-CF5B4BD8E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4-1</a:t>
            </a:r>
            <a:r>
              <a:rPr lang="zh-TW" altLang="en-US" dirty="0">
                <a:latin typeface="+mn-ea"/>
              </a:rPr>
              <a:t>圖片處理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A0E4B1C-AFEE-4AAD-2D3D-7DD3160C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B7B571C-5268-B07E-0A0B-3FC6D690814F}"/>
              </a:ext>
            </a:extLst>
          </p:cNvPr>
          <p:cNvSpPr txBox="1"/>
          <p:nvPr/>
        </p:nvSpPr>
        <p:spPr>
          <a:xfrm>
            <a:off x="611560" y="1376177"/>
            <a:ext cx="8319511" cy="2554545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chapter4_1: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  "</a:t>
            </a:r>
            <a:r>
              <a:rPr lang="zh-TW" altLang="en-US" sz="1600" dirty="0">
                <a:solidFill>
                  <a:srgbClr val="FFFFFF"/>
                </a:solidFill>
              </a:rPr>
              <a:t>行銷部辦公區。桌上散落著週一盛大發表會的企劃書，螢幕上的產品宣傳圖全部被駭客加上了厚重的條紋雜訊與惡意色偏。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boss "</a:t>
            </a:r>
            <a:r>
              <a:rPr lang="zh-TW" altLang="en-US" sz="1600" dirty="0">
                <a:solidFill>
                  <a:srgbClr val="FFFFFF"/>
                </a:solidFill>
              </a:rPr>
              <a:t>完蛋了，幾百張 </a:t>
            </a:r>
            <a:r>
              <a:rPr lang="en-US" altLang="zh-TW" sz="1600" dirty="0">
                <a:solidFill>
                  <a:srgbClr val="FFFFFF"/>
                </a:solidFill>
              </a:rPr>
              <a:t>KOL </a:t>
            </a:r>
            <a:r>
              <a:rPr lang="zh-TW" altLang="en-US" sz="1600" dirty="0">
                <a:solidFill>
                  <a:srgbClr val="FFFFFF"/>
                </a:solidFill>
              </a:rPr>
              <a:t>合作素材和產品圖全毀了！</a:t>
            </a:r>
            <a:r>
              <a:rPr lang="en-US" altLang="zh-TW" sz="1600" dirty="0">
                <a:solidFill>
                  <a:srgbClr val="FFFFFF"/>
                </a:solidFill>
              </a:rPr>
              <a:t>AI </a:t>
            </a:r>
            <a:r>
              <a:rPr lang="zh-TW" altLang="en-US" sz="1600" dirty="0">
                <a:solidFill>
                  <a:srgbClr val="FFFFFF"/>
                </a:solidFill>
              </a:rPr>
              <a:t>現在只在螢幕上吐出三個字：</a:t>
            </a:r>
            <a:r>
              <a:rPr lang="en-US" altLang="zh-TW" sz="1600" dirty="0">
                <a:solidFill>
                  <a:srgbClr val="FFFFFF"/>
                </a:solidFill>
              </a:rPr>
              <a:t>『OpenCV』</a:t>
            </a:r>
            <a:r>
              <a:rPr lang="zh-TW" altLang="en-US" sz="1600" dirty="0">
                <a:solidFill>
                  <a:srgbClr val="FFFFFF"/>
                </a:solidFill>
              </a:rPr>
              <a:t>，然後就完全死機了！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p "</a:t>
            </a:r>
            <a:r>
              <a:rPr lang="zh-TW" altLang="en-US" sz="1600" dirty="0">
                <a:solidFill>
                  <a:srgbClr val="FFFFFF"/>
                </a:solidFill>
              </a:rPr>
              <a:t>沒時間指望 </a:t>
            </a:r>
            <a:r>
              <a:rPr lang="en-US" altLang="zh-TW" sz="1600" dirty="0">
                <a:solidFill>
                  <a:srgbClr val="FFFFFF"/>
                </a:solidFill>
              </a:rPr>
              <a:t>AI </a:t>
            </a:r>
            <a:r>
              <a:rPr lang="zh-TW" altLang="en-US" sz="1600" dirty="0">
                <a:solidFill>
                  <a:srgbClr val="FFFFFF"/>
                </a:solidFill>
              </a:rPr>
              <a:t>了。只能我自己引用 </a:t>
            </a:r>
            <a:r>
              <a:rPr lang="en-US" altLang="zh-TW" sz="1600" dirty="0">
                <a:solidFill>
                  <a:srgbClr val="FFFFFF"/>
                </a:solidFill>
              </a:rPr>
              <a:t>cv2 </a:t>
            </a:r>
            <a:r>
              <a:rPr lang="zh-TW" altLang="en-US" sz="1600" dirty="0">
                <a:solidFill>
                  <a:srgbClr val="FFFFFF"/>
                </a:solidFill>
              </a:rPr>
              <a:t>函式庫來寫自動化批次修復腳本了。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畫面上是一片空白的編輯器，你必須憑藉自己的實力，選擇正確的 </a:t>
            </a:r>
            <a:r>
              <a:rPr lang="en-US" altLang="zh-TW" sz="1600" dirty="0">
                <a:solidFill>
                  <a:srgbClr val="FFFFFF"/>
                </a:solidFill>
              </a:rPr>
              <a:t>OpenCV </a:t>
            </a:r>
            <a:r>
              <a:rPr lang="zh-TW" altLang="en-US" sz="1600" dirty="0">
                <a:solidFill>
                  <a:srgbClr val="FFFFFF"/>
                </a:solidFill>
              </a:rPr>
              <a:t>自動化修復邏輯。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"【</a:t>
            </a:r>
            <a:r>
              <a:rPr lang="zh-TW" altLang="en-US" sz="1600" dirty="0">
                <a:solidFill>
                  <a:srgbClr val="FFFFFF"/>
                </a:solidFill>
              </a:rPr>
              <a:t>評測重點：處理效率與品質。幾百張圖必須在數秒內批次完成去雜訊與色彩修正。</a:t>
            </a:r>
            <a:r>
              <a:rPr lang="en-US" altLang="zh-TW" sz="1600" dirty="0">
                <a:solidFill>
                  <a:srgbClr val="FFFFFF"/>
                </a:solidFill>
              </a:rPr>
              <a:t>】"</a:t>
            </a:r>
          </a:p>
        </p:txBody>
      </p:sp>
    </p:spTree>
    <p:extLst>
      <p:ext uri="{BB962C8B-B14F-4D97-AF65-F5344CB8AC3E}">
        <p14:creationId xmlns:p14="http://schemas.microsoft.com/office/powerpoint/2010/main" val="63924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128F5-D7B3-467C-A741-E8CCA4362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42FDF6F1-D871-95C0-351D-A3753D81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4-1</a:t>
            </a:r>
            <a:r>
              <a:rPr lang="zh-TW" altLang="en-US" dirty="0">
                <a:latin typeface="+mn-ea"/>
              </a:rPr>
              <a:t>圖片處理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72A2987-0516-1C08-3547-39A30653C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05BF035-7F78-7AE5-886E-61BAAADAA10A}"/>
              </a:ext>
            </a:extLst>
          </p:cNvPr>
          <p:cNvSpPr txBox="1"/>
          <p:nvPr/>
        </p:nvSpPr>
        <p:spPr>
          <a:xfrm>
            <a:off x="611560" y="944186"/>
            <a:ext cx="8319511" cy="5262979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ch4_1_menu: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menu:        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獨立撰寫：使用 </a:t>
            </a:r>
            <a:r>
              <a:rPr lang="en-US" altLang="zh-TW" sz="1600" dirty="0">
                <a:solidFill>
                  <a:srgbClr val="FFFFFF"/>
                </a:solidFill>
              </a:rPr>
              <a:t>glob </a:t>
            </a:r>
            <a:r>
              <a:rPr lang="zh-TW" altLang="en-US" sz="1600" dirty="0">
                <a:solidFill>
                  <a:srgbClr val="FFFFFF"/>
                </a:solidFill>
              </a:rPr>
              <a:t>批次讀取圖檔，調用 </a:t>
            </a:r>
            <a:r>
              <a:rPr lang="en-US" altLang="zh-TW" sz="1600" dirty="0">
                <a:solidFill>
                  <a:srgbClr val="FFFFFF"/>
                </a:solidFill>
              </a:rPr>
              <a:t>cv2.fastNlMeansDenoisingColored() </a:t>
            </a:r>
            <a:r>
              <a:rPr lang="zh-TW" altLang="en-US" sz="1600" dirty="0">
                <a:solidFill>
                  <a:srgbClr val="FFFFFF"/>
                </a:solidFill>
              </a:rPr>
              <a:t>去雜訊並修正色彩通道</a:t>
            </a:r>
            <a:r>
              <a:rPr lang="en-US" altLang="zh-TW" sz="1600" dirty="0">
                <a:solidFill>
                  <a:srgbClr val="FFFFFF"/>
                </a:solidFill>
              </a:rPr>
              <a:t>":            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$ score += 10            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aria happy "</a:t>
            </a:r>
            <a:r>
              <a:rPr lang="zh-TW" altLang="en-US" sz="1600" dirty="0">
                <a:solidFill>
                  <a:srgbClr val="FFFFFF"/>
                </a:solidFill>
              </a:rPr>
              <a:t>（系統自動日誌）腳本執行成功！幾百張圖片在 </a:t>
            </a:r>
            <a:r>
              <a:rPr lang="en-US" altLang="zh-TW" sz="1600" dirty="0">
                <a:solidFill>
                  <a:srgbClr val="FFFFFF"/>
                </a:solidFill>
              </a:rPr>
              <a:t>5 </a:t>
            </a:r>
            <a:r>
              <a:rPr lang="zh-TW" altLang="en-US" sz="1600" dirty="0">
                <a:solidFill>
                  <a:srgbClr val="FFFFFF"/>
                </a:solidFill>
              </a:rPr>
              <a:t>秒內完成批次優化，影像清晰度與品質完美恢復！</a:t>
            </a:r>
            <a:r>
              <a:rPr lang="en-US" altLang="zh-TW" sz="1600" dirty="0">
                <a:solidFill>
                  <a:srgbClr val="FFFFFF"/>
                </a:solidFill>
              </a:rPr>
              <a:t>"           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 "【</a:t>
            </a:r>
            <a:r>
              <a:rPr lang="zh-TW" altLang="en-US" sz="1600" dirty="0">
                <a:solidFill>
                  <a:srgbClr val="FFFFFF"/>
                </a:solidFill>
              </a:rPr>
              <a:t>系統提示：處理效率與品質評測優良。成功拯救行銷部的發表會素材！</a:t>
            </a:r>
            <a:r>
              <a:rPr lang="en-US" altLang="zh-TW" sz="1600" dirty="0">
                <a:solidFill>
                  <a:srgbClr val="FFFFFF"/>
                </a:solidFill>
              </a:rPr>
              <a:t>】"            jump chapter4_2   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     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獨立撰寫：使用 </a:t>
            </a:r>
            <a:r>
              <a:rPr lang="en-US" altLang="zh-TW" sz="1600" dirty="0">
                <a:solidFill>
                  <a:srgbClr val="FFFFFF"/>
                </a:solidFill>
              </a:rPr>
              <a:t>for </a:t>
            </a:r>
            <a:r>
              <a:rPr lang="zh-TW" altLang="en-US" sz="1600" dirty="0">
                <a:solidFill>
                  <a:srgbClr val="FFFFFF"/>
                </a:solidFill>
              </a:rPr>
              <a:t>迴圈配合 </a:t>
            </a:r>
            <a:r>
              <a:rPr lang="en-US" altLang="zh-TW" sz="1600" dirty="0" err="1">
                <a:solidFill>
                  <a:srgbClr val="FFFFFF"/>
                </a:solidFill>
              </a:rPr>
              <a:t>time.sleep</a:t>
            </a:r>
            <a:r>
              <a:rPr lang="en-US" altLang="zh-TW" sz="1600" dirty="0">
                <a:solidFill>
                  <a:srgbClr val="FFFFFF"/>
                </a:solidFill>
              </a:rPr>
              <a:t>(1)</a:t>
            </a:r>
            <a:r>
              <a:rPr lang="zh-TW" altLang="en-US" sz="1600" dirty="0">
                <a:solidFill>
                  <a:srgbClr val="FFFFFF"/>
                </a:solidFill>
              </a:rPr>
              <a:t>，一張一張讀取並用手動像素操作 </a:t>
            </a:r>
            <a:r>
              <a:rPr lang="en-US" altLang="zh-TW" sz="1600" dirty="0">
                <a:solidFill>
                  <a:srgbClr val="FFFFFF"/>
                </a:solidFill>
              </a:rPr>
              <a:t>(Nested Loops) </a:t>
            </a:r>
            <a:r>
              <a:rPr lang="zh-TW" altLang="en-US" sz="1600" dirty="0">
                <a:solidFill>
                  <a:srgbClr val="FFFFFF"/>
                </a:solidFill>
              </a:rPr>
              <a:t>修改顏色</a:t>
            </a:r>
            <a:r>
              <a:rPr lang="en-US" altLang="zh-TW" sz="1600" dirty="0">
                <a:solidFill>
                  <a:srgbClr val="FFFFFF"/>
                </a:solidFill>
              </a:rPr>
              <a:t>":            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aria worry "</a:t>
            </a:r>
            <a:r>
              <a:rPr lang="zh-TW" altLang="en-US" sz="1600" dirty="0">
                <a:solidFill>
                  <a:srgbClr val="FFFFFF"/>
                </a:solidFill>
              </a:rPr>
              <a:t>（系統自動日誌）效率過低！對每個像素進行巢狀迴圈處理導致執行時間過長，發表會都要結束了程式還沒跑完！</a:t>
            </a:r>
            <a:r>
              <a:rPr lang="en-US" altLang="zh-TW" sz="1600" dirty="0">
                <a:solidFill>
                  <a:srgbClr val="FFFFFF"/>
                </a:solidFill>
              </a:rPr>
              <a:t>"           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 jump chapter4_1     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   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獨立撰寫：調用 </a:t>
            </a:r>
            <a:r>
              <a:rPr lang="en-US" altLang="zh-TW" sz="1600" dirty="0">
                <a:solidFill>
                  <a:srgbClr val="FFFFFF"/>
                </a:solidFill>
              </a:rPr>
              <a:t>cv2.imshow()</a:t>
            </a:r>
            <a:r>
              <a:rPr lang="zh-TW" altLang="en-US" sz="1600" dirty="0">
                <a:solidFill>
                  <a:srgbClr val="FFFFFF"/>
                </a:solidFill>
              </a:rPr>
              <a:t>，寫一個手動彈出視窗，讓行銷人員用滑鼠點擊一張張修復</a:t>
            </a:r>
            <a:r>
              <a:rPr lang="en-US" altLang="zh-TW" sz="1600" dirty="0">
                <a:solidFill>
                  <a:srgbClr val="FFFFFF"/>
                </a:solidFill>
              </a:rPr>
              <a:t>":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aria error "</a:t>
            </a:r>
            <a:r>
              <a:rPr lang="zh-TW" altLang="en-US" sz="1600" dirty="0">
                <a:solidFill>
                  <a:srgbClr val="FFFFFF"/>
                </a:solidFill>
              </a:rPr>
              <a:t>（系統自動日誌）嚴重缺乏自動化思維！幾百張圖片手動點完，行銷部的員工手都要殘廢了！</a:t>
            </a:r>
            <a:r>
              <a:rPr lang="en-US" altLang="zh-TW" sz="1600" dirty="0">
                <a:solidFill>
                  <a:srgbClr val="FFFFFF"/>
                </a:solidFill>
              </a:rPr>
              <a:t>"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jump chapter4_1</a:t>
            </a:r>
          </a:p>
        </p:txBody>
      </p:sp>
    </p:spTree>
    <p:extLst>
      <p:ext uri="{BB962C8B-B14F-4D97-AF65-F5344CB8AC3E}">
        <p14:creationId xmlns:p14="http://schemas.microsoft.com/office/powerpoint/2010/main" val="3428346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3BEAA-64AE-893A-2D53-6B91CCCC8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6A0B8694-D28E-E44E-885F-286467DE3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4-2</a:t>
            </a:r>
            <a:r>
              <a:rPr lang="zh-TW" altLang="en-US" dirty="0">
                <a:latin typeface="+mn-ea"/>
              </a:rPr>
              <a:t>多媒體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C462488-C867-96C2-FBEB-50AEF8A5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6FA6391-8221-F39C-0CEC-00F8ABE2DB1B}"/>
              </a:ext>
            </a:extLst>
          </p:cNvPr>
          <p:cNvSpPr txBox="1"/>
          <p:nvPr/>
        </p:nvSpPr>
        <p:spPr>
          <a:xfrm>
            <a:off x="643588" y="1556792"/>
            <a:ext cx="8319511" cy="2800767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chapter4_2: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員工休息區。廣播喇叭正傳出駭客留下的刺耳高頻雜訊（</a:t>
            </a:r>
            <a:r>
              <a:rPr lang="en-US" altLang="zh-TW" sz="1600" dirty="0">
                <a:solidFill>
                  <a:srgbClr val="FFFFFF"/>
                </a:solidFill>
              </a:rPr>
              <a:t>Noise</a:t>
            </a:r>
            <a:r>
              <a:rPr lang="zh-TW" altLang="en-US" sz="1600" dirty="0">
                <a:solidFill>
                  <a:srgbClr val="FFFFFF"/>
                </a:solidFill>
              </a:rPr>
              <a:t>），福委會的點歌介面整個死當卡死。</a:t>
            </a:r>
            <a:r>
              <a:rPr lang="en-US" altLang="zh-TW" sz="1600" dirty="0">
                <a:solidFill>
                  <a:srgbClr val="FFFFFF"/>
                </a:solidFill>
              </a:rPr>
              <a:t>"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隔壁桌那位平時自稱</a:t>
            </a:r>
            <a:r>
              <a:rPr lang="en-US" altLang="zh-TW" sz="1600" dirty="0">
                <a:solidFill>
                  <a:srgbClr val="FFFFFF"/>
                </a:solidFill>
              </a:rPr>
              <a:t>『</a:t>
            </a:r>
            <a:r>
              <a:rPr lang="zh-TW" altLang="en-US" sz="1600" dirty="0">
                <a:solidFill>
                  <a:srgbClr val="FFFFFF"/>
                </a:solidFill>
              </a:rPr>
              <a:t>程式大神</a:t>
            </a:r>
            <a:r>
              <a:rPr lang="en-US" altLang="zh-TW" sz="1600" dirty="0">
                <a:solidFill>
                  <a:srgbClr val="FFFFFF"/>
                </a:solidFill>
              </a:rPr>
              <a:t>』</a:t>
            </a:r>
            <a:r>
              <a:rPr lang="zh-TW" altLang="en-US" sz="1600" dirty="0">
                <a:solidFill>
                  <a:srgbClr val="FFFFFF"/>
                </a:solidFill>
              </a:rPr>
              <a:t>的豬隊友同事一臉自信地走過來。</a:t>
            </a:r>
            <a:r>
              <a:rPr lang="en-US" altLang="zh-TW" sz="1600" dirty="0">
                <a:solidFill>
                  <a:srgbClr val="FFFFFF"/>
                </a:solidFill>
              </a:rPr>
              <a:t>"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同事</a:t>
            </a:r>
            <a:r>
              <a:rPr lang="en-US" altLang="zh-TW" sz="1600" dirty="0">
                <a:solidFill>
                  <a:srgbClr val="FFFFFF"/>
                </a:solidFill>
              </a:rPr>
              <a:t>" "</a:t>
            </a:r>
            <a:r>
              <a:rPr lang="zh-TW" altLang="en-US" sz="1600" dirty="0">
                <a:solidFill>
                  <a:srgbClr val="FFFFFF"/>
                </a:solidFill>
              </a:rPr>
              <a:t>嘿！我剛才模仿 </a:t>
            </a:r>
            <a:r>
              <a:rPr lang="en-US" altLang="zh-TW" sz="1600" dirty="0">
                <a:solidFill>
                  <a:srgbClr val="FFFFFF"/>
                </a:solidFill>
              </a:rPr>
              <a:t>AI </a:t>
            </a:r>
            <a:r>
              <a:rPr lang="zh-TW" altLang="en-US" sz="1600" dirty="0">
                <a:solidFill>
                  <a:srgbClr val="FFFFFF"/>
                </a:solidFill>
              </a:rPr>
              <a:t>的寫法，幫辦公室音樂系統寫了一段修正 </a:t>
            </a:r>
            <a:r>
              <a:rPr lang="en-US" altLang="zh-TW" sz="1600" dirty="0">
                <a:solidFill>
                  <a:srgbClr val="FFFFFF"/>
                </a:solidFill>
              </a:rPr>
              <a:t>Code</a:t>
            </a:r>
            <a:r>
              <a:rPr lang="zh-TW" altLang="en-US" sz="1600" dirty="0">
                <a:solidFill>
                  <a:srgbClr val="FFFFFF"/>
                </a:solidFill>
              </a:rPr>
              <a:t>。我打包票沒問題，你直接部署上線吧！</a:t>
            </a:r>
            <a:r>
              <a:rPr lang="en-US" altLang="zh-TW" sz="1600" dirty="0">
                <a:solidFill>
                  <a:srgbClr val="FFFFFF"/>
                </a:solidFill>
              </a:rPr>
              <a:t>"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p "</a:t>
            </a:r>
            <a:r>
              <a:rPr lang="zh-TW" altLang="en-US" sz="1600" dirty="0">
                <a:solidFill>
                  <a:srgbClr val="FFFFFF"/>
                </a:solidFill>
              </a:rPr>
              <a:t>等一下</a:t>
            </a:r>
            <a:r>
              <a:rPr lang="en-US" altLang="zh-TW" sz="1600" dirty="0">
                <a:solidFill>
                  <a:srgbClr val="FFFFFF"/>
                </a:solidFill>
              </a:rPr>
              <a:t>……</a:t>
            </a:r>
            <a:r>
              <a:rPr lang="zh-TW" altLang="en-US" sz="1600" dirty="0">
                <a:solidFill>
                  <a:srgbClr val="FFFFFF"/>
                </a:solidFill>
              </a:rPr>
              <a:t>在這種關鍵時刻，我可不能盲目相信你。我必須先進行同儕審查（</a:t>
            </a:r>
            <a:r>
              <a:rPr lang="en-US" altLang="zh-TW" sz="1600" dirty="0">
                <a:solidFill>
                  <a:srgbClr val="FFFFFF"/>
                </a:solidFill>
              </a:rPr>
              <a:t>Code Review</a:t>
            </a:r>
            <a:r>
              <a:rPr lang="zh-TW" altLang="en-US" sz="1600" dirty="0">
                <a:solidFill>
                  <a:srgbClr val="FFFFFF"/>
                </a:solidFill>
              </a:rPr>
              <a:t>）。</a:t>
            </a:r>
            <a:r>
              <a:rPr lang="en-US" altLang="zh-TW" sz="1600" dirty="0">
                <a:solidFill>
                  <a:srgbClr val="FFFFFF"/>
                </a:solidFill>
              </a:rPr>
              <a:t>"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投影幕上出現了同事寫的、亂七八糟的程式碼。音訊解碼與播放的巨量運算全被他塞在了 </a:t>
            </a:r>
            <a:r>
              <a:rPr lang="en-US" altLang="zh-TW" sz="1600" dirty="0">
                <a:solidFill>
                  <a:srgbClr val="FFFFFF"/>
                </a:solidFill>
              </a:rPr>
              <a:t>GUI </a:t>
            </a:r>
            <a:r>
              <a:rPr lang="zh-TW" altLang="en-US" sz="1600" dirty="0">
                <a:solidFill>
                  <a:srgbClr val="FFFFFF"/>
                </a:solidFill>
              </a:rPr>
              <a:t>的主執行緒（</a:t>
            </a:r>
            <a:r>
              <a:rPr lang="en-US" altLang="zh-TW" sz="1600" dirty="0">
                <a:solidFill>
                  <a:srgbClr val="FFFFFF"/>
                </a:solidFill>
              </a:rPr>
              <a:t>Main Thread</a:t>
            </a:r>
            <a:r>
              <a:rPr lang="zh-TW" altLang="en-US" sz="1600" dirty="0">
                <a:solidFill>
                  <a:srgbClr val="FFFFFF"/>
                </a:solidFill>
              </a:rPr>
              <a:t>）裡。</a:t>
            </a:r>
            <a:r>
              <a:rPr lang="en-US" altLang="zh-TW" sz="1600" dirty="0">
                <a:solidFill>
                  <a:srgbClr val="FFFFFF"/>
                </a:solidFill>
              </a:rPr>
              <a:t>"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"【</a:t>
            </a:r>
            <a:r>
              <a:rPr lang="zh-TW" altLang="en-US" sz="1600" dirty="0">
                <a:solidFill>
                  <a:srgbClr val="FFFFFF"/>
                </a:solidFill>
              </a:rPr>
              <a:t>評測重點：判斷能力。找出為什麼介面會卡頓與功能邏輯上的嚴重漏洞。</a:t>
            </a:r>
            <a:r>
              <a:rPr lang="en-US" altLang="zh-TW" sz="1600" dirty="0">
                <a:solidFill>
                  <a:srgbClr val="FFFFFF"/>
                </a:solidFill>
              </a:rPr>
              <a:t>】"</a:t>
            </a:r>
          </a:p>
        </p:txBody>
      </p:sp>
    </p:spTree>
    <p:extLst>
      <p:ext uri="{BB962C8B-B14F-4D97-AF65-F5344CB8AC3E}">
        <p14:creationId xmlns:p14="http://schemas.microsoft.com/office/powerpoint/2010/main" val="715966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84A60-49D3-698C-BF75-467D24CEC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C2B20D5B-4B48-AEDE-DC36-36601B124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4-2</a:t>
            </a:r>
            <a:r>
              <a:rPr lang="zh-TW" altLang="en-US" dirty="0">
                <a:latin typeface="+mn-ea"/>
              </a:rPr>
              <a:t>多媒體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3BE8994-2883-0CCD-8E3F-3C6BBEC48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0EDCA14-2F94-AE58-B083-F268818880B2}"/>
              </a:ext>
            </a:extLst>
          </p:cNvPr>
          <p:cNvSpPr txBox="1"/>
          <p:nvPr/>
        </p:nvSpPr>
        <p:spPr>
          <a:xfrm>
            <a:off x="611560" y="1124744"/>
            <a:ext cx="8319511" cy="5016758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ch4_2_menu: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menu:        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進行同儕審查：指出他將影音解碼卡在主執行緒，導致介面凍結；應修正為使用多執行緒（</a:t>
            </a:r>
            <a:r>
              <a:rPr lang="en-US" altLang="zh-TW" sz="1600" dirty="0">
                <a:solidFill>
                  <a:srgbClr val="FFFFFF"/>
                </a:solidFill>
              </a:rPr>
              <a:t>Threading</a:t>
            </a:r>
            <a:r>
              <a:rPr lang="zh-TW" altLang="en-US" sz="1600" dirty="0">
                <a:solidFill>
                  <a:srgbClr val="FFFFFF"/>
                </a:solidFill>
              </a:rPr>
              <a:t>）或非同步處理</a:t>
            </a:r>
            <a:r>
              <a:rPr lang="en-US" altLang="zh-TW" sz="1600" dirty="0">
                <a:solidFill>
                  <a:srgbClr val="FFFFFF"/>
                </a:solidFill>
              </a:rPr>
              <a:t>":            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$ score += 10            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aria happy "</a:t>
            </a:r>
            <a:r>
              <a:rPr lang="zh-TW" altLang="en-US" sz="1600" dirty="0">
                <a:solidFill>
                  <a:srgbClr val="FFFFFF"/>
                </a:solidFill>
              </a:rPr>
              <a:t>（系統自動日誌）審查精準！重構程式碼後，音訊解碼移至背景執行，刺耳雜訊消失，介面流暢無比！</a:t>
            </a:r>
            <a:r>
              <a:rPr lang="en-US" altLang="zh-TW" sz="1600" dirty="0">
                <a:solidFill>
                  <a:srgbClr val="FFFFFF"/>
                </a:solidFill>
              </a:rPr>
              <a:t>"            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"【</a:t>
            </a:r>
            <a:r>
              <a:rPr lang="zh-TW" altLang="en-US" sz="1600" dirty="0">
                <a:solidFill>
                  <a:srgbClr val="FFFFFF"/>
                </a:solidFill>
              </a:rPr>
              <a:t>系統提示：程式判斷能力評測達標。成功防範豬隊友的二次災難。</a:t>
            </a:r>
            <a:r>
              <a:rPr lang="en-US" altLang="zh-TW" sz="1600" dirty="0">
                <a:solidFill>
                  <a:srgbClr val="FFFFFF"/>
                </a:solidFill>
              </a:rPr>
              <a:t>】"  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jump chapter4_3        </a:t>
            </a:r>
          </a:p>
          <a:p>
            <a:pPr lvl="2"/>
            <a:endParaRPr lang="en-US" altLang="zh-TW" sz="1600" dirty="0">
              <a:solidFill>
                <a:srgbClr val="FFFFFF"/>
              </a:solidFill>
            </a:endParaRP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信任隊友：覺得大神既然都說沒問題了，不經審查直接將他的 </a:t>
            </a:r>
            <a:r>
              <a:rPr lang="en-US" altLang="zh-TW" sz="1600" dirty="0">
                <a:solidFill>
                  <a:srgbClr val="FFFFFF"/>
                </a:solidFill>
              </a:rPr>
              <a:t>Code </a:t>
            </a:r>
            <a:r>
              <a:rPr lang="zh-TW" altLang="en-US" sz="1600" dirty="0">
                <a:solidFill>
                  <a:srgbClr val="FFFFFF"/>
                </a:solidFill>
              </a:rPr>
              <a:t>部署上線</a:t>
            </a:r>
            <a:r>
              <a:rPr lang="en-US" altLang="zh-TW" sz="1600" dirty="0">
                <a:solidFill>
                  <a:srgbClr val="FFFFFF"/>
                </a:solidFill>
              </a:rPr>
              <a:t>":            aria error "</a:t>
            </a:r>
            <a:r>
              <a:rPr lang="zh-TW" altLang="en-US" sz="1600" dirty="0">
                <a:solidFill>
                  <a:srgbClr val="FFFFFF"/>
                </a:solidFill>
              </a:rPr>
              <a:t>（系統自動日誌）災難部署！喇叭爆發出更大的噪音，整個福利系統伺服器因為主執行緒被卡死而直接燒毀！</a:t>
            </a:r>
            <a:r>
              <a:rPr lang="en-US" altLang="zh-TW" sz="1600" dirty="0">
                <a:solidFill>
                  <a:srgbClr val="FFFFFF"/>
                </a:solidFill>
              </a:rPr>
              <a:t>"           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jump chapter4_2        </a:t>
            </a:r>
          </a:p>
          <a:p>
            <a:pPr lvl="2"/>
            <a:endParaRPr lang="en-US" altLang="zh-TW" sz="1600" dirty="0">
              <a:solidFill>
                <a:srgbClr val="FFFFFF"/>
              </a:solidFill>
            </a:endParaRP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進行同儕審查：認為錯誤是因為他的變數名稱命名得不夠好聽，要求他全部重新命名</a:t>
            </a:r>
            <a:r>
              <a:rPr lang="en-US" altLang="zh-TW" sz="1600" dirty="0">
                <a:solidFill>
                  <a:srgbClr val="FFFFFF"/>
                </a:solidFill>
              </a:rPr>
              <a:t>": 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aria normal "</a:t>
            </a:r>
            <a:r>
              <a:rPr lang="zh-TW" altLang="en-US" sz="1600" dirty="0">
                <a:solidFill>
                  <a:srgbClr val="FFFFFF"/>
                </a:solidFill>
              </a:rPr>
              <a:t>（系統自動日誌）審查流於表面。命名風格與效能卡頓、介面當死毫無關係，你沒有抓到真正的核心漏洞。</a:t>
            </a:r>
            <a:r>
              <a:rPr lang="en-US" altLang="zh-TW" sz="1600" dirty="0">
                <a:solidFill>
                  <a:srgbClr val="FFFFFF"/>
                </a:solidFill>
              </a:rPr>
              <a:t>"            </a:t>
            </a:r>
          </a:p>
          <a:p>
            <a:pPr lvl="2"/>
            <a:r>
              <a:rPr lang="en-US" altLang="zh-TW" sz="1600" dirty="0">
                <a:solidFill>
                  <a:srgbClr val="FFFFFF"/>
                </a:solidFill>
              </a:rPr>
              <a:t>jump chapter4_2</a:t>
            </a:r>
          </a:p>
        </p:txBody>
      </p:sp>
    </p:spTree>
    <p:extLst>
      <p:ext uri="{BB962C8B-B14F-4D97-AF65-F5344CB8AC3E}">
        <p14:creationId xmlns:p14="http://schemas.microsoft.com/office/powerpoint/2010/main" val="2257573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3BEE0-0262-A26C-72DD-CC695532B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324BFC41-1EE0-4122-8AE9-575CEB855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4-3</a:t>
            </a:r>
            <a:r>
              <a:rPr lang="zh-TW" altLang="en-US" dirty="0">
                <a:latin typeface="+mn-ea"/>
              </a:rPr>
              <a:t>語音應用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334A7FD-C05C-AD04-2803-1EA6A8E49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EEA5FF4-0E4B-3F89-2CB0-618EF54374D1}"/>
              </a:ext>
            </a:extLst>
          </p:cNvPr>
          <p:cNvSpPr txBox="1"/>
          <p:nvPr/>
        </p:nvSpPr>
        <p:spPr>
          <a:xfrm>
            <a:off x="611560" y="1196752"/>
            <a:ext cx="8319511" cy="2800767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label chapter4_3: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終於來到了最深處的總機房大門前。然而大門被厚重的電子鎖鎖死，畫面上顯示出駭客最後的嘲諷字條。</a:t>
            </a:r>
            <a:r>
              <a:rPr lang="en-US" altLang="zh-TW" sz="1600" dirty="0">
                <a:solidFill>
                  <a:srgbClr val="FFFFFF"/>
                </a:solidFill>
              </a:rPr>
              <a:t>"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字條</a:t>
            </a:r>
            <a:r>
              <a:rPr lang="en-US" altLang="zh-TW" sz="1600" dirty="0">
                <a:solidFill>
                  <a:srgbClr val="FFFFFF"/>
                </a:solidFill>
              </a:rPr>
              <a:t>" 『</a:t>
            </a:r>
            <a:r>
              <a:rPr lang="zh-TW" altLang="en-US" sz="1600" dirty="0">
                <a:solidFill>
                  <a:srgbClr val="FFFFFF"/>
                </a:solidFill>
              </a:rPr>
              <a:t>想要重啟系統？密碼隱藏在底層的加密文字檔中。但本大門只接受語音聲學頻率解鎖，你們的語音模組已經被我報廢了，慢慢猜吧！</a:t>
            </a:r>
            <a:r>
              <a:rPr lang="en-US" altLang="zh-TW" sz="1600" dirty="0">
                <a:solidFill>
                  <a:srgbClr val="FFFFFF"/>
                </a:solidFill>
              </a:rPr>
              <a:t>』    boss "</a:t>
            </a:r>
            <a:r>
              <a:rPr lang="zh-TW" altLang="en-US" sz="1600" dirty="0">
                <a:solidFill>
                  <a:srgbClr val="FFFFFF"/>
                </a:solidFill>
              </a:rPr>
              <a:t>客服部的無障礙語音導覽與自動回覆系統完全故障了！如果沒辦法用語音把密碼</a:t>
            </a:r>
            <a:r>
              <a:rPr lang="en-US" altLang="zh-TW" sz="1600" dirty="0">
                <a:solidFill>
                  <a:srgbClr val="FFFFFF"/>
                </a:solidFill>
              </a:rPr>
              <a:t>『</a:t>
            </a:r>
            <a:r>
              <a:rPr lang="zh-TW" altLang="en-US" sz="1600" dirty="0">
                <a:solidFill>
                  <a:srgbClr val="FFFFFF"/>
                </a:solidFill>
              </a:rPr>
              <a:t>讀出來</a:t>
            </a:r>
            <a:r>
              <a:rPr lang="en-US" altLang="zh-TW" sz="1600" dirty="0">
                <a:solidFill>
                  <a:srgbClr val="FFFFFF"/>
                </a:solidFill>
              </a:rPr>
              <a:t>』</a:t>
            </a:r>
            <a:r>
              <a:rPr lang="zh-TW" altLang="en-US" sz="1600" dirty="0">
                <a:solidFill>
                  <a:srgbClr val="FFFFFF"/>
                </a:solidFill>
              </a:rPr>
              <a:t>，我們就一輩子被關在辦公室裡了！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p "</a:t>
            </a:r>
            <a:r>
              <a:rPr lang="zh-TW" altLang="en-US" sz="1600" dirty="0">
                <a:solidFill>
                  <a:srgbClr val="FFFFFF"/>
                </a:solidFill>
              </a:rPr>
              <a:t>這是最後一關了</a:t>
            </a:r>
            <a:r>
              <a:rPr lang="en-US" altLang="zh-TW" sz="1600" dirty="0">
                <a:solidFill>
                  <a:srgbClr val="FFFFFF"/>
                </a:solidFill>
              </a:rPr>
              <a:t>……AI </a:t>
            </a:r>
            <a:r>
              <a:rPr lang="zh-TW" altLang="en-US" sz="1600" dirty="0">
                <a:solidFill>
                  <a:srgbClr val="FFFFFF"/>
                </a:solidFill>
              </a:rPr>
              <a:t>參與度 </a:t>
            </a:r>
            <a:r>
              <a:rPr lang="en-US" altLang="zh-TW" sz="1600" dirty="0">
                <a:solidFill>
                  <a:srgbClr val="FFFFFF"/>
                </a:solidFill>
              </a:rPr>
              <a:t>0%%</a:t>
            </a:r>
            <a:r>
              <a:rPr lang="zh-TW" altLang="en-US" sz="1600" dirty="0">
                <a:solidFill>
                  <a:srgbClr val="FFFFFF"/>
                </a:solidFill>
              </a:rPr>
              <a:t>。我必須完全主導，當場寫出一個 </a:t>
            </a:r>
            <a:r>
              <a:rPr lang="en-US" altLang="zh-TW" sz="1600" dirty="0">
                <a:solidFill>
                  <a:srgbClr val="FFFFFF"/>
                </a:solidFill>
              </a:rPr>
              <a:t>TTS (Text-to-Speech) </a:t>
            </a:r>
            <a:r>
              <a:rPr lang="zh-TW" altLang="en-US" sz="1600" dirty="0">
                <a:solidFill>
                  <a:srgbClr val="FFFFFF"/>
                </a:solidFill>
              </a:rPr>
              <a:t>語音合成模組！</a:t>
            </a:r>
            <a:r>
              <a:rPr lang="en-US" altLang="zh-TW" sz="1600" dirty="0">
                <a:solidFill>
                  <a:srgbClr val="FFFFFF"/>
                </a:solidFill>
              </a:rPr>
              <a:t>"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"【</a:t>
            </a:r>
            <a:r>
              <a:rPr lang="zh-TW" altLang="en-US" sz="1600" dirty="0">
                <a:solidFill>
                  <a:srgbClr val="FFFFFF"/>
                </a:solidFill>
              </a:rPr>
              <a:t>評測重點：應用能力。必須正確調用 </a:t>
            </a:r>
            <a:r>
              <a:rPr lang="en-US" altLang="zh-TW" sz="1600" dirty="0">
                <a:solidFill>
                  <a:srgbClr val="FFFFFF"/>
                </a:solidFill>
              </a:rPr>
              <a:t>TTS </a:t>
            </a:r>
            <a:r>
              <a:rPr lang="zh-TW" altLang="en-US" sz="1600" dirty="0">
                <a:solidFill>
                  <a:srgbClr val="FFFFFF"/>
                </a:solidFill>
              </a:rPr>
              <a:t>函式庫，將文字密碼轉換為語音輸出，解鎖大門。</a:t>
            </a:r>
            <a:r>
              <a:rPr lang="en-US" altLang="zh-TW" sz="1600" dirty="0">
                <a:solidFill>
                  <a:srgbClr val="FFFFFF"/>
                </a:solidFill>
              </a:rPr>
              <a:t>】"</a:t>
            </a:r>
          </a:p>
        </p:txBody>
      </p:sp>
    </p:spTree>
    <p:extLst>
      <p:ext uri="{BB962C8B-B14F-4D97-AF65-F5344CB8AC3E}">
        <p14:creationId xmlns:p14="http://schemas.microsoft.com/office/powerpoint/2010/main" val="2817955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DF40D-8718-4495-7427-772CE5651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E4DD096D-19FB-D015-0B16-AD8F83FC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4-3</a:t>
            </a:r>
            <a:r>
              <a:rPr lang="zh-TW" altLang="en-US" dirty="0">
                <a:latin typeface="+mn-ea"/>
              </a:rPr>
              <a:t>語音應用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E7EF6DA-C8AE-5B4D-6D50-4DA22DB3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BA2F735-71D6-3C57-C39C-46984D838A7E}"/>
              </a:ext>
            </a:extLst>
          </p:cNvPr>
          <p:cNvSpPr txBox="1"/>
          <p:nvPr/>
        </p:nvSpPr>
        <p:spPr>
          <a:xfrm>
            <a:off x="611560" y="1628800"/>
            <a:ext cx="8319511" cy="4524315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 label ch4_3_menu:    menu:    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獨立應用：調用 </a:t>
            </a:r>
            <a:r>
              <a:rPr lang="en-US" altLang="zh-TW" sz="1600" dirty="0" err="1">
                <a:solidFill>
                  <a:srgbClr val="FFFFFF"/>
                </a:solidFill>
              </a:rPr>
              <a:t>gTTS</a:t>
            </a:r>
            <a:r>
              <a:rPr lang="en-US" altLang="zh-TW" sz="1600" dirty="0">
                <a:solidFill>
                  <a:srgbClr val="FFFFFF"/>
                </a:solidFill>
              </a:rPr>
              <a:t> (</a:t>
            </a:r>
            <a:r>
              <a:rPr lang="zh-TW" altLang="en-US" sz="1600" dirty="0">
                <a:solidFill>
                  <a:srgbClr val="FFFFFF"/>
                </a:solidFill>
              </a:rPr>
              <a:t>或 </a:t>
            </a:r>
            <a:r>
              <a:rPr lang="en-US" altLang="zh-TW" sz="1600" dirty="0">
                <a:solidFill>
                  <a:srgbClr val="FFFFFF"/>
                </a:solidFill>
              </a:rPr>
              <a:t>pyttsx3) </a:t>
            </a:r>
            <a:r>
              <a:rPr lang="zh-TW" altLang="en-US" sz="1600" dirty="0">
                <a:solidFill>
                  <a:srgbClr val="FFFFFF"/>
                </a:solidFill>
              </a:rPr>
              <a:t>讀取文字檔，生成語音檔案並用 </a:t>
            </a:r>
            <a:r>
              <a:rPr lang="en-US" altLang="zh-TW" sz="1600" dirty="0" err="1">
                <a:solidFill>
                  <a:srgbClr val="FFFFFF"/>
                </a:solidFill>
              </a:rPr>
              <a:t>os.system</a:t>
            </a:r>
            <a:r>
              <a:rPr lang="en-US" altLang="zh-TW" sz="1600" dirty="0">
                <a:solidFill>
                  <a:srgbClr val="FFFFFF"/>
                </a:solidFill>
              </a:rPr>
              <a:t> </a:t>
            </a:r>
            <a:r>
              <a:rPr lang="zh-TW" altLang="en-US" sz="1600" dirty="0">
                <a:solidFill>
                  <a:srgbClr val="FFFFFF"/>
                </a:solidFill>
              </a:rPr>
              <a:t>撥放音訊</a:t>
            </a:r>
            <a:r>
              <a:rPr lang="en-US" altLang="zh-TW" sz="1600" dirty="0">
                <a:solidFill>
                  <a:srgbClr val="FFFFFF"/>
                </a:solidFill>
              </a:rPr>
              <a:t>":        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$ score += 10        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"【</a:t>
            </a:r>
            <a:r>
              <a:rPr lang="zh-TW" altLang="en-US" sz="1600" dirty="0">
                <a:solidFill>
                  <a:srgbClr val="FFFFFF"/>
                </a:solidFill>
              </a:rPr>
              <a:t>系統提示：密碼文字成功轉換為清晰的語音輸出：</a:t>
            </a:r>
            <a:r>
              <a:rPr lang="en-US" altLang="zh-TW" sz="1600" dirty="0">
                <a:solidFill>
                  <a:srgbClr val="FFFFFF"/>
                </a:solidFill>
              </a:rPr>
              <a:t>'NEXUS_RESET_2026'】"        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機房大門偵測到正確的語音頻率，發出機械解鎖聲，轟然開啟！</a:t>
            </a:r>
            <a:r>
              <a:rPr lang="en-US" altLang="zh-TW" sz="1600" dirty="0">
                <a:solidFill>
                  <a:srgbClr val="FFFFFF"/>
                </a:solidFill>
              </a:rPr>
              <a:t>"        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jump chapter4_clear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  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獨立應用：試圖用 </a:t>
            </a:r>
            <a:r>
              <a:rPr lang="en-US" altLang="zh-TW" sz="1600" dirty="0">
                <a:solidFill>
                  <a:srgbClr val="FFFFFF"/>
                </a:solidFill>
              </a:rPr>
              <a:t>print() </a:t>
            </a:r>
            <a:r>
              <a:rPr lang="zh-TW" altLang="en-US" sz="1600" dirty="0">
                <a:solidFill>
                  <a:srgbClr val="FFFFFF"/>
                </a:solidFill>
              </a:rPr>
              <a:t>把密碼直接印在螢幕上，用肉眼看</a:t>
            </a:r>
            <a:r>
              <a:rPr lang="en-US" altLang="zh-TW" sz="1600" dirty="0">
                <a:solidFill>
                  <a:srgbClr val="FFFFFF"/>
                </a:solidFill>
              </a:rPr>
              <a:t>":        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aria error "</a:t>
            </a:r>
            <a:r>
              <a:rPr lang="zh-TW" altLang="en-US" sz="1600" dirty="0">
                <a:solidFill>
                  <a:srgbClr val="FFFFFF"/>
                </a:solidFill>
              </a:rPr>
              <a:t>警告！大門的音學感應器沒有接收到任何聲音。字條說了，電子鎖只接受語音解鎖，光看螢幕是沒用的！</a:t>
            </a:r>
            <a:r>
              <a:rPr lang="en-US" altLang="zh-TW" sz="1600" dirty="0">
                <a:solidFill>
                  <a:srgbClr val="FFFFFF"/>
                </a:solidFill>
              </a:rPr>
              <a:t>"       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jump chapter4_3       </a:t>
            </a:r>
          </a:p>
          <a:p>
            <a:pPr lvl="1"/>
            <a:endParaRPr lang="en-US" altLang="zh-TW" sz="1600" dirty="0">
              <a:solidFill>
                <a:srgbClr val="FFFFFF"/>
              </a:solidFill>
            </a:endParaRP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獨立應用：調用 </a:t>
            </a:r>
            <a:r>
              <a:rPr lang="en-US" altLang="zh-TW" sz="1600" dirty="0">
                <a:solidFill>
                  <a:srgbClr val="FFFFFF"/>
                </a:solidFill>
              </a:rPr>
              <a:t>requests </a:t>
            </a:r>
            <a:r>
              <a:rPr lang="zh-TW" altLang="en-US" sz="1600" dirty="0">
                <a:solidFill>
                  <a:srgbClr val="FFFFFF"/>
                </a:solidFill>
              </a:rPr>
              <a:t>嘗試把文字密碼上傳到外部的線上翻譯網站，希望能大聲朗讀</a:t>
            </a:r>
            <a:r>
              <a:rPr lang="en-US" altLang="zh-TW" sz="1600" dirty="0">
                <a:solidFill>
                  <a:srgbClr val="FFFFFF"/>
                </a:solidFill>
              </a:rPr>
              <a:t>":        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aria worry "</a:t>
            </a:r>
            <a:r>
              <a:rPr lang="zh-TW" altLang="en-US" sz="1600" dirty="0">
                <a:solidFill>
                  <a:srgbClr val="FFFFFF"/>
                </a:solidFill>
              </a:rPr>
              <a:t>連線失敗！現在處於網絡封鎖狀態，根本無法連到外部網站。你必須在本地端使用 </a:t>
            </a:r>
            <a:r>
              <a:rPr lang="en-US" altLang="zh-TW" sz="1600" dirty="0">
                <a:solidFill>
                  <a:srgbClr val="FFFFFF"/>
                </a:solidFill>
              </a:rPr>
              <a:t>Python </a:t>
            </a:r>
            <a:r>
              <a:rPr lang="zh-TW" altLang="en-US" sz="1600" dirty="0">
                <a:solidFill>
                  <a:srgbClr val="FFFFFF"/>
                </a:solidFill>
              </a:rPr>
              <a:t>函式庫完成語音合成！</a:t>
            </a:r>
            <a:r>
              <a:rPr lang="en-US" altLang="zh-TW" sz="1600" dirty="0">
                <a:solidFill>
                  <a:srgbClr val="FFFFFF"/>
                </a:solidFill>
              </a:rPr>
              <a:t>"           </a:t>
            </a:r>
          </a:p>
          <a:p>
            <a:pPr lvl="1"/>
            <a:r>
              <a:rPr lang="en-US" altLang="zh-TW" sz="1600" dirty="0">
                <a:solidFill>
                  <a:srgbClr val="FFFFFF"/>
                </a:solidFill>
              </a:rPr>
              <a:t>jump chapter4_3</a:t>
            </a:r>
          </a:p>
        </p:txBody>
      </p:sp>
    </p:spTree>
    <p:extLst>
      <p:ext uri="{BB962C8B-B14F-4D97-AF65-F5344CB8AC3E}">
        <p14:creationId xmlns:p14="http://schemas.microsoft.com/office/powerpoint/2010/main" val="746252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387D2-1F74-7A23-8F6B-D21673219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8CDDAFFD-17E3-9B9C-F300-E0EF13B8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>
                <a:latin typeface="+mn-ea"/>
              </a:rPr>
              <a:t>RenPy</a:t>
            </a:r>
            <a:r>
              <a:rPr lang="zh-TW" altLang="en-US">
                <a:latin typeface="+mn-ea"/>
              </a:rPr>
              <a:t> </a:t>
            </a:r>
            <a:r>
              <a:rPr lang="en-US" altLang="zh-TW">
                <a:latin typeface="+mn-ea"/>
              </a:rPr>
              <a:t>chapter4 </a:t>
            </a:r>
            <a:r>
              <a:rPr lang="zh-TW" altLang="en-US">
                <a:latin typeface="+mn-ea"/>
              </a:rPr>
              <a:t>結尾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34B769C-37A7-71B1-C9DF-A91B32FD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7BC5579-B4A2-474D-475D-C2D41ACC85E0}"/>
              </a:ext>
            </a:extLst>
          </p:cNvPr>
          <p:cNvSpPr txBox="1"/>
          <p:nvPr/>
        </p:nvSpPr>
        <p:spPr>
          <a:xfrm>
            <a:off x="619582" y="1430938"/>
            <a:ext cx="8319511" cy="5016758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1600" dirty="0">
                <a:solidFill>
                  <a:srgbClr val="FFFFFF"/>
                </a:solidFill>
              </a:rPr>
              <a:t>label chapter4_clear: </a:t>
            </a:r>
          </a:p>
          <a:p>
            <a:pPr lvl="1" algn="just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一陣強大的綠色光芒由機房中心擴散至整棟大樓。所有的螢幕瞬間亮起，恢復成熟悉的辦公室介面。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  <a:p>
            <a:pPr lvl="1" algn="just"/>
            <a:r>
              <a:rPr lang="en-US" altLang="zh-TW" sz="1600" dirty="0">
                <a:solidFill>
                  <a:srgbClr val="FFFFFF"/>
                </a:solidFill>
              </a:rPr>
              <a:t>sys "【</a:t>
            </a:r>
            <a:r>
              <a:rPr lang="zh-TW" altLang="en-US" sz="1600" dirty="0">
                <a:solidFill>
                  <a:srgbClr val="FFFFFF"/>
                </a:solidFill>
              </a:rPr>
              <a:t>系統通告</a:t>
            </a:r>
            <a:r>
              <a:rPr lang="en-US" altLang="zh-TW" sz="1600" dirty="0">
                <a:solidFill>
                  <a:srgbClr val="FFFFFF"/>
                </a:solidFill>
              </a:rPr>
              <a:t>】Null-Void </a:t>
            </a:r>
            <a:r>
              <a:rPr lang="zh-TW" altLang="en-US" sz="1600" dirty="0">
                <a:solidFill>
                  <a:srgbClr val="FFFFFF"/>
                </a:solidFill>
              </a:rPr>
              <a:t>病毒已被全數清除。所有業務部門系統重啟完畢，運作良好。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  <a:p>
            <a:pPr lvl="1" algn="just"/>
            <a:r>
              <a:rPr lang="en-US" altLang="zh-TW" sz="1600" dirty="0">
                <a:solidFill>
                  <a:srgbClr val="FFFFFF"/>
                </a:solidFill>
              </a:rPr>
              <a:t>"</a:t>
            </a:r>
            <a:r>
              <a:rPr lang="zh-TW" altLang="en-US" sz="1600" dirty="0">
                <a:solidFill>
                  <a:srgbClr val="FFFFFF"/>
                </a:solidFill>
              </a:rPr>
              <a:t>全息投影閃爍，</a:t>
            </a:r>
            <a:r>
              <a:rPr lang="en-US" altLang="zh-TW" sz="1600" dirty="0">
                <a:solidFill>
                  <a:srgbClr val="FFFFFF"/>
                </a:solidFill>
              </a:rPr>
              <a:t>ARIA </a:t>
            </a:r>
            <a:r>
              <a:rPr lang="zh-TW" altLang="en-US" sz="1600" dirty="0">
                <a:solidFill>
                  <a:srgbClr val="FFFFFF"/>
                </a:solidFill>
              </a:rPr>
              <a:t>的身影重新凝聚，露出了欣慰的笑容。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  <a:p>
            <a:pPr lvl="1" algn="just"/>
            <a:r>
              <a:rPr lang="en-US" altLang="zh-TW" sz="1600" dirty="0">
                <a:solidFill>
                  <a:srgbClr val="FFFFFF"/>
                </a:solidFill>
              </a:rPr>
              <a:t>aria happy "</a:t>
            </a:r>
            <a:r>
              <a:rPr lang="zh-TW" altLang="en-US" sz="1600" dirty="0">
                <a:solidFill>
                  <a:srgbClr val="FFFFFF"/>
                </a:solidFill>
              </a:rPr>
              <a:t>連線全面恢復！工程師，你成功了！在沒有我提供語音與程式碼邏輯的情況下，你竟然獨自完成了多媒體與自動化測試的重建！</a:t>
            </a:r>
            <a:r>
              <a:rPr lang="en-US" altLang="zh-TW" sz="1600" dirty="0">
                <a:solidFill>
                  <a:srgbClr val="FFFFFF"/>
                </a:solidFill>
              </a:rPr>
              <a:t>" </a:t>
            </a:r>
          </a:p>
          <a:p>
            <a:pPr lvl="1" algn="just"/>
            <a:r>
              <a:rPr lang="en-US" altLang="zh-TW" sz="1600" dirty="0">
                <a:solidFill>
                  <a:srgbClr val="FFFFFF"/>
                </a:solidFill>
              </a:rPr>
              <a:t>       </a:t>
            </a:r>
          </a:p>
          <a:p>
            <a:pPr lvl="1" algn="just"/>
            <a:r>
              <a:rPr lang="en-US" altLang="zh-TW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# </a:t>
            </a:r>
            <a:r>
              <a:rPr lang="zh-TW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計算最終成績    </a:t>
            </a:r>
            <a:endParaRPr lang="en-US" altLang="zh-TW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 algn="just"/>
            <a:r>
              <a:rPr lang="en-US" altLang="zh-TW" sz="1600" dirty="0">
                <a:solidFill>
                  <a:srgbClr val="FFFFFF"/>
                </a:solidFill>
              </a:rPr>
              <a:t>if score &gt;= 60:        </a:t>
            </a:r>
          </a:p>
          <a:p>
            <a:pPr lvl="1" algn="just"/>
            <a:r>
              <a:rPr lang="en-US" altLang="zh-TW" sz="1600" dirty="0">
                <a:solidFill>
                  <a:srgbClr val="FFFFFF"/>
                </a:solidFill>
              </a:rPr>
              <a:t>	aria happy "</a:t>
            </a:r>
            <a:r>
              <a:rPr lang="zh-TW" altLang="en-US" sz="1600" dirty="0">
                <a:solidFill>
                  <a:srgbClr val="FFFFFF"/>
                </a:solidFill>
              </a:rPr>
              <a:t>最終結算得分：</a:t>
            </a:r>
            <a:r>
              <a:rPr lang="en-US" altLang="zh-TW" sz="1600" dirty="0">
                <a:solidFill>
                  <a:srgbClr val="FFFFFF"/>
                </a:solidFill>
              </a:rPr>
              <a:t>[score] </a:t>
            </a:r>
            <a:r>
              <a:rPr lang="zh-TW" altLang="en-US" sz="1600" dirty="0">
                <a:solidFill>
                  <a:srgbClr val="FFFFFF"/>
                </a:solidFill>
              </a:rPr>
              <a:t>分！你展現了極高水準的</a:t>
            </a:r>
            <a:r>
              <a:rPr lang="en-US" altLang="zh-TW" sz="1600" dirty="0">
                <a:solidFill>
                  <a:srgbClr val="FFFFFF"/>
                </a:solidFill>
              </a:rPr>
              <a:t>『</a:t>
            </a:r>
            <a:r>
              <a:rPr lang="zh-TW" altLang="en-US" sz="1600" dirty="0">
                <a:solidFill>
                  <a:srgbClr val="FFFFFF"/>
                </a:solidFill>
              </a:rPr>
              <a:t>測試驅動思維</a:t>
            </a:r>
            <a:r>
              <a:rPr lang="en-US" altLang="zh-TW" sz="1600" dirty="0">
                <a:solidFill>
                  <a:srgbClr val="FFFFFF"/>
                </a:solidFill>
              </a:rPr>
              <a:t>』</a:t>
            </a:r>
            <a:r>
              <a:rPr lang="zh-TW" altLang="en-US" sz="1600" dirty="0">
                <a:solidFill>
                  <a:srgbClr val="FFFFFF"/>
                </a:solidFill>
              </a:rPr>
              <a:t>與</a:t>
            </a:r>
            <a:r>
              <a:rPr lang="en-US" altLang="zh-TW" sz="1600" dirty="0">
                <a:solidFill>
                  <a:srgbClr val="FFFFFF"/>
                </a:solidFill>
              </a:rPr>
              <a:t>『</a:t>
            </a:r>
            <a:r>
              <a:rPr lang="zh-TW" altLang="en-US" sz="1600" dirty="0">
                <a:solidFill>
                  <a:srgbClr val="FFFFFF"/>
                </a:solidFill>
              </a:rPr>
              <a:t>獨立應用能力</a:t>
            </a:r>
            <a:r>
              <a:rPr lang="en-US" altLang="zh-TW" sz="1600" dirty="0">
                <a:solidFill>
                  <a:srgbClr val="FFFFFF"/>
                </a:solidFill>
              </a:rPr>
              <a:t>』</a:t>
            </a:r>
            <a:r>
              <a:rPr lang="zh-TW" altLang="en-US" sz="1600" dirty="0">
                <a:solidFill>
                  <a:srgbClr val="FFFFFF"/>
                </a:solidFill>
              </a:rPr>
              <a:t>，你是真正的核心架構師！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  <a:p>
            <a:pPr lvl="1" algn="just"/>
            <a:r>
              <a:rPr lang="en-US" altLang="zh-TW" sz="1600" dirty="0">
                <a:solidFill>
                  <a:srgbClr val="FFFFFF"/>
                </a:solidFill>
              </a:rPr>
              <a:t>else:        </a:t>
            </a:r>
          </a:p>
          <a:p>
            <a:pPr lvl="1" algn="just"/>
            <a:r>
              <a:rPr lang="en-US" altLang="zh-TW" sz="1600" dirty="0">
                <a:solidFill>
                  <a:srgbClr val="FFFFFF"/>
                </a:solidFill>
              </a:rPr>
              <a:t>	aria normal "</a:t>
            </a:r>
            <a:r>
              <a:rPr lang="zh-TW" altLang="en-US" sz="1600" dirty="0">
                <a:solidFill>
                  <a:srgbClr val="FFFFFF"/>
                </a:solidFill>
              </a:rPr>
              <a:t>最終結算得分：</a:t>
            </a:r>
            <a:r>
              <a:rPr lang="en-US" altLang="zh-TW" sz="1600" dirty="0">
                <a:solidFill>
                  <a:srgbClr val="FFFFFF"/>
                </a:solidFill>
              </a:rPr>
              <a:t>[score] </a:t>
            </a:r>
            <a:r>
              <a:rPr lang="zh-TW" altLang="en-US" sz="1600" dirty="0">
                <a:solidFill>
                  <a:srgbClr val="FFFFFF"/>
                </a:solidFill>
              </a:rPr>
              <a:t>分。雖然過程有些驚險，但你成功讓全公司在星期一順利開工了！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  <a:p>
            <a:pPr lvl="1" algn="just"/>
            <a:r>
              <a:rPr lang="en-US" altLang="zh-TW" sz="1600" dirty="0">
                <a:solidFill>
                  <a:srgbClr val="FFFFFF"/>
                </a:solidFill>
              </a:rPr>
              <a:t>boss "</a:t>
            </a:r>
            <a:r>
              <a:rPr lang="zh-TW" altLang="en-US" sz="1600" dirty="0">
                <a:solidFill>
                  <a:srgbClr val="FFFFFF"/>
                </a:solidFill>
              </a:rPr>
              <a:t>太感謝你了！明天的週一例會，我會正式宣布晉升你為我們的首席資訊長（</a:t>
            </a:r>
            <a:r>
              <a:rPr lang="en-US" altLang="zh-TW" sz="1600" dirty="0">
                <a:solidFill>
                  <a:srgbClr val="FFFFFF"/>
                </a:solidFill>
              </a:rPr>
              <a:t>CIO</a:t>
            </a:r>
            <a:r>
              <a:rPr lang="zh-TW" altLang="en-US" sz="1600" dirty="0">
                <a:solidFill>
                  <a:srgbClr val="FFFFFF"/>
                </a:solidFill>
              </a:rPr>
              <a:t>）！現在，給自己開一罐慶祝的啤酒吧！</a:t>
            </a:r>
            <a:r>
              <a:rPr lang="en-US" altLang="zh-TW" sz="1600" dirty="0">
                <a:solidFill>
                  <a:srgbClr val="FFFFFF"/>
                </a:solidFill>
              </a:rPr>
              <a:t>"    </a:t>
            </a:r>
          </a:p>
          <a:p>
            <a:pPr lvl="1" algn="just"/>
            <a:r>
              <a:rPr lang="en-US" altLang="zh-TW" sz="1600" dirty="0">
                <a:solidFill>
                  <a:srgbClr val="FFFFFF"/>
                </a:solidFill>
              </a:rPr>
              <a:t>"【</a:t>
            </a:r>
            <a:r>
              <a:rPr lang="zh-TW" altLang="en-US" sz="1600" dirty="0">
                <a:solidFill>
                  <a:srgbClr val="FFFFFF"/>
                </a:solidFill>
              </a:rPr>
              <a:t>辦公室數據密室逃脫</a:t>
            </a:r>
            <a:r>
              <a:rPr lang="en-US" altLang="zh-TW" sz="1600" dirty="0">
                <a:solidFill>
                  <a:srgbClr val="FFFFFF"/>
                </a:solidFill>
              </a:rPr>
              <a:t>——</a:t>
            </a:r>
            <a:r>
              <a:rPr lang="zh-TW" altLang="en-US" sz="1600" dirty="0">
                <a:solidFill>
                  <a:srgbClr val="FFFFFF"/>
                </a:solidFill>
              </a:rPr>
              <a:t>成功！</a:t>
            </a:r>
            <a:r>
              <a:rPr lang="en-US" altLang="zh-TW" sz="1600" dirty="0">
                <a:solidFill>
                  <a:srgbClr val="FFFFFF"/>
                </a:solidFill>
              </a:rPr>
              <a:t>THE END】"   </a:t>
            </a:r>
          </a:p>
          <a:p>
            <a:pPr algn="just"/>
            <a:r>
              <a:rPr lang="en-US" altLang="zh-TW" sz="1600" dirty="0">
                <a:solidFill>
                  <a:srgbClr val="FFFFFF"/>
                </a:solidFill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968583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564904"/>
            <a:ext cx="7772400" cy="1470025"/>
          </a:xfrm>
        </p:spPr>
        <p:txBody>
          <a:bodyPr/>
          <a:lstStyle/>
          <a:p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933819"/>
      </p:ext>
    </p:extLst>
  </p:cSld>
  <p:clrMapOvr>
    <a:masterClrMapping/>
  </p:clrMapOvr>
</p:sld>
</file>

<file path=ppt/theme/theme1.xml><?xml version="1.0" encoding="utf-8"?>
<a:theme xmlns:a="http://schemas.openxmlformats.org/drawingml/2006/main" name="裁剪">
  <a:themeElements>
    <a:clrScheme name="裁剪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裁剪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裁剪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TM10001105[[fn=裁剪]]</Template>
  <TotalTime>7339</TotalTime>
  <Words>3525</Words>
  <Application>Microsoft Office PowerPoint</Application>
  <PresentationFormat>如螢幕大小 (4:3)</PresentationFormat>
  <Paragraphs>266</Paragraphs>
  <Slides>19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2" baseType="lpstr">
      <vt:lpstr>Aptos</vt:lpstr>
      <vt:lpstr>Franklin Gothic Book</vt:lpstr>
      <vt:lpstr>裁剪</vt:lpstr>
      <vt:lpstr>第十四週</vt:lpstr>
      <vt:lpstr>目錄</vt:lpstr>
      <vt:lpstr>RenPy chapter3 (50%)</vt:lpstr>
      <vt:lpstr>RenPy 3-1  Matplotlib</vt:lpstr>
      <vt:lpstr>RenPy 3-1  Matplotlib</vt:lpstr>
      <vt:lpstr>RenPy 3-2影音處理</vt:lpstr>
      <vt:lpstr>RenPy 3-2影音處理</vt:lpstr>
      <vt:lpstr>RenPy 3-3 即時資料</vt:lpstr>
      <vt:lpstr>RenPy 3-3 即時資料</vt:lpstr>
      <vt:lpstr>RenPy chapter3 結尾</vt:lpstr>
      <vt:lpstr>RenPy chapter4 (0%~20%)</vt:lpstr>
      <vt:lpstr>RenPy 4-1圖片處理</vt:lpstr>
      <vt:lpstr>RenPy 4-1圖片處理</vt:lpstr>
      <vt:lpstr>RenPy 4-2多媒體</vt:lpstr>
      <vt:lpstr>RenPy 4-2多媒體</vt:lpstr>
      <vt:lpstr>RenPy 4-3語音應用</vt:lpstr>
      <vt:lpstr>RenPy 4-3語音應用</vt:lpstr>
      <vt:lpstr>RenPy chapter4 結尾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Ren’Py內部語法</dc:title>
  <dc:creator>甘</dc:creator>
  <cp:lastModifiedBy>家耀 張</cp:lastModifiedBy>
  <cp:revision>146</cp:revision>
  <dcterms:created xsi:type="dcterms:W3CDTF">2026-03-01T17:53:11Z</dcterms:created>
  <dcterms:modified xsi:type="dcterms:W3CDTF">2026-05-24T18:01:44Z</dcterms:modified>
</cp:coreProperties>
</file>