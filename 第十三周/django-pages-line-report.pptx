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66" r:id="rId2"/>
    <p:sldId id="308" r:id="rId3"/>
    <p:sldId id="309" r:id="rId4"/>
    <p:sldId id="267" r:id="rId5"/>
    <p:sldId id="256" r:id="rId6"/>
    <p:sldId id="259" r:id="rId7"/>
    <p:sldId id="268" r:id="rId8"/>
    <p:sldId id="269" r:id="rId9"/>
    <p:sldId id="261" r:id="rId10"/>
    <p:sldId id="270" r:id="rId11"/>
    <p:sldId id="271" r:id="rId12"/>
    <p:sldId id="275" r:id="rId13"/>
    <p:sldId id="272" r:id="rId14"/>
    <p:sldId id="274" r:id="rId15"/>
    <p:sldId id="265" r:id="rId16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66" d="100"/>
          <a:sy n="66" d="100"/>
        </p:scale>
        <p:origin x="130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944546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C8F80F-7529-86C4-ACAC-1A55466CA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342B103F-D4AA-6023-CFE3-F380918393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876FE24C-D9AD-086B-B8DF-EA66CFE32E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>
                <a:solidFill>
                  <a:schemeClr val="bg1"/>
                </a:solidFill>
              </a:rPr>
              <a:t>查詢</a:t>
            </a:r>
            <a:r>
              <a:rPr lang="en-US" altLang="zh-TW" dirty="0">
                <a:solidFill>
                  <a:schemeClr val="bg1"/>
                </a:solidFill>
              </a:rPr>
              <a:t>Django</a:t>
            </a:r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原始檔</a:t>
            </a:r>
            <a:endParaRPr lang="en-US" altLang="zh-TW" dirty="0">
              <a:solidFill>
                <a:schemeClr val="bg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>
                <a:solidFill>
                  <a:schemeClr val="bg1"/>
                </a:solidFill>
              </a:rPr>
              <a:t>python -c "import </a:t>
            </a:r>
            <a:r>
              <a:rPr lang="en-US" altLang="zh-TW" dirty="0" err="1">
                <a:solidFill>
                  <a:schemeClr val="bg1"/>
                </a:solidFill>
              </a:rPr>
              <a:t>django</a:t>
            </a:r>
            <a:r>
              <a:rPr lang="en-US" altLang="zh-TW" dirty="0">
                <a:solidFill>
                  <a:schemeClr val="bg1"/>
                </a:solidFill>
              </a:rPr>
              <a:t>; print(</a:t>
            </a:r>
            <a:r>
              <a:rPr lang="en-US" altLang="zh-TW" dirty="0" err="1">
                <a:solidFill>
                  <a:schemeClr val="bg1"/>
                </a:solidFill>
              </a:rPr>
              <a:t>django</a:t>
            </a:r>
            <a:r>
              <a:rPr lang="en-US" altLang="zh-TW" dirty="0">
                <a:solidFill>
                  <a:schemeClr val="bg1"/>
                </a:solidFill>
              </a:rPr>
              <a:t>.__path__)"</a:t>
            </a:r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CA9F38E-D4DA-2377-B3CD-060C8CA997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DC839D-53C0-477E-9499-3CBD2E08551A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307784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A91087-73CF-D879-0D6A-32C823593C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25A9430A-9DF5-6F29-62C2-9EDEF1F955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F6CFABCE-47BD-A955-0AB1-89D1C4DDC3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>
                <a:solidFill>
                  <a:schemeClr val="bg1"/>
                </a:solidFill>
              </a:rPr>
              <a:t>查詢</a:t>
            </a:r>
            <a:r>
              <a:rPr lang="en-US" altLang="zh-TW" dirty="0">
                <a:solidFill>
                  <a:schemeClr val="bg1"/>
                </a:solidFill>
              </a:rPr>
              <a:t>Django</a:t>
            </a:r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原始檔</a:t>
            </a:r>
            <a:endParaRPr lang="en-US" altLang="zh-TW" dirty="0">
              <a:solidFill>
                <a:schemeClr val="bg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>
                <a:solidFill>
                  <a:schemeClr val="bg1"/>
                </a:solidFill>
              </a:rPr>
              <a:t>python -c "import </a:t>
            </a:r>
            <a:r>
              <a:rPr lang="en-US" altLang="zh-TW" dirty="0" err="1">
                <a:solidFill>
                  <a:schemeClr val="bg1"/>
                </a:solidFill>
              </a:rPr>
              <a:t>django</a:t>
            </a:r>
            <a:r>
              <a:rPr lang="en-US" altLang="zh-TW" dirty="0">
                <a:solidFill>
                  <a:schemeClr val="bg1"/>
                </a:solidFill>
              </a:rPr>
              <a:t>; print(</a:t>
            </a:r>
            <a:r>
              <a:rPr lang="en-US" altLang="zh-TW" dirty="0" err="1">
                <a:solidFill>
                  <a:schemeClr val="bg1"/>
                </a:solidFill>
              </a:rPr>
              <a:t>django</a:t>
            </a:r>
            <a:r>
              <a:rPr lang="en-US" altLang="zh-TW" dirty="0">
                <a:solidFill>
                  <a:schemeClr val="bg1"/>
                </a:solidFill>
              </a:rPr>
              <a:t>.__path__)"</a:t>
            </a:r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EFED068-4B78-DBFC-2719-8D7F6A008A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DC839D-53C0-477E-9499-3CBD2E08551A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96558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600973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385995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827926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617112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973669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2384405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7069755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3216193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A1866-9651-4908-B57D-19F66F0CB226}" type="datetime1">
              <a:rPr lang="zh-TW" altLang="en-US" smtClean="0"/>
              <a:t>2026/5/18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829992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圖片 28">
            <a:extLst>
              <a:ext uri="{FF2B5EF4-FFF2-40B4-BE49-F238E27FC236}">
                <a16:creationId xmlns:a16="http://schemas.microsoft.com/office/drawing/2014/main" id="{6BF18FCC-4ED6-FDC7-FD4E-5C27CCC4394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979534"/>
          </a:xfrm>
          <a:prstGeom prst="rect">
            <a:avLst/>
          </a:prstGeom>
        </p:spPr>
      </p:pic>
      <p:sp>
        <p:nvSpPr>
          <p:cNvPr id="2" name="kicker-marker">
            <a:extLst>
              <a:ext uri="{FF2B5EF4-FFF2-40B4-BE49-F238E27FC236}">
                <a16:creationId xmlns:a16="http://schemas.microsoft.com/office/drawing/2014/main" id="{C8FB1871-DB17-4908-9F7C-12581D4A2ED6}"/>
              </a:ext>
            </a:extLst>
          </p:cNvPr>
          <p:cNvSpPr>
            <a:spLocks noGrp="1"/>
          </p:cNvSpPr>
          <p:nvPr/>
        </p:nvSpPr>
        <p:spPr>
          <a:xfrm>
            <a:off x="419100" y="419100"/>
            <a:ext cx="95250" cy="209550"/>
          </a:xfrm>
          <a:prstGeom prst="rect">
            <a:avLst/>
          </a:prstGeom>
          <a:solidFill>
            <a:srgbClr val="C47F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94E2175-0FB0-4B85-BCF1-630445D018CB}"/>
              </a:ext>
            </a:extLst>
          </p:cNvPr>
          <p:cNvSpPr>
            <a:spLocks noGrp="1"/>
          </p:cNvSpPr>
          <p:nvPr/>
        </p:nvSpPr>
        <p:spPr>
          <a:xfrm>
            <a:off x="3876432" y="1568767"/>
            <a:ext cx="4439132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72033"/>
                </a:solidFill>
                <a:latin typeface="Georgia"/>
                <a:ea typeface="Georgia"/>
                <a:cs typeface="Georgia"/>
              </a:defRPr>
            </a:pPr>
            <a:r>
              <a:rPr lang="zh-TW" altLang="en-US" sz="5400" b="1" dirty="0">
                <a:solidFill>
                  <a:schemeClr val="bg1"/>
                </a:solidFill>
                <a:latin typeface="Georgia"/>
                <a:ea typeface="Georgia"/>
                <a:cs typeface="Georgia"/>
              </a:rPr>
              <a:t>第十三週報告</a:t>
            </a:r>
            <a:endParaRPr sz="5400" b="1" dirty="0">
              <a:solidFill>
                <a:schemeClr val="bg1"/>
              </a:solidFill>
              <a:latin typeface="Georgia"/>
              <a:ea typeface="Georgia"/>
              <a:cs typeface="Georgi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D8F48CF-1A2E-4673-B8A5-DE1D3819EA56}"/>
              </a:ext>
            </a:extLst>
          </p:cNvPr>
          <p:cNvSpPr>
            <a:spLocks noGrp="1"/>
          </p:cNvSpPr>
          <p:nvPr/>
        </p:nvSpPr>
        <p:spPr>
          <a:xfrm>
            <a:off x="4197028" y="2714769"/>
            <a:ext cx="3207393" cy="33296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lang="en-US" altLang="zh-TW" sz="1275" b="0" dirty="0" err="1">
                <a:solidFill>
                  <a:schemeClr val="bg1"/>
                </a:solidFill>
                <a:latin typeface="Aptos"/>
                <a:ea typeface="Aptos"/>
                <a:cs typeface="Aptos"/>
              </a:rPr>
              <a:t>Renpy</a:t>
            </a:r>
            <a:r>
              <a:rPr lang="zh-TW" altLang="en-US" sz="1275" b="0" dirty="0">
                <a:solidFill>
                  <a:schemeClr val="bg1"/>
                </a:solidFill>
                <a:latin typeface="Aptos"/>
                <a:ea typeface="Aptos"/>
                <a:cs typeface="Aptos"/>
              </a:rPr>
              <a:t>、</a:t>
            </a:r>
            <a:r>
              <a:rPr lang="en-US" altLang="zh-TW" sz="1275" b="0" dirty="0">
                <a:solidFill>
                  <a:schemeClr val="bg1"/>
                </a:solidFill>
                <a:latin typeface="Aptos"/>
                <a:ea typeface="Aptos"/>
                <a:cs typeface="Aptos"/>
              </a:rPr>
              <a:t>Django</a:t>
            </a:r>
            <a:r>
              <a:rPr lang="zh-TW" altLang="en-US" sz="1275" b="0" dirty="0">
                <a:solidFill>
                  <a:schemeClr val="bg1"/>
                </a:solidFill>
                <a:latin typeface="Aptos"/>
                <a:ea typeface="Aptos"/>
                <a:cs typeface="Aptos"/>
              </a:rPr>
              <a:t> </a:t>
            </a:r>
            <a:r>
              <a:rPr lang="en-US" altLang="zh-TW" sz="1275" b="0" dirty="0">
                <a:solidFill>
                  <a:schemeClr val="bg1"/>
                </a:solidFill>
                <a:latin typeface="Aptos"/>
                <a:ea typeface="Aptos"/>
                <a:cs typeface="Aptos"/>
              </a:rPr>
              <a:t>html</a:t>
            </a:r>
            <a:r>
              <a:rPr lang="zh-TW" altLang="en-US" sz="1275" b="0" dirty="0">
                <a:solidFill>
                  <a:schemeClr val="bg1"/>
                </a:solidFill>
                <a:latin typeface="Aptos"/>
                <a:ea typeface="Aptos"/>
                <a:cs typeface="Aptos"/>
              </a:rPr>
              <a:t>、</a:t>
            </a:r>
            <a:r>
              <a:rPr lang="en-US" altLang="zh-TW" sz="1275" b="0" dirty="0" err="1">
                <a:solidFill>
                  <a:schemeClr val="bg1"/>
                </a:solidFill>
                <a:latin typeface="Aptos"/>
                <a:ea typeface="Aptos"/>
                <a:cs typeface="Aptos"/>
              </a:rPr>
              <a:t>page.view</a:t>
            </a:r>
            <a:r>
              <a:rPr lang="zh-TW" altLang="en-US" sz="1275" b="0" dirty="0">
                <a:solidFill>
                  <a:schemeClr val="bg1"/>
                </a:solidFill>
                <a:latin typeface="Aptos"/>
                <a:ea typeface="Aptos"/>
                <a:cs typeface="Aptos"/>
              </a:rPr>
              <a:t>等內容</a:t>
            </a:r>
            <a:endParaRPr sz="1275" b="0" dirty="0">
              <a:solidFill>
                <a:schemeClr val="bg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2D3E486-980C-4AC8-B358-51128A3F6C74}"/>
              </a:ext>
            </a:extLst>
          </p:cNvPr>
          <p:cNvSpPr>
            <a:spLocks noGrp="1"/>
          </p:cNvSpPr>
          <p:nvPr/>
        </p:nvSpPr>
        <p:spPr>
          <a:xfrm>
            <a:off x="10058400" y="457200"/>
            <a:ext cx="152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Django pages report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89537A4-02EA-4C1B-B197-6D4A06CE8885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10382250" cy="12383"/>
          </a:xfrm>
          <a:prstGeom prst="rect">
            <a:avLst/>
          </a:prstGeom>
          <a:solidFill>
            <a:srgbClr val="D8CEC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08D8732-2C72-4427-AE4A-E891D9F1C9A0}"/>
              </a:ext>
            </a:extLst>
          </p:cNvPr>
          <p:cNvSpPr>
            <a:spLocks noGrp="1"/>
          </p:cNvSpPr>
          <p:nvPr/>
        </p:nvSpPr>
        <p:spPr>
          <a:xfrm>
            <a:off x="11106150" y="6200775"/>
            <a:ext cx="514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F6B7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7603948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1067F2-31AF-B9FE-09B2-757161C7BD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71C40B9-5F92-4278-9BE7-960BF817A8D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標題 1">
            <a:extLst>
              <a:ext uri="{FF2B5EF4-FFF2-40B4-BE49-F238E27FC236}">
                <a16:creationId xmlns:a16="http://schemas.microsoft.com/office/drawing/2014/main" id="{3E2044E6-5200-3C27-C8B8-C66AB9A2C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5560" y="260648"/>
            <a:ext cx="7848872" cy="654968"/>
          </a:xfrm>
        </p:spPr>
        <p:txBody>
          <a:bodyPr>
            <a:normAutofit fontScale="90000"/>
          </a:bodyPr>
          <a:lstStyle/>
          <a:p>
            <a:r>
              <a:rPr lang="en-US" altLang="zh-TW" dirty="0" err="1">
                <a:latin typeface="+mn-ea"/>
              </a:rPr>
              <a:t>RenPy</a:t>
            </a:r>
            <a:r>
              <a:rPr lang="zh-TW" altLang="en-US" dirty="0">
                <a:latin typeface="+mn-ea"/>
              </a:rPr>
              <a:t> 關卡設計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EAC772CF-5CE6-FB29-7B87-189425EBD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2</a:t>
            </a:fld>
            <a:endParaRPr lang="zh-TW" alt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13E4EE9A-4471-9FBE-4769-7286B5BA4C49}"/>
              </a:ext>
            </a:extLst>
          </p:cNvPr>
          <p:cNvSpPr txBox="1"/>
          <p:nvPr/>
        </p:nvSpPr>
        <p:spPr>
          <a:xfrm>
            <a:off x="2279576" y="1772816"/>
            <a:ext cx="8316416" cy="1077218"/>
          </a:xfrm>
          <a:prstGeom prst="rect">
            <a:avLst/>
          </a:prstGeom>
          <a:solidFill>
            <a:srgbClr val="292A37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600" dirty="0">
                <a:solidFill>
                  <a:srgbClr val="FFFFFF"/>
                </a:solidFill>
              </a:rPr>
              <a:t>define p = Character("</a:t>
            </a:r>
            <a:r>
              <a:rPr lang="zh-TW" altLang="en-US" sz="1600" dirty="0">
                <a:solidFill>
                  <a:srgbClr val="FFFFFF"/>
                </a:solidFill>
              </a:rPr>
              <a:t>你</a:t>
            </a:r>
            <a:r>
              <a:rPr lang="en-US" altLang="zh-TW" sz="1600" dirty="0">
                <a:solidFill>
                  <a:srgbClr val="FFFFFF"/>
                </a:solidFill>
              </a:rPr>
              <a:t>", color="#00FFCC")           # </a:t>
            </a:r>
            <a:r>
              <a:rPr lang="zh-TW" altLang="en-US" sz="1600" dirty="0">
                <a:solidFill>
                  <a:srgbClr val="FFFFFF"/>
                </a:solidFill>
              </a:rPr>
              <a:t>玩家（工程師）</a:t>
            </a:r>
          </a:p>
          <a:p>
            <a:r>
              <a:rPr lang="en-US" altLang="zh-TW" sz="1600" dirty="0">
                <a:solidFill>
                  <a:srgbClr val="FFFFFF"/>
                </a:solidFill>
              </a:rPr>
              <a:t>define aria = Character("ARIA", color="#FF9FE5")       # AI </a:t>
            </a:r>
            <a:r>
              <a:rPr lang="zh-TW" altLang="en-US" sz="1600" dirty="0">
                <a:solidFill>
                  <a:srgbClr val="FFFFFF"/>
                </a:solidFill>
              </a:rPr>
              <a:t>助手（鷹架式引導）</a:t>
            </a:r>
          </a:p>
          <a:p>
            <a:r>
              <a:rPr lang="en-US" altLang="zh-TW" sz="1600" dirty="0">
                <a:solidFill>
                  <a:srgbClr val="FFFFFF"/>
                </a:solidFill>
              </a:rPr>
              <a:t>define sys = Character("NEXUS-9", color="#FF4444")     # </a:t>
            </a:r>
            <a:r>
              <a:rPr lang="zh-TW" altLang="en-US" sz="1600" dirty="0">
                <a:solidFill>
                  <a:srgbClr val="FFFFFF"/>
                </a:solidFill>
              </a:rPr>
              <a:t>系統警報音</a:t>
            </a:r>
          </a:p>
          <a:p>
            <a:r>
              <a:rPr lang="en-US" altLang="zh-TW" sz="1600" dirty="0">
                <a:solidFill>
                  <a:srgbClr val="FFFFFF"/>
                </a:solidFill>
              </a:rPr>
              <a:t>define boss = Character("</a:t>
            </a:r>
            <a:r>
              <a:rPr lang="zh-TW" altLang="en-US" sz="1600" dirty="0">
                <a:solidFill>
                  <a:srgbClr val="FFFFFF"/>
                </a:solidFill>
              </a:rPr>
              <a:t>老闆</a:t>
            </a:r>
            <a:r>
              <a:rPr lang="en-US" altLang="zh-TW" sz="1600" dirty="0">
                <a:solidFill>
                  <a:srgbClr val="FFFFFF"/>
                </a:solidFill>
              </a:rPr>
              <a:t>", color="#FFD700")     # </a:t>
            </a:r>
            <a:r>
              <a:rPr lang="zh-TW" altLang="en-US" sz="1600" dirty="0">
                <a:solidFill>
                  <a:srgbClr val="FFFFFF"/>
                </a:solidFill>
              </a:rPr>
              <a:t>遠端連線的上司</a:t>
            </a: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74E73510-9B6B-2606-3732-FC8D62C4D43C}"/>
              </a:ext>
            </a:extLst>
          </p:cNvPr>
          <p:cNvSpPr txBox="1">
            <a:spLocks/>
          </p:cNvSpPr>
          <p:nvPr/>
        </p:nvSpPr>
        <p:spPr>
          <a:xfrm>
            <a:off x="2351584" y="856511"/>
            <a:ext cx="8532440" cy="42515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84048" indent="-384048" algn="l" defTabSz="6858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6858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6858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6858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6858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6858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6858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6858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6858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28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角色造型設計</a:t>
            </a:r>
            <a:endParaRPr lang="en-US" altLang="zh-TW" sz="280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F4CF51F5-B68F-0FCD-8D4D-A53FE3A3AE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9576" y="3003506"/>
            <a:ext cx="3580982" cy="3803865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8686D237-8927-2F63-26A5-502B6EE575D1}"/>
              </a:ext>
            </a:extLst>
          </p:cNvPr>
          <p:cNvSpPr txBox="1"/>
          <p:nvPr/>
        </p:nvSpPr>
        <p:spPr>
          <a:xfrm>
            <a:off x="2229002" y="1249987"/>
            <a:ext cx="83529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以下是對</a:t>
            </a:r>
            <a:r>
              <a:rPr lang="en-US" altLang="zh-TW" dirty="0"/>
              <a:t>aria, nexus-9, </a:t>
            </a:r>
            <a:r>
              <a:rPr lang="zh-TW" altLang="en-US" dirty="0"/>
              <a:t>老闆的造型設計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ED7AA6BF-57C8-6774-AAC2-A21DF92B7C7E}"/>
              </a:ext>
            </a:extLst>
          </p:cNvPr>
          <p:cNvSpPr txBox="1"/>
          <p:nvPr/>
        </p:nvSpPr>
        <p:spPr>
          <a:xfrm>
            <a:off x="5951984" y="3064664"/>
            <a:ext cx="45365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Aria</a:t>
            </a:r>
            <a:r>
              <a:rPr lang="zh-TW" altLang="en-US" dirty="0"/>
              <a:t>會是和玩家互動最多的角色，所以預計會著重讓他有更多的圖讓他更加生動</a:t>
            </a:r>
          </a:p>
        </p:txBody>
      </p:sp>
    </p:spTree>
    <p:extLst>
      <p:ext uri="{BB962C8B-B14F-4D97-AF65-F5344CB8AC3E}">
        <p14:creationId xmlns:p14="http://schemas.microsoft.com/office/powerpoint/2010/main" val="35012445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D40C76-9C5A-B565-318E-FEDE558B0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5E469B99-C40A-43AE-E5EB-DF305CAE45F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標題 1">
            <a:extLst>
              <a:ext uri="{FF2B5EF4-FFF2-40B4-BE49-F238E27FC236}">
                <a16:creationId xmlns:a16="http://schemas.microsoft.com/office/drawing/2014/main" id="{78B9C0ED-A14E-1C38-18F9-8F3DABD5B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5560" y="260648"/>
            <a:ext cx="7848872" cy="654968"/>
          </a:xfrm>
        </p:spPr>
        <p:txBody>
          <a:bodyPr>
            <a:normAutofit fontScale="90000"/>
          </a:bodyPr>
          <a:lstStyle/>
          <a:p>
            <a:r>
              <a:rPr lang="en-US" altLang="zh-TW" dirty="0" err="1">
                <a:latin typeface="+mn-ea"/>
              </a:rPr>
              <a:t>RenPy</a:t>
            </a:r>
            <a:r>
              <a:rPr lang="en-US" altLang="zh-TW" dirty="0">
                <a:latin typeface="+mn-ea"/>
              </a:rPr>
              <a:t> </a:t>
            </a:r>
            <a:r>
              <a:rPr lang="zh-TW" altLang="en-US" dirty="0">
                <a:latin typeface="+mn-ea"/>
              </a:rPr>
              <a:t>關卡設計</a:t>
            </a:r>
            <a:r>
              <a:rPr lang="en-US" altLang="zh-TW" dirty="0">
                <a:latin typeface="+mn-ea"/>
              </a:rPr>
              <a:t>-</a:t>
            </a:r>
            <a:r>
              <a:rPr lang="en-US" altLang="zh-TW" dirty="0" err="1">
                <a:latin typeface="+mn-ea"/>
              </a:rPr>
              <a:t>script.rpy</a:t>
            </a:r>
            <a:r>
              <a:rPr lang="zh-TW" altLang="en-US" dirty="0">
                <a:latin typeface="+mn-ea"/>
              </a:rPr>
              <a:t>改動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8B290CFF-9453-CAB0-4310-20756F72A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3</a:t>
            </a:fld>
            <a:endParaRPr lang="zh-TW" alt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9870B5AD-00CC-1265-70F4-C4025FD0FF58}"/>
              </a:ext>
            </a:extLst>
          </p:cNvPr>
          <p:cNvSpPr txBox="1"/>
          <p:nvPr/>
        </p:nvSpPr>
        <p:spPr>
          <a:xfrm>
            <a:off x="2151321" y="2986411"/>
            <a:ext cx="8496944" cy="830997"/>
          </a:xfrm>
          <a:prstGeom prst="rect">
            <a:avLst/>
          </a:prstGeom>
          <a:solidFill>
            <a:srgbClr val="292A37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600" dirty="0">
                <a:solidFill>
                  <a:srgbClr val="FFFFFF"/>
                </a:solidFill>
              </a:rPr>
              <a:t>show boss talk:</a:t>
            </a:r>
          </a:p>
          <a:p>
            <a:r>
              <a:rPr lang="en-US" altLang="zh-TW" sz="1600" dirty="0">
                <a:solidFill>
                  <a:srgbClr val="FFFFFF"/>
                </a:solidFill>
              </a:rPr>
              <a:t>	</a:t>
            </a:r>
            <a:r>
              <a:rPr lang="en-US" altLang="zh-TW" sz="1600" dirty="0" err="1">
                <a:solidFill>
                  <a:srgbClr val="FFFFFF"/>
                </a:solidFill>
              </a:rPr>
              <a:t>xalign</a:t>
            </a:r>
            <a:r>
              <a:rPr lang="en-US" altLang="zh-TW" sz="1600" dirty="0">
                <a:solidFill>
                  <a:srgbClr val="FFFFFF"/>
                </a:solidFill>
              </a:rPr>
              <a:t> 0.5</a:t>
            </a:r>
          </a:p>
          <a:p>
            <a:r>
              <a:rPr lang="en-US" altLang="zh-TW" sz="1600" dirty="0">
                <a:solidFill>
                  <a:srgbClr val="FFFFFF"/>
                </a:solidFill>
              </a:rPr>
              <a:t>	ease 0.5 zoom 1.4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5058E02F-A2C1-729F-4CC3-20DBD8329189}"/>
              </a:ext>
            </a:extLst>
          </p:cNvPr>
          <p:cNvSpPr txBox="1"/>
          <p:nvPr/>
        </p:nvSpPr>
        <p:spPr>
          <a:xfrm>
            <a:off x="2144192" y="1442450"/>
            <a:ext cx="8496944" cy="338554"/>
          </a:xfrm>
          <a:prstGeom prst="rect">
            <a:avLst/>
          </a:prstGeom>
          <a:solidFill>
            <a:srgbClr val="292A37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600" dirty="0">
                <a:solidFill>
                  <a:srgbClr val="FFFFFF"/>
                </a:solidFill>
              </a:rPr>
              <a:t>scene red server room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33F013DD-07BB-1E11-E104-AF8AC99D3842}"/>
              </a:ext>
            </a:extLst>
          </p:cNvPr>
          <p:cNvSpPr txBox="1"/>
          <p:nvPr/>
        </p:nvSpPr>
        <p:spPr>
          <a:xfrm>
            <a:off x="2143165" y="965396"/>
            <a:ext cx="83529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用顯示圖像功能</a:t>
            </a:r>
            <a:r>
              <a:rPr lang="en-US" altLang="zh-TW" dirty="0"/>
              <a:t>scene</a:t>
            </a:r>
            <a:r>
              <a:rPr lang="zh-TW" altLang="en-US" dirty="0"/>
              <a:t>加上場景，目前場景圖片還未完成，只是先放置純色背景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8A8EB636-9DA1-785D-9BE5-9E525DDD2878}"/>
              </a:ext>
            </a:extLst>
          </p:cNvPr>
          <p:cNvSpPr txBox="1"/>
          <p:nvPr/>
        </p:nvSpPr>
        <p:spPr>
          <a:xfrm>
            <a:off x="2151321" y="2340080"/>
            <a:ext cx="83529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ease</a:t>
            </a:r>
            <a:r>
              <a:rPr lang="zh-TW" altLang="en-US" dirty="0"/>
              <a:t>可以做到動畫效果，使用下方的程式可以做到讓角色逐漸放大到指定的程度，看起來就像是逐漸靠近自己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BB61ABEA-1E51-75F6-31C7-22DBD15651FC}"/>
              </a:ext>
            </a:extLst>
          </p:cNvPr>
          <p:cNvSpPr txBox="1"/>
          <p:nvPr/>
        </p:nvSpPr>
        <p:spPr>
          <a:xfrm>
            <a:off x="2151321" y="1888669"/>
            <a:ext cx="8496944" cy="338554"/>
          </a:xfrm>
          <a:prstGeom prst="rect">
            <a:avLst/>
          </a:prstGeom>
          <a:solidFill>
            <a:srgbClr val="292A37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600" dirty="0">
                <a:solidFill>
                  <a:srgbClr val="FFFFFF"/>
                </a:solidFill>
              </a:rPr>
              <a:t>scene virtual space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C12D1FCF-41F4-C2B6-1AA0-70D9287F68BB}"/>
              </a:ext>
            </a:extLst>
          </p:cNvPr>
          <p:cNvSpPr txBox="1"/>
          <p:nvPr/>
        </p:nvSpPr>
        <p:spPr>
          <a:xfrm>
            <a:off x="2135560" y="4302240"/>
            <a:ext cx="8496944" cy="2062103"/>
          </a:xfrm>
          <a:prstGeom prst="rect">
            <a:avLst/>
          </a:prstGeom>
          <a:solidFill>
            <a:srgbClr val="292A37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600" dirty="0">
                <a:solidFill>
                  <a:srgbClr val="FFFFFF"/>
                </a:solidFill>
              </a:rPr>
              <a:t>show aria talk:</a:t>
            </a:r>
          </a:p>
          <a:p>
            <a:r>
              <a:rPr lang="en-US" altLang="zh-TW" sz="1600" dirty="0">
                <a:solidFill>
                  <a:srgbClr val="FFFFFF"/>
                </a:solidFill>
              </a:rPr>
              <a:t>	zoom 1.2</a:t>
            </a:r>
          </a:p>
          <a:p>
            <a:r>
              <a:rPr lang="en-US" altLang="zh-TW" sz="1600" dirty="0">
                <a:solidFill>
                  <a:srgbClr val="FFFFFF"/>
                </a:solidFill>
              </a:rPr>
              <a:t>	right</a:t>
            </a:r>
          </a:p>
          <a:p>
            <a:r>
              <a:rPr lang="en-US" altLang="zh-TW" sz="1600" dirty="0">
                <a:solidFill>
                  <a:srgbClr val="FFFFFF"/>
                </a:solidFill>
              </a:rPr>
              <a:t>hide aria talk</a:t>
            </a:r>
          </a:p>
          <a:p>
            <a:r>
              <a:rPr lang="en-US" altLang="zh-TW" sz="1600" dirty="0">
                <a:solidFill>
                  <a:srgbClr val="FFFFFF"/>
                </a:solidFill>
              </a:rPr>
              <a:t>show aria default:</a:t>
            </a:r>
          </a:p>
          <a:p>
            <a:r>
              <a:rPr lang="en-US" altLang="zh-TW" sz="1600" dirty="0">
                <a:solidFill>
                  <a:srgbClr val="FFFFFF"/>
                </a:solidFill>
              </a:rPr>
              <a:t>	zoom1.2</a:t>
            </a:r>
          </a:p>
          <a:p>
            <a:r>
              <a:rPr lang="en-US" altLang="zh-TW" sz="1600" dirty="0">
                <a:solidFill>
                  <a:srgbClr val="FFFFFF"/>
                </a:solidFill>
              </a:rPr>
              <a:t>	right</a:t>
            </a:r>
          </a:p>
          <a:p>
            <a:r>
              <a:rPr lang="en-US" altLang="zh-TW" sz="1600" dirty="0">
                <a:solidFill>
                  <a:srgbClr val="FFFFFF"/>
                </a:solidFill>
              </a:rPr>
              <a:t>hide aria talk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A742BE3B-6D1C-BE72-3482-071819F69BA6}"/>
              </a:ext>
            </a:extLst>
          </p:cNvPr>
          <p:cNvSpPr txBox="1"/>
          <p:nvPr/>
        </p:nvSpPr>
        <p:spPr>
          <a:xfrm>
            <a:off x="2121144" y="3897047"/>
            <a:ext cx="83529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目前</a:t>
            </a:r>
            <a:r>
              <a:rPr lang="en-US" altLang="zh-TW" dirty="0"/>
              <a:t>aria</a:t>
            </a:r>
            <a:r>
              <a:rPr lang="zh-TW" altLang="en-US" dirty="0"/>
              <a:t>的僅有兩個不同的圖片輪流交替變換，已經套用在所有的對話程式碼中</a:t>
            </a:r>
          </a:p>
        </p:txBody>
      </p:sp>
    </p:spTree>
    <p:extLst>
      <p:ext uri="{BB962C8B-B14F-4D97-AF65-F5344CB8AC3E}">
        <p14:creationId xmlns:p14="http://schemas.microsoft.com/office/powerpoint/2010/main" val="33924510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>
            <a:extLst>
              <a:ext uri="{FF2B5EF4-FFF2-40B4-BE49-F238E27FC236}">
                <a16:creationId xmlns:a16="http://schemas.microsoft.com/office/drawing/2014/main" id="{2B04F82B-64B5-4217-A737-C69331C7DD6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C8FB1871-DB17-4908-9F7C-12581D4A2ED6}"/>
              </a:ext>
            </a:extLst>
          </p:cNvPr>
          <p:cNvSpPr>
            <a:spLocks noGrp="1"/>
          </p:cNvSpPr>
          <p:nvPr/>
        </p:nvSpPr>
        <p:spPr>
          <a:xfrm>
            <a:off x="419100" y="419100"/>
            <a:ext cx="95250" cy="209550"/>
          </a:xfrm>
          <a:prstGeom prst="rect">
            <a:avLst/>
          </a:prstGeom>
          <a:solidFill>
            <a:srgbClr val="C47F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94E2175-0FB0-4B85-BCF1-630445D018CB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72390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72033"/>
                </a:solidFill>
                <a:latin typeface="Georgia"/>
                <a:ea typeface="Georgia"/>
                <a:cs typeface="Georgia"/>
              </a:defRPr>
            </a:pPr>
            <a:r>
              <a:rPr lang="en-US" altLang="zh-TW" sz="2700" b="1" dirty="0">
                <a:solidFill>
                  <a:srgbClr val="172033"/>
                </a:solidFill>
                <a:latin typeface="Georgia"/>
                <a:ea typeface="Georgia"/>
                <a:cs typeface="Georgia"/>
              </a:rPr>
              <a:t>Django</a:t>
            </a:r>
            <a:r>
              <a:rPr lang="zh-TW" altLang="en-US" sz="2700" b="1" dirty="0">
                <a:solidFill>
                  <a:srgbClr val="172033"/>
                </a:solidFill>
                <a:latin typeface="Georgia"/>
                <a:ea typeface="Georgia"/>
                <a:cs typeface="Georgia"/>
              </a:rPr>
              <a:t> </a:t>
            </a:r>
            <a:r>
              <a:rPr lang="en-US" altLang="zh-TW" sz="2700" b="1" dirty="0">
                <a:solidFill>
                  <a:srgbClr val="172033"/>
                </a:solidFill>
                <a:latin typeface="Georgia"/>
                <a:ea typeface="Georgia"/>
                <a:cs typeface="Georgia"/>
              </a:rPr>
              <a:t>templates</a:t>
            </a:r>
            <a:r>
              <a:rPr lang="zh-TW" altLang="en-US" sz="2700" b="1" dirty="0">
                <a:solidFill>
                  <a:srgbClr val="172033"/>
                </a:solidFill>
                <a:latin typeface="Georgia"/>
                <a:ea typeface="Georgia"/>
                <a:cs typeface="Georgia"/>
              </a:rPr>
              <a:t>模板 </a:t>
            </a:r>
            <a:r>
              <a:rPr lang="en-US" altLang="zh-TW" sz="2700" b="1" dirty="0">
                <a:solidFill>
                  <a:srgbClr val="172033"/>
                </a:solidFill>
                <a:latin typeface="Georgia"/>
                <a:ea typeface="Georgia"/>
                <a:cs typeface="Georgia"/>
              </a:rPr>
              <a:t>home.html</a:t>
            </a:r>
            <a:endParaRPr sz="2700" b="1" dirty="0">
              <a:solidFill>
                <a:srgbClr val="172033"/>
              </a:solidFill>
              <a:latin typeface="Georgia"/>
              <a:ea typeface="Georgia"/>
              <a:cs typeface="Georgia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2D3E486-980C-4AC8-B358-51128A3F6C74}"/>
              </a:ext>
            </a:extLst>
          </p:cNvPr>
          <p:cNvSpPr>
            <a:spLocks noGrp="1"/>
          </p:cNvSpPr>
          <p:nvPr/>
        </p:nvSpPr>
        <p:spPr>
          <a:xfrm>
            <a:off x="10058400" y="457200"/>
            <a:ext cx="152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Django pages report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F82026B-FBDC-4272-9330-D9721F6FC9A0}"/>
              </a:ext>
            </a:extLst>
          </p:cNvPr>
          <p:cNvSpPr>
            <a:spLocks noGrp="1"/>
          </p:cNvSpPr>
          <p:nvPr/>
        </p:nvSpPr>
        <p:spPr>
          <a:xfrm>
            <a:off x="609601" y="1485900"/>
            <a:ext cx="9992810" cy="4486637"/>
          </a:xfrm>
          <a:prstGeom prst="rect">
            <a:avLst/>
          </a:prstGeom>
          <a:solidFill>
            <a:srgbClr val="11182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TW" sz="2800" dirty="0">
                <a:solidFill>
                  <a:schemeClr val="bg1"/>
                </a:solidFill>
              </a:rPr>
              <a:t>Views.py</a:t>
            </a:r>
            <a:r>
              <a:rPr lang="zh-TW" altLang="en-US" sz="2800" dirty="0">
                <a:solidFill>
                  <a:schemeClr val="bg1"/>
                </a:solidFill>
              </a:rPr>
              <a:t>裡放關卡內容資訊</a:t>
            </a:r>
            <a:r>
              <a:rPr lang="en-US" altLang="zh-TW" sz="2800" dirty="0">
                <a:solidFill>
                  <a:schemeClr val="bg1"/>
                </a:solidFill>
              </a:rPr>
              <a:t>(Python</a:t>
            </a:r>
            <a:r>
              <a:rPr lang="zh-TW" altLang="en-US" sz="2800" dirty="0">
                <a:solidFill>
                  <a:schemeClr val="bg1"/>
                </a:solidFill>
              </a:rPr>
              <a:t>的字典，後面轉成</a:t>
            </a:r>
            <a:r>
              <a:rPr lang="en-US" altLang="zh-TW" sz="2800" dirty="0">
                <a:solidFill>
                  <a:schemeClr val="bg1"/>
                </a:solidFill>
              </a:rPr>
              <a:t>JS</a:t>
            </a:r>
            <a:r>
              <a:rPr lang="zh-TW" altLang="en-US" sz="2800" dirty="0">
                <a:solidFill>
                  <a:schemeClr val="bg1"/>
                </a:solidFill>
              </a:rPr>
              <a:t>形式</a:t>
            </a:r>
            <a:r>
              <a:rPr lang="en-US" altLang="zh-TW" sz="2800" dirty="0">
                <a:solidFill>
                  <a:schemeClr val="bg1"/>
                </a:solidFill>
              </a:rPr>
              <a:t>)</a:t>
            </a:r>
            <a:r>
              <a:rPr lang="zh-TW" altLang="en-US" sz="2800" dirty="0">
                <a:solidFill>
                  <a:schemeClr val="bg1"/>
                </a:solidFill>
              </a:rPr>
              <a:t>，像是第幾關、關卡名稱、關卡描述等等，並把這些關卡資訊傳到</a:t>
            </a:r>
            <a:r>
              <a:rPr lang="en-US" altLang="zh-TW" sz="2800" dirty="0">
                <a:solidFill>
                  <a:schemeClr val="bg1"/>
                </a:solidFill>
              </a:rPr>
              <a:t>home.html</a:t>
            </a:r>
            <a:r>
              <a:rPr lang="zh-TW" altLang="en-US" sz="2800" dirty="0">
                <a:solidFill>
                  <a:schemeClr val="bg1"/>
                </a:solidFill>
              </a:rPr>
              <a:t>並建立常數。</a:t>
            </a:r>
            <a:endParaRPr lang="en-US" altLang="zh-TW" sz="2800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zh-TW" sz="2800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TW" sz="2800" dirty="0">
                <a:solidFill>
                  <a:schemeClr val="bg1"/>
                </a:solidFill>
              </a:rPr>
              <a:t>Home.html</a:t>
            </a:r>
            <a:r>
              <a:rPr lang="zh-TW" altLang="en-US" sz="2800" dirty="0">
                <a:solidFill>
                  <a:schemeClr val="bg1"/>
                </a:solidFill>
              </a:rPr>
              <a:t>裡放著</a:t>
            </a:r>
            <a:r>
              <a:rPr lang="en-US" altLang="zh-TW" sz="2800" dirty="0">
                <a:solidFill>
                  <a:schemeClr val="bg1"/>
                </a:solidFill>
              </a:rPr>
              <a:t>html</a:t>
            </a:r>
            <a:r>
              <a:rPr lang="zh-TW" altLang="en-US" sz="2800" dirty="0">
                <a:solidFill>
                  <a:schemeClr val="bg1"/>
                </a:solidFill>
              </a:rPr>
              <a:t>內容以及</a:t>
            </a:r>
            <a:r>
              <a:rPr lang="en-US" altLang="zh-TW" sz="2800" dirty="0" err="1">
                <a:solidFill>
                  <a:schemeClr val="bg1"/>
                </a:solidFill>
              </a:rPr>
              <a:t>css</a:t>
            </a:r>
            <a:r>
              <a:rPr lang="zh-TW" altLang="en-US" sz="2800" dirty="0">
                <a:solidFill>
                  <a:schemeClr val="bg1"/>
                </a:solidFill>
              </a:rPr>
              <a:t>、</a:t>
            </a:r>
            <a:r>
              <a:rPr lang="en-US" altLang="zh-TW" sz="2800" dirty="0" err="1">
                <a:solidFill>
                  <a:schemeClr val="bg1"/>
                </a:solidFill>
              </a:rPr>
              <a:t>js</a:t>
            </a:r>
            <a:r>
              <a:rPr lang="zh-TW" altLang="en-US" sz="2800" dirty="0">
                <a:solidFill>
                  <a:schemeClr val="bg1"/>
                </a:solidFill>
              </a:rPr>
              <a:t>，在進入網頁時被</a:t>
            </a:r>
            <a:r>
              <a:rPr lang="en-US" altLang="zh-TW" sz="2800" dirty="0">
                <a:solidFill>
                  <a:schemeClr val="bg1"/>
                </a:solidFill>
              </a:rPr>
              <a:t>view.py</a:t>
            </a:r>
            <a:r>
              <a:rPr lang="zh-TW" altLang="en-US" sz="2800" dirty="0">
                <a:solidFill>
                  <a:schemeClr val="bg1"/>
                </a:solidFill>
              </a:rPr>
              <a:t>引用然後接受參數。</a:t>
            </a:r>
            <a:endParaRPr lang="en-US" altLang="zh-TW" sz="2800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zh-TW" sz="2800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TW" sz="2800" dirty="0">
                <a:solidFill>
                  <a:schemeClr val="bg1"/>
                </a:solidFill>
              </a:rPr>
              <a:t>Login.html</a:t>
            </a:r>
            <a:r>
              <a:rPr lang="zh-TW" altLang="en-US" sz="2800" dirty="0">
                <a:solidFill>
                  <a:schemeClr val="bg1"/>
                </a:solidFill>
              </a:rPr>
              <a:t>用</a:t>
            </a:r>
            <a:r>
              <a:rPr lang="en-US" altLang="zh-TW" sz="2800" dirty="0">
                <a:solidFill>
                  <a:schemeClr val="bg1"/>
                </a:solidFill>
              </a:rPr>
              <a:t>Django</a:t>
            </a:r>
            <a:r>
              <a:rPr lang="zh-TW" altLang="en-US" sz="2800" dirty="0">
                <a:solidFill>
                  <a:schemeClr val="bg1"/>
                </a:solidFill>
              </a:rPr>
              <a:t>的表單內容</a:t>
            </a:r>
            <a:endParaRPr lang="en-US" altLang="zh-TW" sz="2800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zh-TW" sz="2800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TW" altLang="en-US" sz="2800" dirty="0">
                <a:solidFill>
                  <a:schemeClr val="bg1"/>
                </a:solidFill>
              </a:rPr>
              <a:t>主網頁內容先是在網站上找適合模板後再根據需求進行更改</a:t>
            </a:r>
            <a:endParaRPr lang="en-US" altLang="zh-TW" sz="2800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89537A4-02EA-4C1B-B197-6D4A06CE8885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10382250" cy="12383"/>
          </a:xfrm>
          <a:prstGeom prst="rect">
            <a:avLst/>
          </a:prstGeom>
          <a:solidFill>
            <a:srgbClr val="D8CEC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08D8732-2C72-4427-AE4A-E891D9F1C9A0}"/>
              </a:ext>
            </a:extLst>
          </p:cNvPr>
          <p:cNvSpPr>
            <a:spLocks noGrp="1"/>
          </p:cNvSpPr>
          <p:nvPr/>
        </p:nvSpPr>
        <p:spPr>
          <a:xfrm>
            <a:off x="11106150" y="6200775"/>
            <a:ext cx="514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F6B7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697589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>
            <a:extLst>
              <a:ext uri="{FF2B5EF4-FFF2-40B4-BE49-F238E27FC236}">
                <a16:creationId xmlns:a16="http://schemas.microsoft.com/office/drawing/2014/main" id="{2B04F82B-64B5-4217-A737-C69331C7DD6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C8FB1871-DB17-4908-9F7C-12581D4A2ED6}"/>
              </a:ext>
            </a:extLst>
          </p:cNvPr>
          <p:cNvSpPr>
            <a:spLocks noGrp="1"/>
          </p:cNvSpPr>
          <p:nvPr/>
        </p:nvSpPr>
        <p:spPr>
          <a:xfrm>
            <a:off x="419100" y="419100"/>
            <a:ext cx="95250" cy="209550"/>
          </a:xfrm>
          <a:prstGeom prst="rect">
            <a:avLst/>
          </a:prstGeom>
          <a:solidFill>
            <a:srgbClr val="C47F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94E2175-0FB0-4B85-BCF1-630445D018CB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72390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72033"/>
                </a:solidFill>
                <a:latin typeface="Georgia"/>
                <a:ea typeface="Georgia"/>
                <a:cs typeface="Georgia"/>
              </a:defRPr>
            </a:pPr>
            <a:r>
              <a:rPr lang="en-US" altLang="zh-TW" sz="2700" b="1" dirty="0">
                <a:solidFill>
                  <a:srgbClr val="172033"/>
                </a:solidFill>
                <a:latin typeface="Georgia"/>
                <a:ea typeface="Georgia"/>
                <a:cs typeface="Georgia"/>
              </a:rPr>
              <a:t>Django</a:t>
            </a:r>
            <a:r>
              <a:rPr lang="zh-TW" altLang="en-US" sz="2700" b="1" dirty="0">
                <a:solidFill>
                  <a:srgbClr val="172033"/>
                </a:solidFill>
                <a:latin typeface="Georgia"/>
                <a:ea typeface="Georgia"/>
                <a:cs typeface="Georgia"/>
              </a:rPr>
              <a:t> </a:t>
            </a:r>
            <a:r>
              <a:rPr lang="en-US" altLang="zh-TW" sz="2700" b="1" dirty="0">
                <a:solidFill>
                  <a:srgbClr val="172033"/>
                </a:solidFill>
                <a:latin typeface="Georgia"/>
                <a:ea typeface="Georgia"/>
                <a:cs typeface="Georgia"/>
              </a:rPr>
              <a:t>views.py</a:t>
            </a:r>
            <a:r>
              <a:rPr lang="zh-TW" altLang="en-US" sz="2700" b="1" dirty="0">
                <a:solidFill>
                  <a:srgbClr val="172033"/>
                </a:solidFill>
                <a:latin typeface="Georgia"/>
                <a:ea typeface="Georgia"/>
                <a:cs typeface="Georgia"/>
              </a:rPr>
              <a:t> </a:t>
            </a:r>
            <a:r>
              <a:rPr lang="en-US" altLang="zh-TW" sz="2700" b="1" dirty="0">
                <a:solidFill>
                  <a:srgbClr val="172033"/>
                </a:solidFill>
                <a:latin typeface="Georgia"/>
                <a:ea typeface="Georgia"/>
                <a:cs typeface="Georgia"/>
              </a:rPr>
              <a:t>–</a:t>
            </a:r>
            <a:r>
              <a:rPr lang="zh-TW" altLang="en-US" sz="2700" b="1" dirty="0">
                <a:solidFill>
                  <a:srgbClr val="172033"/>
                </a:solidFill>
                <a:latin typeface="Georgia"/>
                <a:ea typeface="Georgia"/>
                <a:cs typeface="Georgia"/>
              </a:rPr>
              <a:t> </a:t>
            </a:r>
            <a:r>
              <a:rPr lang="en-US" altLang="zh-TW" sz="2700" b="1" dirty="0">
                <a:solidFill>
                  <a:srgbClr val="172033"/>
                </a:solidFill>
                <a:latin typeface="Georgia"/>
                <a:ea typeface="Georgia"/>
                <a:cs typeface="Georgia"/>
              </a:rPr>
              <a:t>levels</a:t>
            </a:r>
            <a:r>
              <a:rPr lang="zh-TW" altLang="en-US" sz="2700" b="1" dirty="0">
                <a:solidFill>
                  <a:srgbClr val="172033"/>
                </a:solidFill>
                <a:latin typeface="Georgia"/>
                <a:ea typeface="Georgia"/>
                <a:cs typeface="Georgia"/>
              </a:rPr>
              <a:t>字典</a:t>
            </a:r>
            <a:endParaRPr sz="2700" b="1" dirty="0">
              <a:solidFill>
                <a:srgbClr val="172033"/>
              </a:solidFill>
              <a:latin typeface="Georgia"/>
              <a:ea typeface="Georgia"/>
              <a:cs typeface="Georgia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2D3E486-980C-4AC8-B358-51128A3F6C74}"/>
              </a:ext>
            </a:extLst>
          </p:cNvPr>
          <p:cNvSpPr>
            <a:spLocks noGrp="1"/>
          </p:cNvSpPr>
          <p:nvPr/>
        </p:nvSpPr>
        <p:spPr>
          <a:xfrm>
            <a:off x="10058400" y="457200"/>
            <a:ext cx="152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Django pages report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89537A4-02EA-4C1B-B197-6D4A06CE8885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10382250" cy="12383"/>
          </a:xfrm>
          <a:prstGeom prst="rect">
            <a:avLst/>
          </a:prstGeom>
          <a:solidFill>
            <a:srgbClr val="D8CEC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08D8732-2C72-4427-AE4A-E891D9F1C9A0}"/>
              </a:ext>
            </a:extLst>
          </p:cNvPr>
          <p:cNvSpPr>
            <a:spLocks noGrp="1"/>
          </p:cNvSpPr>
          <p:nvPr/>
        </p:nvSpPr>
        <p:spPr>
          <a:xfrm>
            <a:off x="11106150" y="6200775"/>
            <a:ext cx="514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lang="en-US" sz="975" b="1" dirty="0">
                <a:solidFill>
                  <a:srgbClr val="5F6B7A"/>
                </a:solidFill>
                <a:latin typeface="Aptos"/>
                <a:ea typeface="Aptos"/>
                <a:cs typeface="Aptos"/>
              </a:rPr>
              <a:t>02</a:t>
            </a:r>
            <a:endParaRPr sz="975" b="1" dirty="0">
              <a:solidFill>
                <a:srgbClr val="5F6B7A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28" name="圖片 27">
            <a:extLst>
              <a:ext uri="{FF2B5EF4-FFF2-40B4-BE49-F238E27FC236}">
                <a16:creationId xmlns:a16="http://schemas.microsoft.com/office/drawing/2014/main" id="{FDED6A9D-3E26-EF36-4C74-C2B6EF341A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285189"/>
            <a:ext cx="8545118" cy="4915586"/>
          </a:xfrm>
          <a:prstGeom prst="rect">
            <a:avLst/>
          </a:prstGeom>
        </p:spPr>
      </p:pic>
      <p:sp>
        <p:nvSpPr>
          <p:cNvPr id="29" name="矩形 28">
            <a:extLst>
              <a:ext uri="{FF2B5EF4-FFF2-40B4-BE49-F238E27FC236}">
                <a16:creationId xmlns:a16="http://schemas.microsoft.com/office/drawing/2014/main" id="{D735266F-DFD0-F0A1-08C5-04512D60FD4E}"/>
              </a:ext>
            </a:extLst>
          </p:cNvPr>
          <p:cNvSpPr/>
          <p:nvPr/>
        </p:nvSpPr>
        <p:spPr>
          <a:xfrm>
            <a:off x="9327005" y="1285189"/>
            <a:ext cx="2986790" cy="286232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zh-TW" alt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關卡範例</a:t>
            </a:r>
            <a:endParaRPr lang="en-US" altLang="zh-TW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zh-TW" alt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從上到下是</a:t>
            </a:r>
            <a:r>
              <a:rPr lang="en-US" altLang="zh-TW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:</a:t>
            </a:r>
          </a:p>
          <a:p>
            <a:r>
              <a:rPr lang="en-US" altLang="zh-TW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1.</a:t>
            </a:r>
            <a:r>
              <a:rPr lang="zh-TW" alt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關卡</a:t>
            </a:r>
            <a:r>
              <a:rPr lang="en-US" altLang="zh-TW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ID</a:t>
            </a:r>
          </a:p>
          <a:p>
            <a:r>
              <a:rPr lang="en-US" altLang="zh-TW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2.</a:t>
            </a:r>
            <a:r>
              <a:rPr lang="zh-TW" alt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章節</a:t>
            </a:r>
            <a:endParaRPr lang="en-US" altLang="zh-TW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altLang="zh-TW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3.</a:t>
            </a:r>
            <a:r>
              <a:rPr lang="zh-TW" alt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關卡</a:t>
            </a:r>
            <a:endParaRPr lang="en-US" altLang="zh-TW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altLang="zh-TW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4.</a:t>
            </a:r>
            <a:r>
              <a:rPr lang="zh-TW" alt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關卡名稱</a:t>
            </a:r>
            <a:endParaRPr lang="en-US" altLang="zh-TW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altLang="zh-TW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5.AI</a:t>
            </a:r>
            <a:r>
              <a:rPr lang="zh-TW" alt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程度</a:t>
            </a:r>
            <a:endParaRPr lang="en-US" altLang="zh-TW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altLang="zh-TW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6.Renpy</a:t>
            </a:r>
            <a:r>
              <a:rPr lang="zh-TW" alt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網址</a:t>
            </a:r>
            <a:endParaRPr lang="en-US" altLang="zh-TW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altLang="zh-TW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7.notebook</a:t>
            </a:r>
            <a:r>
              <a:rPr lang="zh-TW" alt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網址</a:t>
            </a:r>
            <a:endParaRPr lang="en-US" altLang="zh-TW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altLang="zh-TW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8.</a:t>
            </a:r>
            <a:r>
              <a:rPr lang="zh-TW" alt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關卡描述。</a:t>
            </a:r>
            <a:endParaRPr lang="zh-TW" alt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921194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>
            <a:extLst>
              <a:ext uri="{FF2B5EF4-FFF2-40B4-BE49-F238E27FC236}">
                <a16:creationId xmlns:a16="http://schemas.microsoft.com/office/drawing/2014/main" id="{466AFFB7-E858-4BCE-AD7B-904F312BA71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5DED1890-3618-4A2C-8427-A9113979E002}"/>
              </a:ext>
            </a:extLst>
          </p:cNvPr>
          <p:cNvSpPr>
            <a:spLocks noGrp="1"/>
          </p:cNvSpPr>
          <p:nvPr/>
        </p:nvSpPr>
        <p:spPr>
          <a:xfrm>
            <a:off x="419100" y="419100"/>
            <a:ext cx="95250" cy="209550"/>
          </a:xfrm>
          <a:prstGeom prst="rect">
            <a:avLst/>
          </a:prstGeom>
          <a:solidFill>
            <a:srgbClr val="C47F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BD4E7FC-750E-480C-9F47-AD102A4C5157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72390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72033"/>
                </a:solidFill>
                <a:latin typeface="Georgia"/>
                <a:ea typeface="Georgia"/>
                <a:cs typeface="Georgia"/>
              </a:defRPr>
            </a:pPr>
            <a:r>
              <a:rPr sz="2700" b="1" dirty="0">
                <a:solidFill>
                  <a:srgbClr val="172033"/>
                </a:solidFill>
                <a:latin typeface="Georgia"/>
                <a:ea typeface="Georgia"/>
                <a:cs typeface="Georgia"/>
              </a:rPr>
              <a:t>LEVELS </a:t>
            </a:r>
            <a:r>
              <a:rPr lang="zh-TW" altLang="en-US" sz="2700" b="1" dirty="0">
                <a:solidFill>
                  <a:srgbClr val="172033"/>
                </a:solidFill>
                <a:latin typeface="Georgia"/>
                <a:ea typeface="Georgia"/>
                <a:cs typeface="Georgia"/>
              </a:rPr>
              <a:t>字典的內容</a:t>
            </a:r>
            <a:endParaRPr sz="2700" b="1" dirty="0">
              <a:solidFill>
                <a:srgbClr val="172033"/>
              </a:solidFill>
              <a:latin typeface="Georgia"/>
              <a:ea typeface="Georgia"/>
              <a:cs typeface="Georgi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F221726-FDCA-4FF0-A124-1CCB4FE3C154}"/>
              </a:ext>
            </a:extLst>
          </p:cNvPr>
          <p:cNvSpPr>
            <a:spLocks noGrp="1"/>
          </p:cNvSpPr>
          <p:nvPr/>
        </p:nvSpPr>
        <p:spPr>
          <a:xfrm>
            <a:off x="609600" y="1581150"/>
            <a:ext cx="8286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275" b="0" dirty="0">
                <a:solidFill>
                  <a:srgbClr val="5F6B7A"/>
                </a:solidFill>
                <a:latin typeface="Aptos"/>
                <a:ea typeface="Aptos"/>
                <a:cs typeface="Aptos"/>
              </a:rPr>
              <a:t>每一個字典代表一個關卡；home.html </a:t>
            </a:r>
            <a:r>
              <a:rPr sz="1275" b="0" dirty="0" err="1">
                <a:solidFill>
                  <a:srgbClr val="5F6B7A"/>
                </a:solidFill>
                <a:latin typeface="Aptos"/>
                <a:ea typeface="Aptos"/>
                <a:cs typeface="Aptos"/>
              </a:rPr>
              <a:t>會用它產生按鈕、標題、iframe</a:t>
            </a:r>
            <a:r>
              <a:rPr sz="1275" b="0" dirty="0">
                <a:solidFill>
                  <a:srgbClr val="5F6B7A"/>
                </a:solidFill>
                <a:latin typeface="Aptos"/>
                <a:ea typeface="Aptos"/>
                <a:cs typeface="Aptos"/>
              </a:rPr>
              <a:t> URL </a:t>
            </a:r>
            <a:r>
              <a:rPr sz="1275" b="0" dirty="0" err="1">
                <a:solidFill>
                  <a:srgbClr val="5F6B7A"/>
                </a:solidFill>
                <a:latin typeface="Aptos"/>
                <a:ea typeface="Aptos"/>
                <a:cs typeface="Aptos"/>
              </a:rPr>
              <a:t>與統計資訊</a:t>
            </a:r>
            <a:r>
              <a:rPr sz="1275" b="0" dirty="0">
                <a:solidFill>
                  <a:srgbClr val="5F6B7A"/>
                </a:solidFill>
                <a:latin typeface="Aptos"/>
                <a:ea typeface="Aptos"/>
                <a:cs typeface="Aptos"/>
              </a:rPr>
              <a:t>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0935836-134D-42E6-A9EC-BA75F86561A2}"/>
              </a:ext>
            </a:extLst>
          </p:cNvPr>
          <p:cNvSpPr>
            <a:spLocks noGrp="1"/>
          </p:cNvSpPr>
          <p:nvPr/>
        </p:nvSpPr>
        <p:spPr>
          <a:xfrm>
            <a:off x="10058400" y="457200"/>
            <a:ext cx="152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Django pages report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A800645-D3AE-415A-8AD5-A15B9FB6A58E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5238750" cy="3409950"/>
          </a:xfrm>
          <a:prstGeom prst="rect">
            <a:avLst/>
          </a:prstGeom>
          <a:solidFill>
            <a:srgbClr val="101827"/>
          </a:solidFill>
          <a:ln w="9525">
            <a:solidFill>
              <a:srgbClr val="26364D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6BC0A78-B6B0-4F56-8D3C-8C9220CE94ED}"/>
              </a:ext>
            </a:extLst>
          </p:cNvPr>
          <p:cNvSpPr>
            <a:spLocks noGrp="1"/>
          </p:cNvSpPr>
          <p:nvPr/>
        </p:nvSpPr>
        <p:spPr>
          <a:xfrm>
            <a:off x="729205" y="2238375"/>
            <a:ext cx="4947695" cy="31337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E6EDF7"/>
                </a:solidFill>
                <a:latin typeface="Aptos Mono"/>
                <a:ea typeface="Aptos Mono"/>
                <a:cs typeface="Aptos Mono"/>
              </a:defRPr>
            </a:pPr>
            <a:r>
              <a:rPr sz="1125" b="0" dirty="0">
                <a:solidFill>
                  <a:srgbClr val="E6EDF7"/>
                </a:solidFill>
                <a:latin typeface="Aptos Mono"/>
                <a:ea typeface="Aptos Mono"/>
                <a:cs typeface="Aptos Mono"/>
              </a:rPr>
              <a:t>11 LEVELS = [</a:t>
            </a:r>
          </a:p>
          <a:p>
            <a:pPr algn="l">
              <a:defRPr sz="1125" b="0">
                <a:solidFill>
                  <a:srgbClr val="E6EDF7"/>
                </a:solidFill>
                <a:latin typeface="Aptos Mono"/>
                <a:ea typeface="Aptos Mono"/>
                <a:cs typeface="Aptos Mono"/>
              </a:defRPr>
            </a:pPr>
            <a:r>
              <a:rPr sz="1125" b="0" dirty="0">
                <a:solidFill>
                  <a:srgbClr val="E6EDF7"/>
                </a:solidFill>
                <a:latin typeface="Aptos Mono"/>
                <a:ea typeface="Aptos Mono"/>
                <a:cs typeface="Aptos Mono"/>
              </a:rPr>
              <a:t>12   {</a:t>
            </a:r>
          </a:p>
          <a:p>
            <a:pPr algn="l">
              <a:defRPr sz="1125" b="0">
                <a:solidFill>
                  <a:srgbClr val="E6EDF7"/>
                </a:solidFill>
                <a:latin typeface="Aptos Mono"/>
                <a:ea typeface="Aptos Mono"/>
                <a:cs typeface="Aptos Mono"/>
              </a:defRPr>
            </a:pPr>
            <a:r>
              <a:rPr sz="1125" b="0" dirty="0">
                <a:solidFill>
                  <a:srgbClr val="E6EDF7"/>
                </a:solidFill>
                <a:latin typeface="Aptos Mono"/>
                <a:ea typeface="Aptos Mono"/>
                <a:cs typeface="Aptos Mono"/>
              </a:rPr>
              <a:t>13     "id": "chapter-1-level-1",</a:t>
            </a:r>
          </a:p>
          <a:p>
            <a:pPr algn="l">
              <a:defRPr sz="1125" b="0">
                <a:solidFill>
                  <a:srgbClr val="E6EDF7"/>
                </a:solidFill>
                <a:latin typeface="Aptos Mono"/>
                <a:ea typeface="Aptos Mono"/>
                <a:cs typeface="Aptos Mono"/>
              </a:defRPr>
            </a:pPr>
            <a:r>
              <a:rPr sz="1125" b="0" dirty="0">
                <a:solidFill>
                  <a:srgbClr val="E6EDF7"/>
                </a:solidFill>
                <a:latin typeface="Aptos Mono"/>
                <a:ea typeface="Aptos Mono"/>
                <a:cs typeface="Aptos Mono"/>
              </a:rPr>
              <a:t>14     "chapter": "第 1 </a:t>
            </a:r>
            <a:r>
              <a:rPr sz="1125" b="0" dirty="0" err="1">
                <a:solidFill>
                  <a:srgbClr val="E6EDF7"/>
                </a:solidFill>
                <a:latin typeface="Aptos Mono"/>
                <a:ea typeface="Aptos Mono"/>
                <a:cs typeface="Aptos Mono"/>
              </a:rPr>
              <a:t>章第一關</a:t>
            </a:r>
            <a:r>
              <a:rPr sz="1125" b="0" dirty="0">
                <a:solidFill>
                  <a:srgbClr val="E6EDF7"/>
                </a:solidFill>
                <a:latin typeface="Aptos Mono"/>
                <a:ea typeface="Aptos Mono"/>
                <a:cs typeface="Aptos Mono"/>
              </a:rPr>
              <a:t>",</a:t>
            </a:r>
          </a:p>
          <a:p>
            <a:pPr algn="l">
              <a:defRPr sz="1125" b="0">
                <a:solidFill>
                  <a:srgbClr val="E6EDF7"/>
                </a:solidFill>
                <a:latin typeface="Aptos Mono"/>
                <a:ea typeface="Aptos Mono"/>
                <a:cs typeface="Aptos Mono"/>
              </a:defRPr>
            </a:pPr>
            <a:r>
              <a:rPr sz="1125" b="0" dirty="0">
                <a:solidFill>
                  <a:srgbClr val="E6EDF7"/>
                </a:solidFill>
                <a:latin typeface="Aptos Mono"/>
                <a:ea typeface="Aptos Mono"/>
                <a:cs typeface="Aptos Mono"/>
              </a:rPr>
              <a:t>15     "level": "1-1",</a:t>
            </a:r>
          </a:p>
          <a:p>
            <a:pPr algn="l">
              <a:defRPr sz="1125" b="0">
                <a:solidFill>
                  <a:srgbClr val="E6EDF7"/>
                </a:solidFill>
                <a:latin typeface="Aptos Mono"/>
                <a:ea typeface="Aptos Mono"/>
                <a:cs typeface="Aptos Mono"/>
              </a:defRPr>
            </a:pPr>
            <a:r>
              <a:rPr sz="1125" b="0" dirty="0">
                <a:solidFill>
                  <a:srgbClr val="E6EDF7"/>
                </a:solidFill>
                <a:latin typeface="Aptos Mono"/>
                <a:ea typeface="Aptos Mono"/>
                <a:cs typeface="Aptos Mono"/>
              </a:rPr>
              <a:t>16     "title": "</a:t>
            </a:r>
            <a:r>
              <a:rPr lang="en-US" sz="1125" dirty="0">
                <a:solidFill>
                  <a:srgbClr val="E6EDF7"/>
                </a:solidFill>
                <a:latin typeface="Aptos Mono"/>
                <a:ea typeface="Aptos Mono"/>
                <a:cs typeface="Aptos Mono"/>
              </a:rPr>
              <a:t>1-1</a:t>
            </a:r>
            <a:r>
              <a:rPr sz="1125" b="0" dirty="0">
                <a:solidFill>
                  <a:srgbClr val="E6EDF7"/>
                </a:solidFill>
                <a:latin typeface="Aptos Mono"/>
                <a:ea typeface="Aptos Mono"/>
                <a:cs typeface="Aptos Mono"/>
              </a:rPr>
              <a:t>",</a:t>
            </a:r>
          </a:p>
          <a:p>
            <a:pPr algn="l">
              <a:defRPr sz="1125" b="0">
                <a:solidFill>
                  <a:srgbClr val="E6EDF7"/>
                </a:solidFill>
                <a:latin typeface="Aptos Mono"/>
                <a:ea typeface="Aptos Mono"/>
                <a:cs typeface="Aptos Mono"/>
              </a:defRPr>
            </a:pPr>
            <a:r>
              <a:rPr sz="1125" b="0" dirty="0">
                <a:solidFill>
                  <a:srgbClr val="E6EDF7"/>
                </a:solidFill>
                <a:latin typeface="Aptos Mono"/>
                <a:ea typeface="Aptos Mono"/>
                <a:cs typeface="Aptos Mono"/>
              </a:rPr>
              <a:t>17     "difficulty": "20％",</a:t>
            </a:r>
          </a:p>
          <a:p>
            <a:pPr algn="l">
              <a:defRPr sz="1125" b="0">
                <a:solidFill>
                  <a:srgbClr val="E6EDF7"/>
                </a:solidFill>
                <a:latin typeface="Aptos Mono"/>
                <a:ea typeface="Aptos Mono"/>
                <a:cs typeface="Aptos Mono"/>
              </a:defRPr>
            </a:pPr>
            <a:r>
              <a:rPr sz="1125" b="0" dirty="0">
                <a:solidFill>
                  <a:srgbClr val="E6EDF7"/>
                </a:solidFill>
                <a:latin typeface="Aptos Mono"/>
                <a:ea typeface="Aptos Mono"/>
                <a:cs typeface="Aptos Mono"/>
              </a:rPr>
              <a:t>18     "</a:t>
            </a:r>
            <a:r>
              <a:rPr sz="1125" b="0" dirty="0" err="1">
                <a:solidFill>
                  <a:srgbClr val="E6EDF7"/>
                </a:solidFill>
                <a:latin typeface="Aptos Mono"/>
                <a:ea typeface="Aptos Mono"/>
                <a:cs typeface="Aptos Mono"/>
              </a:rPr>
              <a:t>story_url</a:t>
            </a:r>
            <a:r>
              <a:rPr sz="1125" b="0" dirty="0">
                <a:solidFill>
                  <a:srgbClr val="E6EDF7"/>
                </a:solidFill>
                <a:latin typeface="Aptos Mono"/>
                <a:ea typeface="Aptos Mono"/>
                <a:cs typeface="Aptos Mono"/>
              </a:rPr>
              <a:t>": "http://127.0.0.1:8080/...",</a:t>
            </a:r>
          </a:p>
          <a:p>
            <a:pPr algn="l">
              <a:defRPr sz="1125" b="0">
                <a:solidFill>
                  <a:srgbClr val="E6EDF7"/>
                </a:solidFill>
                <a:latin typeface="Aptos Mono"/>
                <a:ea typeface="Aptos Mono"/>
                <a:cs typeface="Aptos Mono"/>
              </a:defRPr>
            </a:pPr>
            <a:r>
              <a:rPr sz="1125" b="0" dirty="0">
                <a:solidFill>
                  <a:srgbClr val="E6EDF7"/>
                </a:solidFill>
                <a:latin typeface="Aptos Mono"/>
                <a:ea typeface="Aptos Mono"/>
                <a:cs typeface="Aptos Mono"/>
              </a:rPr>
              <a:t>19     "</a:t>
            </a:r>
            <a:r>
              <a:rPr sz="1125" b="0" dirty="0" err="1">
                <a:solidFill>
                  <a:srgbClr val="E6EDF7"/>
                </a:solidFill>
                <a:latin typeface="Aptos Mono"/>
                <a:ea typeface="Aptos Mono"/>
                <a:cs typeface="Aptos Mono"/>
              </a:rPr>
              <a:t>game_url</a:t>
            </a:r>
            <a:r>
              <a:rPr sz="1125" b="0" dirty="0">
                <a:solidFill>
                  <a:srgbClr val="E6EDF7"/>
                </a:solidFill>
                <a:latin typeface="Aptos Mono"/>
                <a:ea typeface="Aptos Mono"/>
                <a:cs typeface="Aptos Mono"/>
              </a:rPr>
              <a:t>": "http://127.0.0.1:8888/...",</a:t>
            </a:r>
          </a:p>
          <a:p>
            <a:pPr algn="l">
              <a:defRPr sz="1125" b="0">
                <a:solidFill>
                  <a:srgbClr val="E6EDF7"/>
                </a:solidFill>
                <a:latin typeface="Aptos Mono"/>
                <a:ea typeface="Aptos Mono"/>
                <a:cs typeface="Aptos Mono"/>
              </a:defRPr>
            </a:pPr>
            <a:r>
              <a:rPr sz="1125" b="0" dirty="0">
                <a:solidFill>
                  <a:srgbClr val="E6EDF7"/>
                </a:solidFill>
                <a:latin typeface="Aptos Mono"/>
                <a:ea typeface="Aptos Mono"/>
                <a:cs typeface="Aptos Mono"/>
              </a:rPr>
              <a:t>20     "summary": "1-1描述",</a:t>
            </a:r>
          </a:p>
          <a:p>
            <a:pPr algn="l">
              <a:defRPr sz="1125" b="0">
                <a:solidFill>
                  <a:srgbClr val="E6EDF7"/>
                </a:solidFill>
                <a:latin typeface="Aptos Mono"/>
                <a:ea typeface="Aptos Mono"/>
                <a:cs typeface="Aptos Mono"/>
              </a:defRPr>
            </a:pPr>
            <a:r>
              <a:rPr sz="1125" b="0" dirty="0">
                <a:solidFill>
                  <a:srgbClr val="E6EDF7"/>
                </a:solidFill>
                <a:latin typeface="Aptos Mono"/>
                <a:ea typeface="Aptos Mono"/>
                <a:cs typeface="Aptos Mono"/>
              </a:rPr>
              <a:t>21   },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BC37F55-0DA0-4770-8144-D0B23C33EC7B}"/>
              </a:ext>
            </a:extLst>
          </p:cNvPr>
          <p:cNvSpPr>
            <a:spLocks noGrp="1"/>
          </p:cNvSpPr>
          <p:nvPr/>
        </p:nvSpPr>
        <p:spPr>
          <a:xfrm>
            <a:off x="6381750" y="2133600"/>
            <a:ext cx="66675" cy="66675"/>
          </a:xfrm>
          <a:prstGeom prst="rect">
            <a:avLst/>
          </a:prstGeom>
          <a:solidFill>
            <a:srgbClr val="C47F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EC1E9EA-F5B2-4479-A92B-97DFFB6C89ED}"/>
              </a:ext>
            </a:extLst>
          </p:cNvPr>
          <p:cNvSpPr>
            <a:spLocks noGrp="1"/>
          </p:cNvSpPr>
          <p:nvPr/>
        </p:nvSpPr>
        <p:spPr>
          <a:xfrm>
            <a:off x="6572250" y="2057400"/>
            <a:ext cx="4572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75" b="0" dirty="0">
                <a:solidFill>
                  <a:srgbClr val="172033"/>
                </a:solidFill>
                <a:latin typeface="Aptos"/>
                <a:ea typeface="Aptos"/>
                <a:cs typeface="Aptos"/>
              </a:rPr>
              <a:t>13 id：</a:t>
            </a:r>
            <a:r>
              <a:rPr lang="zh-TW" altLang="en-US" sz="1275" b="0" dirty="0">
                <a:solidFill>
                  <a:srgbClr val="172033"/>
                </a:solidFill>
                <a:latin typeface="Aptos"/>
                <a:ea typeface="Aptos"/>
                <a:cs typeface="Aptos"/>
              </a:rPr>
              <a:t>關卡的</a:t>
            </a:r>
            <a:r>
              <a:rPr lang="en-US" altLang="zh-TW" sz="1275" b="0" dirty="0">
                <a:solidFill>
                  <a:srgbClr val="172033"/>
                </a:solidFill>
                <a:latin typeface="Aptos"/>
                <a:ea typeface="Aptos"/>
                <a:cs typeface="Aptos"/>
              </a:rPr>
              <a:t>ID</a:t>
            </a:r>
            <a:r>
              <a:rPr sz="1275" b="0" dirty="0">
                <a:solidFill>
                  <a:srgbClr val="172033"/>
                </a:solidFill>
                <a:latin typeface="Aptos"/>
                <a:ea typeface="Aptos"/>
                <a:cs typeface="Aptos"/>
              </a:rPr>
              <a:t>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9748378-6A50-4A70-987F-7AD535DA9038}"/>
              </a:ext>
            </a:extLst>
          </p:cNvPr>
          <p:cNvSpPr>
            <a:spLocks noGrp="1"/>
          </p:cNvSpPr>
          <p:nvPr/>
        </p:nvSpPr>
        <p:spPr>
          <a:xfrm>
            <a:off x="6381750" y="2590800"/>
            <a:ext cx="66675" cy="66675"/>
          </a:xfrm>
          <a:prstGeom prst="rect">
            <a:avLst/>
          </a:prstGeom>
          <a:solidFill>
            <a:srgbClr val="C47F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6E45C47-19CB-4A7F-8D88-B5D1D9C501D0}"/>
              </a:ext>
            </a:extLst>
          </p:cNvPr>
          <p:cNvSpPr>
            <a:spLocks noGrp="1"/>
          </p:cNvSpPr>
          <p:nvPr/>
        </p:nvSpPr>
        <p:spPr>
          <a:xfrm>
            <a:off x="6572250" y="2514600"/>
            <a:ext cx="4572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75" b="0" dirty="0">
                <a:solidFill>
                  <a:srgbClr val="172033"/>
                </a:solidFill>
                <a:latin typeface="Aptos"/>
                <a:ea typeface="Aptos"/>
                <a:cs typeface="Aptos"/>
              </a:rPr>
              <a:t>14-17：顯示文字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2CCFDF4-4A9F-4502-A99D-3D252EE3E3CF}"/>
              </a:ext>
            </a:extLst>
          </p:cNvPr>
          <p:cNvSpPr>
            <a:spLocks noGrp="1"/>
          </p:cNvSpPr>
          <p:nvPr/>
        </p:nvSpPr>
        <p:spPr>
          <a:xfrm>
            <a:off x="6381750" y="3048000"/>
            <a:ext cx="66675" cy="66675"/>
          </a:xfrm>
          <a:prstGeom prst="rect">
            <a:avLst/>
          </a:prstGeom>
          <a:solidFill>
            <a:srgbClr val="C47F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92286EB-0F88-4F26-BDB2-733DC174E13A}"/>
              </a:ext>
            </a:extLst>
          </p:cNvPr>
          <p:cNvSpPr>
            <a:spLocks noGrp="1"/>
          </p:cNvSpPr>
          <p:nvPr/>
        </p:nvSpPr>
        <p:spPr>
          <a:xfrm>
            <a:off x="6572250" y="2971800"/>
            <a:ext cx="4572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75" b="0" dirty="0">
                <a:solidFill>
                  <a:srgbClr val="172033"/>
                </a:solidFill>
                <a:latin typeface="Aptos"/>
                <a:ea typeface="Aptos"/>
                <a:cs typeface="Aptos"/>
              </a:rPr>
              <a:t>18 </a:t>
            </a:r>
            <a:r>
              <a:rPr sz="1275" b="0" dirty="0" err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story_url：劇情</a:t>
            </a:r>
            <a:r>
              <a:rPr sz="1275" b="0" dirty="0">
                <a:solidFill>
                  <a:srgbClr val="172033"/>
                </a:solidFill>
                <a:latin typeface="Aptos"/>
                <a:ea typeface="Aptos"/>
                <a:cs typeface="Aptos"/>
              </a:rPr>
              <a:t> </a:t>
            </a:r>
            <a:r>
              <a:rPr sz="1275" b="0" dirty="0" err="1">
                <a:solidFill>
                  <a:srgbClr val="172033"/>
                </a:solidFill>
                <a:latin typeface="Aptos"/>
                <a:ea typeface="Aptos"/>
                <a:cs typeface="Aptos"/>
              </a:rPr>
              <a:t>iframe</a:t>
            </a:r>
            <a:r>
              <a:rPr sz="1275" b="0" dirty="0">
                <a:solidFill>
                  <a:srgbClr val="172033"/>
                </a:solidFill>
                <a:latin typeface="Aptos"/>
                <a:ea typeface="Aptos"/>
                <a:cs typeface="Aptos"/>
              </a:rPr>
              <a:t> </a:t>
            </a:r>
            <a:r>
              <a:rPr sz="1275" b="0" dirty="0" err="1">
                <a:solidFill>
                  <a:srgbClr val="172033"/>
                </a:solidFill>
                <a:latin typeface="Aptos"/>
                <a:ea typeface="Aptos"/>
                <a:cs typeface="Aptos"/>
              </a:rPr>
              <a:t>的來源</a:t>
            </a:r>
            <a:r>
              <a:rPr sz="1275" b="0" dirty="0">
                <a:solidFill>
                  <a:srgbClr val="172033"/>
                </a:solidFill>
                <a:latin typeface="Aptos"/>
                <a:ea typeface="Aptos"/>
                <a:cs typeface="Aptos"/>
              </a:rPr>
              <a:t>。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C8F91E2-D1F9-4614-BF55-12EBE61256C4}"/>
              </a:ext>
            </a:extLst>
          </p:cNvPr>
          <p:cNvSpPr>
            <a:spLocks noGrp="1"/>
          </p:cNvSpPr>
          <p:nvPr/>
        </p:nvSpPr>
        <p:spPr>
          <a:xfrm>
            <a:off x="6381750" y="3505200"/>
            <a:ext cx="66675" cy="66675"/>
          </a:xfrm>
          <a:prstGeom prst="rect">
            <a:avLst/>
          </a:prstGeom>
          <a:solidFill>
            <a:srgbClr val="C47F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B69514D-08DC-42F0-BA47-465E7C2503EC}"/>
              </a:ext>
            </a:extLst>
          </p:cNvPr>
          <p:cNvSpPr>
            <a:spLocks noGrp="1"/>
          </p:cNvSpPr>
          <p:nvPr/>
        </p:nvSpPr>
        <p:spPr>
          <a:xfrm>
            <a:off x="6572250" y="3429000"/>
            <a:ext cx="4572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75" b="0" dirty="0">
                <a:solidFill>
                  <a:srgbClr val="172033"/>
                </a:solidFill>
                <a:latin typeface="Aptos"/>
                <a:ea typeface="Aptos"/>
                <a:cs typeface="Aptos"/>
              </a:rPr>
              <a:t>19 </a:t>
            </a:r>
            <a:r>
              <a:rPr sz="1275" b="0" dirty="0" err="1">
                <a:solidFill>
                  <a:srgbClr val="172033"/>
                </a:solidFill>
                <a:latin typeface="Aptos"/>
                <a:ea typeface="Aptos"/>
                <a:cs typeface="Aptos"/>
              </a:rPr>
              <a:t>game_url：Jupyter</a:t>
            </a:r>
            <a:r>
              <a:rPr sz="1275" b="0" dirty="0">
                <a:solidFill>
                  <a:srgbClr val="172033"/>
                </a:solidFill>
                <a:latin typeface="Aptos"/>
                <a:ea typeface="Aptos"/>
                <a:cs typeface="Aptos"/>
              </a:rPr>
              <a:t> notebook </a:t>
            </a:r>
            <a:r>
              <a:rPr sz="1275" b="0" dirty="0" err="1">
                <a:solidFill>
                  <a:srgbClr val="172033"/>
                </a:solidFill>
                <a:latin typeface="Aptos"/>
                <a:ea typeface="Aptos"/>
                <a:cs typeface="Aptos"/>
              </a:rPr>
              <a:t>iframe</a:t>
            </a:r>
            <a:r>
              <a:rPr sz="1275" b="0" dirty="0">
                <a:solidFill>
                  <a:srgbClr val="172033"/>
                </a:solidFill>
                <a:latin typeface="Aptos"/>
                <a:ea typeface="Aptos"/>
                <a:cs typeface="Aptos"/>
              </a:rPr>
              <a:t> </a:t>
            </a:r>
            <a:r>
              <a:rPr sz="1275" b="0" dirty="0" err="1">
                <a:solidFill>
                  <a:srgbClr val="172033"/>
                </a:solidFill>
                <a:latin typeface="Aptos"/>
                <a:ea typeface="Aptos"/>
                <a:cs typeface="Aptos"/>
              </a:rPr>
              <a:t>的來源</a:t>
            </a:r>
            <a:r>
              <a:rPr sz="1275" b="0" dirty="0">
                <a:solidFill>
                  <a:srgbClr val="172033"/>
                </a:solidFill>
                <a:latin typeface="Aptos"/>
                <a:ea typeface="Aptos"/>
                <a:cs typeface="Aptos"/>
              </a:rPr>
              <a:t>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B00FF24-23B2-493D-948B-0CA6B9125C4D}"/>
              </a:ext>
            </a:extLst>
          </p:cNvPr>
          <p:cNvSpPr>
            <a:spLocks noGrp="1"/>
          </p:cNvSpPr>
          <p:nvPr/>
        </p:nvSpPr>
        <p:spPr>
          <a:xfrm>
            <a:off x="6381750" y="3962400"/>
            <a:ext cx="66675" cy="66675"/>
          </a:xfrm>
          <a:prstGeom prst="rect">
            <a:avLst/>
          </a:prstGeom>
          <a:solidFill>
            <a:srgbClr val="C47F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66909AB-CB4C-4730-AEFB-73C59FE71020}"/>
              </a:ext>
            </a:extLst>
          </p:cNvPr>
          <p:cNvSpPr>
            <a:spLocks noGrp="1"/>
          </p:cNvSpPr>
          <p:nvPr/>
        </p:nvSpPr>
        <p:spPr>
          <a:xfrm>
            <a:off x="6572250" y="3886200"/>
            <a:ext cx="4572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75" b="0" dirty="0">
                <a:solidFill>
                  <a:srgbClr val="172033"/>
                </a:solidFill>
                <a:latin typeface="Aptos"/>
                <a:ea typeface="Aptos"/>
                <a:cs typeface="Aptos"/>
              </a:rPr>
              <a:t>20 summary：</a:t>
            </a:r>
            <a:r>
              <a:rPr lang="zh-TW" altLang="en-US" sz="1275" dirty="0">
                <a:solidFill>
                  <a:srgbClr val="172033"/>
                </a:solidFill>
                <a:latin typeface="Aptos"/>
                <a:ea typeface="Aptos"/>
                <a:cs typeface="Aptos"/>
              </a:rPr>
              <a:t>關卡描述</a:t>
            </a:r>
            <a:r>
              <a:rPr sz="1275" b="0" dirty="0">
                <a:solidFill>
                  <a:srgbClr val="172033"/>
                </a:solidFill>
                <a:latin typeface="Aptos"/>
                <a:ea typeface="Aptos"/>
                <a:cs typeface="Aptos"/>
              </a:rPr>
              <a:t>。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F23ACA20-16A2-4955-8673-116541B24CD1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10382250" cy="12383"/>
          </a:xfrm>
          <a:prstGeom prst="rect">
            <a:avLst/>
          </a:prstGeom>
          <a:solidFill>
            <a:srgbClr val="D8CEC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98508FE6-CA8F-4A69-94A1-54DE2BD0AA34}"/>
              </a:ext>
            </a:extLst>
          </p:cNvPr>
          <p:cNvSpPr>
            <a:spLocks noGrp="1"/>
          </p:cNvSpPr>
          <p:nvPr/>
        </p:nvSpPr>
        <p:spPr>
          <a:xfrm>
            <a:off x="11106150" y="6200775"/>
            <a:ext cx="514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F6B7A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1772519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>
            <a:extLst>
              <a:ext uri="{FF2B5EF4-FFF2-40B4-BE49-F238E27FC236}">
                <a16:creationId xmlns:a16="http://schemas.microsoft.com/office/drawing/2014/main" id="{2B04F82B-64B5-4217-A737-C69331C7DD6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C8FB1871-DB17-4908-9F7C-12581D4A2ED6}"/>
              </a:ext>
            </a:extLst>
          </p:cNvPr>
          <p:cNvSpPr>
            <a:spLocks noGrp="1"/>
          </p:cNvSpPr>
          <p:nvPr/>
        </p:nvSpPr>
        <p:spPr>
          <a:xfrm>
            <a:off x="419100" y="419100"/>
            <a:ext cx="95250" cy="209550"/>
          </a:xfrm>
          <a:prstGeom prst="rect">
            <a:avLst/>
          </a:prstGeom>
          <a:solidFill>
            <a:srgbClr val="C47F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94E2175-0FB0-4B85-BCF1-630445D018CB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72390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72033"/>
                </a:solidFill>
                <a:latin typeface="Georgia"/>
                <a:ea typeface="Georgia"/>
                <a:cs typeface="Georgia"/>
              </a:defRPr>
            </a:pPr>
            <a:r>
              <a:rPr lang="en-US" altLang="zh-TW" sz="2700" b="1" dirty="0">
                <a:solidFill>
                  <a:srgbClr val="172033"/>
                </a:solidFill>
                <a:latin typeface="Georgia"/>
                <a:ea typeface="Georgia"/>
                <a:cs typeface="Georgia"/>
              </a:rPr>
              <a:t>Django</a:t>
            </a:r>
            <a:r>
              <a:rPr lang="zh-TW" altLang="en-US" sz="2700" b="1" dirty="0">
                <a:solidFill>
                  <a:srgbClr val="172033"/>
                </a:solidFill>
                <a:latin typeface="Georgia"/>
                <a:ea typeface="Georgia"/>
                <a:cs typeface="Georgia"/>
              </a:rPr>
              <a:t> </a:t>
            </a:r>
            <a:r>
              <a:rPr lang="en-US" altLang="zh-TW" sz="2700" b="1" dirty="0">
                <a:solidFill>
                  <a:srgbClr val="172033"/>
                </a:solidFill>
                <a:latin typeface="Georgia"/>
                <a:ea typeface="Georgia"/>
                <a:cs typeface="Georgia"/>
              </a:rPr>
              <a:t>views.py</a:t>
            </a:r>
            <a:r>
              <a:rPr lang="zh-TW" altLang="en-US" sz="2700" b="1" dirty="0">
                <a:solidFill>
                  <a:srgbClr val="172033"/>
                </a:solidFill>
                <a:latin typeface="Georgia"/>
                <a:ea typeface="Georgia"/>
                <a:cs typeface="Georgia"/>
              </a:rPr>
              <a:t> </a:t>
            </a:r>
            <a:r>
              <a:rPr lang="en-US" altLang="zh-TW" sz="2700" b="1" dirty="0">
                <a:solidFill>
                  <a:srgbClr val="172033"/>
                </a:solidFill>
                <a:latin typeface="Georgia"/>
                <a:ea typeface="Georgia"/>
                <a:cs typeface="Georgia"/>
              </a:rPr>
              <a:t>–</a:t>
            </a:r>
            <a:r>
              <a:rPr lang="zh-TW" altLang="en-US" sz="2700" b="1" dirty="0">
                <a:solidFill>
                  <a:srgbClr val="172033"/>
                </a:solidFill>
                <a:latin typeface="Georgia"/>
                <a:ea typeface="Georgia"/>
                <a:cs typeface="Georgia"/>
              </a:rPr>
              <a:t> </a:t>
            </a:r>
            <a:r>
              <a:rPr lang="en-US" altLang="zh-TW" sz="2700" b="1" dirty="0">
                <a:solidFill>
                  <a:srgbClr val="172033"/>
                </a:solidFill>
                <a:latin typeface="Georgia"/>
                <a:ea typeface="Georgia"/>
                <a:cs typeface="Georgia"/>
              </a:rPr>
              <a:t>home(request)</a:t>
            </a:r>
            <a:endParaRPr sz="2700" b="1" dirty="0">
              <a:solidFill>
                <a:srgbClr val="172033"/>
              </a:solidFill>
              <a:latin typeface="Georgia"/>
              <a:ea typeface="Georgia"/>
              <a:cs typeface="Georgia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2D3E486-980C-4AC8-B358-51128A3F6C74}"/>
              </a:ext>
            </a:extLst>
          </p:cNvPr>
          <p:cNvSpPr>
            <a:spLocks noGrp="1"/>
          </p:cNvSpPr>
          <p:nvPr/>
        </p:nvSpPr>
        <p:spPr>
          <a:xfrm>
            <a:off x="10058400" y="457200"/>
            <a:ext cx="152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Django pages report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89537A4-02EA-4C1B-B197-6D4A06CE8885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10382250" cy="12383"/>
          </a:xfrm>
          <a:prstGeom prst="rect">
            <a:avLst/>
          </a:prstGeom>
          <a:solidFill>
            <a:srgbClr val="D8CEC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08D8732-2C72-4427-AE4A-E891D9F1C9A0}"/>
              </a:ext>
            </a:extLst>
          </p:cNvPr>
          <p:cNvSpPr>
            <a:spLocks noGrp="1"/>
          </p:cNvSpPr>
          <p:nvPr/>
        </p:nvSpPr>
        <p:spPr>
          <a:xfrm>
            <a:off x="11106150" y="6200775"/>
            <a:ext cx="514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lang="en-US" sz="975" b="1" dirty="0">
                <a:solidFill>
                  <a:srgbClr val="5F6B7A"/>
                </a:solidFill>
                <a:latin typeface="Aptos"/>
                <a:ea typeface="Aptos"/>
                <a:cs typeface="Aptos"/>
              </a:rPr>
              <a:t>02</a:t>
            </a:r>
            <a:endParaRPr sz="975" b="1" dirty="0">
              <a:solidFill>
                <a:srgbClr val="5F6B7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735266F-DFD0-F0A1-08C5-04512D60FD4E}"/>
              </a:ext>
            </a:extLst>
          </p:cNvPr>
          <p:cNvSpPr/>
          <p:nvPr/>
        </p:nvSpPr>
        <p:spPr>
          <a:xfrm>
            <a:off x="9205210" y="1412956"/>
            <a:ext cx="2986790" cy="258532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zh-TW" alt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這邊是當使用者進入到首頁就會執行這段，他會讓</a:t>
            </a:r>
            <a:endParaRPr lang="en-US" altLang="zh-TW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lang="en-US" altLang="zh-TW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altLang="zh-TW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1.levels</a:t>
            </a:r>
            <a:r>
              <a:rPr lang="zh-TW" alt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字典用</a:t>
            </a:r>
            <a:r>
              <a:rPr lang="en-US" altLang="zh-TW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id</a:t>
            </a:r>
            <a:r>
              <a:rPr lang="zh-TW" alt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進行排序</a:t>
            </a:r>
            <a:endParaRPr lang="en-US" altLang="zh-TW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altLang="zh-TW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2.</a:t>
            </a:r>
            <a:r>
              <a:rPr lang="zh-TW" alt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使用</a:t>
            </a:r>
            <a:r>
              <a:rPr lang="en-US" altLang="zh-TW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html</a:t>
            </a:r>
            <a:r>
              <a:rPr lang="zh-TW" alt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模板</a:t>
            </a:r>
            <a:endParaRPr lang="en-US" altLang="zh-TW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altLang="zh-TW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3.</a:t>
            </a:r>
            <a:r>
              <a:rPr lang="zh-TW" alt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把</a:t>
            </a:r>
            <a:r>
              <a:rPr lang="en-US" altLang="zh-TW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levels</a:t>
            </a:r>
            <a:r>
              <a:rPr lang="zh-TW" alt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回傳給網頁</a:t>
            </a:r>
            <a:endParaRPr lang="en-US" altLang="zh-TW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altLang="zh-TW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4.</a:t>
            </a:r>
            <a:r>
              <a:rPr lang="zh-TW" alt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使用</a:t>
            </a:r>
            <a:r>
              <a:rPr lang="en-US" altLang="zh-TW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pages/home.html</a:t>
            </a:r>
            <a:r>
              <a:rPr lang="zh-TW" alt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這個模板</a:t>
            </a:r>
            <a:endParaRPr lang="en-US" altLang="zh-TW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altLang="zh-TW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5.</a:t>
            </a:r>
            <a:r>
              <a:rPr lang="zh-TW" alt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最後在轉成</a:t>
            </a:r>
            <a:r>
              <a:rPr lang="en-US" altLang="zh-TW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json</a:t>
            </a:r>
            <a:r>
              <a:rPr lang="zh-TW" alt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格式。</a:t>
            </a:r>
            <a:endParaRPr lang="zh-TW" alt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DECF9FD4-E0F7-7C1B-E077-506DB9B8FB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400174"/>
            <a:ext cx="8493708" cy="4702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41290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>
            <a:extLst>
              <a:ext uri="{FF2B5EF4-FFF2-40B4-BE49-F238E27FC236}">
                <a16:creationId xmlns:a16="http://schemas.microsoft.com/office/drawing/2014/main" id="{2B04F82B-64B5-4217-A737-C69331C7DD6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C8FB1871-DB17-4908-9F7C-12581D4A2ED6}"/>
              </a:ext>
            </a:extLst>
          </p:cNvPr>
          <p:cNvSpPr>
            <a:spLocks noGrp="1"/>
          </p:cNvSpPr>
          <p:nvPr/>
        </p:nvSpPr>
        <p:spPr>
          <a:xfrm>
            <a:off x="419100" y="419100"/>
            <a:ext cx="95250" cy="209550"/>
          </a:xfrm>
          <a:prstGeom prst="rect">
            <a:avLst/>
          </a:prstGeom>
          <a:solidFill>
            <a:srgbClr val="C47F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94E2175-0FB0-4B85-BCF1-630445D018CB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72390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72033"/>
                </a:solidFill>
                <a:latin typeface="Georgia"/>
                <a:ea typeface="Georgia"/>
                <a:cs typeface="Georgia"/>
              </a:defRPr>
            </a:pPr>
            <a:r>
              <a:rPr lang="en-US" altLang="zh-TW" sz="2700" b="1" dirty="0">
                <a:solidFill>
                  <a:srgbClr val="172033"/>
                </a:solidFill>
                <a:latin typeface="Georgia"/>
                <a:ea typeface="Georgia"/>
                <a:cs typeface="Georgia"/>
              </a:rPr>
              <a:t>Django</a:t>
            </a:r>
            <a:r>
              <a:rPr lang="zh-TW" altLang="en-US" sz="2700" b="1" dirty="0">
                <a:solidFill>
                  <a:srgbClr val="172033"/>
                </a:solidFill>
                <a:latin typeface="Georgia"/>
                <a:ea typeface="Georgia"/>
                <a:cs typeface="Georgia"/>
              </a:rPr>
              <a:t> </a:t>
            </a:r>
            <a:r>
              <a:rPr lang="en-US" altLang="zh-TW" sz="2700" b="1" dirty="0">
                <a:solidFill>
                  <a:srgbClr val="172033"/>
                </a:solidFill>
                <a:latin typeface="Georgia"/>
                <a:ea typeface="Georgia"/>
                <a:cs typeface="Georgia"/>
              </a:rPr>
              <a:t>views.py</a:t>
            </a:r>
            <a:r>
              <a:rPr lang="zh-TW" altLang="en-US" sz="2700" b="1" dirty="0">
                <a:solidFill>
                  <a:srgbClr val="172033"/>
                </a:solidFill>
                <a:latin typeface="Georgia"/>
                <a:ea typeface="Georgia"/>
                <a:cs typeface="Georgia"/>
              </a:rPr>
              <a:t> </a:t>
            </a:r>
            <a:r>
              <a:rPr lang="en-US" altLang="zh-TW" sz="2700" b="1" dirty="0">
                <a:solidFill>
                  <a:srgbClr val="172033"/>
                </a:solidFill>
                <a:latin typeface="Georgia"/>
                <a:ea typeface="Georgia"/>
                <a:cs typeface="Georgia"/>
              </a:rPr>
              <a:t>–</a:t>
            </a:r>
            <a:r>
              <a:rPr lang="zh-TW" altLang="en-US" sz="2700" b="1" dirty="0">
                <a:solidFill>
                  <a:srgbClr val="172033"/>
                </a:solidFill>
                <a:latin typeface="Georgia"/>
                <a:ea typeface="Georgia"/>
                <a:cs typeface="Georgia"/>
              </a:rPr>
              <a:t> </a:t>
            </a:r>
            <a:r>
              <a:rPr lang="en-US" altLang="zh-TW" sz="2700" b="1" dirty="0">
                <a:solidFill>
                  <a:srgbClr val="172033"/>
                </a:solidFill>
                <a:latin typeface="Georgia"/>
                <a:ea typeface="Georgia"/>
                <a:cs typeface="Georgia"/>
              </a:rPr>
              <a:t>levels</a:t>
            </a:r>
            <a:r>
              <a:rPr lang="zh-TW" altLang="en-US" sz="2700" b="1" dirty="0">
                <a:solidFill>
                  <a:srgbClr val="172033"/>
                </a:solidFill>
                <a:latin typeface="Georgia"/>
                <a:ea typeface="Georgia"/>
                <a:cs typeface="Georgia"/>
              </a:rPr>
              <a:t>字典</a:t>
            </a:r>
            <a:endParaRPr sz="2700" b="1" dirty="0">
              <a:solidFill>
                <a:srgbClr val="172033"/>
              </a:solidFill>
              <a:latin typeface="Georgia"/>
              <a:ea typeface="Georgia"/>
              <a:cs typeface="Georgia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2D3E486-980C-4AC8-B358-51128A3F6C74}"/>
              </a:ext>
            </a:extLst>
          </p:cNvPr>
          <p:cNvSpPr>
            <a:spLocks noGrp="1"/>
          </p:cNvSpPr>
          <p:nvPr/>
        </p:nvSpPr>
        <p:spPr>
          <a:xfrm>
            <a:off x="10058400" y="457200"/>
            <a:ext cx="152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Django pages report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89537A4-02EA-4C1B-B197-6D4A06CE8885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10382250" cy="12383"/>
          </a:xfrm>
          <a:prstGeom prst="rect">
            <a:avLst/>
          </a:prstGeom>
          <a:solidFill>
            <a:srgbClr val="D8CEC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08D8732-2C72-4427-AE4A-E891D9F1C9A0}"/>
              </a:ext>
            </a:extLst>
          </p:cNvPr>
          <p:cNvSpPr>
            <a:spLocks noGrp="1"/>
          </p:cNvSpPr>
          <p:nvPr/>
        </p:nvSpPr>
        <p:spPr>
          <a:xfrm>
            <a:off x="11106150" y="6200775"/>
            <a:ext cx="514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lang="en-US" sz="975" b="1" dirty="0">
                <a:solidFill>
                  <a:srgbClr val="5F6B7A"/>
                </a:solidFill>
                <a:latin typeface="Aptos"/>
                <a:ea typeface="Aptos"/>
                <a:cs typeface="Aptos"/>
              </a:rPr>
              <a:t>02</a:t>
            </a:r>
            <a:endParaRPr sz="975" b="1" dirty="0">
              <a:solidFill>
                <a:srgbClr val="5F6B7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735266F-DFD0-F0A1-08C5-04512D60FD4E}"/>
              </a:ext>
            </a:extLst>
          </p:cNvPr>
          <p:cNvSpPr/>
          <p:nvPr/>
        </p:nvSpPr>
        <p:spPr>
          <a:xfrm>
            <a:off x="8986236" y="1143000"/>
            <a:ext cx="2986790" cy="397031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zh-TW" alt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這邊是管理使用者程式碼回傳的地方，目前還沒做完，之後會改善這地方，但他會做這些動作。</a:t>
            </a:r>
            <a:endParaRPr lang="en-US" altLang="zh-TW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lang="en-US" altLang="zh-TW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altLang="zh-TW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1. </a:t>
            </a:r>
            <a:r>
              <a:rPr lang="en-US" altLang="zh-TW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submit_solution</a:t>
            </a:r>
            <a:r>
              <a:rPr lang="zh-TW" alt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被請求時，會執行下面的。</a:t>
            </a:r>
            <a:endParaRPr lang="en-US" altLang="zh-TW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altLang="zh-TW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2.</a:t>
            </a:r>
            <a:r>
              <a:rPr lang="zh-TW" alt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檢查是不是</a:t>
            </a:r>
            <a:r>
              <a:rPr lang="en-US" altLang="zh-TW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POST</a:t>
            </a:r>
          </a:p>
          <a:p>
            <a:r>
              <a:rPr lang="en-US" altLang="zh-TW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3.</a:t>
            </a:r>
            <a:r>
              <a:rPr lang="zh-TW" alt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從送來得表單取得資料</a:t>
            </a:r>
            <a:endParaRPr lang="en-US" altLang="zh-TW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altLang="zh-TW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4.</a:t>
            </a:r>
            <a:r>
              <a:rPr lang="zh-TW" alt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取得提交的程式碼</a:t>
            </a:r>
            <a:endParaRPr lang="en-US" altLang="zh-TW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altLang="zh-TW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5.</a:t>
            </a:r>
            <a:r>
              <a:rPr lang="zh-TW" alt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獲取當前時間</a:t>
            </a:r>
            <a:endParaRPr lang="en-US" altLang="zh-TW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altLang="zh-TW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6.</a:t>
            </a:r>
            <a:r>
              <a:rPr lang="zh-TW" alt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尋找或建立資料夾</a:t>
            </a:r>
            <a:endParaRPr lang="en-US" altLang="zh-TW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altLang="zh-TW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7.</a:t>
            </a:r>
            <a:r>
              <a:rPr lang="zh-TW" alt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設定檔名</a:t>
            </a:r>
            <a:endParaRPr lang="en-US" altLang="zh-TW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altLang="zh-TW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8.</a:t>
            </a:r>
            <a:r>
              <a:rPr lang="zh-TW" alt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成功訊息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7316F5CD-F44B-5843-CC3A-7141662212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50" y="1197608"/>
            <a:ext cx="8351858" cy="5269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3070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 39">
            <a:extLst>
              <a:ext uri="{FF2B5EF4-FFF2-40B4-BE49-F238E27FC236}">
                <a16:creationId xmlns:a16="http://schemas.microsoft.com/office/drawing/2014/main" id="{9C6938D8-03CC-4B69-8BBB-7AC19731E14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BFABB772-733B-4F3F-B901-A74EDCC0097B}"/>
              </a:ext>
            </a:extLst>
          </p:cNvPr>
          <p:cNvSpPr>
            <a:spLocks noGrp="1"/>
          </p:cNvSpPr>
          <p:nvPr/>
        </p:nvSpPr>
        <p:spPr>
          <a:xfrm>
            <a:off x="419100" y="419100"/>
            <a:ext cx="95250" cy="209550"/>
          </a:xfrm>
          <a:prstGeom prst="rect">
            <a:avLst/>
          </a:prstGeom>
          <a:solidFill>
            <a:srgbClr val="C47F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57D5992-C960-4332-B7F0-D6A9CD339568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72390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72033"/>
                </a:solidFill>
                <a:latin typeface="Georgia"/>
                <a:ea typeface="Georgia"/>
                <a:cs typeface="Georgia"/>
              </a:defRPr>
            </a:pPr>
            <a:r>
              <a:rPr lang="en-US" altLang="zh-TW" sz="2700" b="1" dirty="0">
                <a:solidFill>
                  <a:srgbClr val="172033"/>
                </a:solidFill>
                <a:latin typeface="Georgia"/>
                <a:ea typeface="Georgia"/>
                <a:cs typeface="Georgia"/>
              </a:rPr>
              <a:t>Home.html</a:t>
            </a:r>
            <a:r>
              <a:rPr lang="zh-TW" altLang="en-US" sz="2700" b="1" dirty="0">
                <a:solidFill>
                  <a:srgbClr val="172033"/>
                </a:solidFill>
                <a:latin typeface="Georgia"/>
                <a:ea typeface="Georgia"/>
                <a:cs typeface="Georgia"/>
              </a:rPr>
              <a:t>結構</a:t>
            </a:r>
            <a:endParaRPr sz="2700" b="1" dirty="0">
              <a:solidFill>
                <a:srgbClr val="172033"/>
              </a:solidFill>
              <a:latin typeface="Georgia"/>
              <a:ea typeface="Georgia"/>
              <a:cs typeface="Georgia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8C42D59-2130-48EF-910E-AA8E78B2A32E}"/>
              </a:ext>
            </a:extLst>
          </p:cNvPr>
          <p:cNvSpPr>
            <a:spLocks noGrp="1"/>
          </p:cNvSpPr>
          <p:nvPr/>
        </p:nvSpPr>
        <p:spPr>
          <a:xfrm>
            <a:off x="10058400" y="457200"/>
            <a:ext cx="152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Django pages report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E22EBF1-8EA1-4F70-82D5-C83365BF2929}"/>
              </a:ext>
            </a:extLst>
          </p:cNvPr>
          <p:cNvSpPr>
            <a:spLocks/>
          </p:cNvSpPr>
          <p:nvPr/>
        </p:nvSpPr>
        <p:spPr>
          <a:xfrm>
            <a:off x="514350" y="1421395"/>
            <a:ext cx="5219700" cy="1340855"/>
          </a:xfrm>
          <a:prstGeom prst="rect">
            <a:avLst/>
          </a:prstGeom>
          <a:solidFill>
            <a:srgbClr val="FFFDF8"/>
          </a:solidFill>
          <a:ln w="9525">
            <a:solidFill>
              <a:srgbClr val="D8CEC0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9E8A5A6-51A7-463D-B601-DEEF1D0A8A07}"/>
              </a:ext>
            </a:extLst>
          </p:cNvPr>
          <p:cNvSpPr>
            <a:spLocks/>
          </p:cNvSpPr>
          <p:nvPr/>
        </p:nvSpPr>
        <p:spPr>
          <a:xfrm>
            <a:off x="733425" y="1937433"/>
            <a:ext cx="8382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C47F2C"/>
                </a:solidFill>
                <a:latin typeface="Aptos"/>
                <a:ea typeface="Aptos"/>
                <a:cs typeface="Aptos"/>
              </a:defRPr>
            </a:pPr>
            <a:r>
              <a:rPr sz="1650" b="1" dirty="0">
                <a:solidFill>
                  <a:srgbClr val="C47F2C"/>
                </a:solidFill>
                <a:latin typeface="Aptos"/>
                <a:ea typeface="Aptos"/>
                <a:cs typeface="Aptos"/>
              </a:rPr>
              <a:t>1-7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67FDBED-6CEE-4A5D-90FC-38F895DA4493}"/>
              </a:ext>
            </a:extLst>
          </p:cNvPr>
          <p:cNvSpPr>
            <a:spLocks/>
          </p:cNvSpPr>
          <p:nvPr/>
        </p:nvSpPr>
        <p:spPr>
          <a:xfrm>
            <a:off x="1371600" y="1632633"/>
            <a:ext cx="2000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 dirty="0">
                <a:solidFill>
                  <a:srgbClr val="172033"/>
                </a:solidFill>
                <a:latin typeface="Aptos"/>
                <a:ea typeface="Aptos"/>
                <a:cs typeface="Aptos"/>
              </a:rPr>
              <a:t>HTML head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A6E7A01-49BF-4CFC-860A-7191D40CC5DA}"/>
              </a:ext>
            </a:extLst>
          </p:cNvPr>
          <p:cNvSpPr>
            <a:spLocks/>
          </p:cNvSpPr>
          <p:nvPr/>
        </p:nvSpPr>
        <p:spPr>
          <a:xfrm>
            <a:off x="1371600" y="2000250"/>
            <a:ext cx="3524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600" b="0" dirty="0" err="1">
                <a:solidFill>
                  <a:srgbClr val="5F6B7A"/>
                </a:solidFill>
                <a:latin typeface="Aptos"/>
                <a:ea typeface="Aptos"/>
                <a:cs typeface="Aptos"/>
              </a:rPr>
              <a:t>文件型別、語言、編碼、viewport、標題與</a:t>
            </a:r>
            <a:r>
              <a:rPr sz="1600" b="0" dirty="0">
                <a:solidFill>
                  <a:srgbClr val="5F6B7A"/>
                </a:solidFill>
                <a:latin typeface="Aptos"/>
                <a:ea typeface="Aptos"/>
                <a:cs typeface="Aptos"/>
              </a:rPr>
              <a:t> style </a:t>
            </a:r>
            <a:r>
              <a:rPr sz="1600" b="0" dirty="0" err="1">
                <a:solidFill>
                  <a:srgbClr val="5F6B7A"/>
                </a:solidFill>
                <a:latin typeface="Aptos"/>
                <a:ea typeface="Aptos"/>
                <a:cs typeface="Aptos"/>
              </a:rPr>
              <a:t>開始</a:t>
            </a:r>
            <a:r>
              <a:rPr sz="1600" b="0" dirty="0">
                <a:solidFill>
                  <a:srgbClr val="5F6B7A"/>
                </a:solidFill>
                <a:latin typeface="Aptos"/>
                <a:ea typeface="Aptos"/>
                <a:cs typeface="Aptos"/>
              </a:rPr>
              <a:t>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140E9D9-DD34-4C92-9A71-F2DE238E8FD9}"/>
              </a:ext>
            </a:extLst>
          </p:cNvPr>
          <p:cNvSpPr>
            <a:spLocks noGrp="1"/>
          </p:cNvSpPr>
          <p:nvPr/>
        </p:nvSpPr>
        <p:spPr>
          <a:xfrm>
            <a:off x="5867399" y="1433588"/>
            <a:ext cx="5591175" cy="1328662"/>
          </a:xfrm>
          <a:prstGeom prst="rect">
            <a:avLst/>
          </a:prstGeom>
          <a:solidFill>
            <a:srgbClr val="EAF5F6"/>
          </a:solidFill>
          <a:ln w="9525">
            <a:solidFill>
              <a:srgbClr val="D8CEC0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77D9906-D631-457C-ABF9-87221D50D1A6}"/>
              </a:ext>
            </a:extLst>
          </p:cNvPr>
          <p:cNvSpPr>
            <a:spLocks noGrp="1"/>
          </p:cNvSpPr>
          <p:nvPr/>
        </p:nvSpPr>
        <p:spPr>
          <a:xfrm>
            <a:off x="514350" y="2888940"/>
            <a:ext cx="5219700" cy="1284367"/>
          </a:xfrm>
          <a:prstGeom prst="rect">
            <a:avLst/>
          </a:prstGeom>
          <a:solidFill>
            <a:srgbClr val="FFFDF8"/>
          </a:solidFill>
          <a:ln w="9525">
            <a:solidFill>
              <a:srgbClr val="D8CEC0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8017A8D-0DBC-4B10-BAF1-D7E6475205B6}"/>
              </a:ext>
            </a:extLst>
          </p:cNvPr>
          <p:cNvSpPr>
            <a:spLocks noGrp="1"/>
          </p:cNvSpPr>
          <p:nvPr/>
        </p:nvSpPr>
        <p:spPr>
          <a:xfrm>
            <a:off x="678807" y="3346604"/>
            <a:ext cx="8382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C47F2C"/>
                </a:solidFill>
                <a:latin typeface="Aptos"/>
                <a:ea typeface="Aptos"/>
                <a:cs typeface="Aptos"/>
              </a:defRPr>
            </a:pPr>
            <a:r>
              <a:rPr sz="1650" b="1" dirty="0">
                <a:solidFill>
                  <a:srgbClr val="C47F2C"/>
                </a:solidFill>
                <a:latin typeface="Aptos"/>
                <a:ea typeface="Aptos"/>
                <a:cs typeface="Aptos"/>
              </a:rPr>
              <a:t>8-40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94BE8AA-0162-4112-AE6F-563D781A3DA8}"/>
              </a:ext>
            </a:extLst>
          </p:cNvPr>
          <p:cNvSpPr>
            <a:spLocks noGrp="1"/>
          </p:cNvSpPr>
          <p:nvPr/>
        </p:nvSpPr>
        <p:spPr>
          <a:xfrm>
            <a:off x="1387034" y="3468949"/>
            <a:ext cx="3524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600" b="0" dirty="0" err="1">
                <a:solidFill>
                  <a:srgbClr val="5F6B7A"/>
                </a:solidFill>
                <a:latin typeface="Aptos"/>
                <a:ea typeface="Aptos"/>
                <a:cs typeface="Aptos"/>
              </a:rPr>
              <a:t>box-sizing、平滑捲動、body</a:t>
            </a:r>
            <a:r>
              <a:rPr sz="1600" b="0" dirty="0">
                <a:solidFill>
                  <a:srgbClr val="5F6B7A"/>
                </a:solidFill>
                <a:latin typeface="Aptos"/>
                <a:ea typeface="Aptos"/>
                <a:cs typeface="Aptos"/>
              </a:rPr>
              <a:t> </a:t>
            </a:r>
            <a:r>
              <a:rPr sz="1600" b="0" dirty="0" err="1">
                <a:solidFill>
                  <a:srgbClr val="5F6B7A"/>
                </a:solidFill>
                <a:latin typeface="Aptos"/>
                <a:ea typeface="Aptos"/>
                <a:cs typeface="Aptos"/>
              </a:rPr>
              <a:t>背景、字體、按鈕游標</a:t>
            </a:r>
            <a:r>
              <a:rPr sz="1600" b="0" dirty="0">
                <a:solidFill>
                  <a:srgbClr val="5F6B7A"/>
                </a:solidFill>
                <a:latin typeface="Aptos"/>
                <a:ea typeface="Aptos"/>
                <a:cs typeface="Aptos"/>
              </a:rPr>
              <a:t>。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96A1581-94CA-409D-9D30-6A2607E4CF3F}"/>
              </a:ext>
            </a:extLst>
          </p:cNvPr>
          <p:cNvSpPr>
            <a:spLocks noGrp="1"/>
          </p:cNvSpPr>
          <p:nvPr/>
        </p:nvSpPr>
        <p:spPr>
          <a:xfrm>
            <a:off x="5867399" y="2895599"/>
            <a:ext cx="5591174" cy="1277707"/>
          </a:xfrm>
          <a:prstGeom prst="rect">
            <a:avLst/>
          </a:prstGeom>
          <a:solidFill>
            <a:srgbClr val="EAF5F6"/>
          </a:solidFill>
          <a:ln w="9525">
            <a:solidFill>
              <a:srgbClr val="D8CEC0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25E2D83-C036-4D70-BE9B-C7C34A63E0C4}"/>
              </a:ext>
            </a:extLst>
          </p:cNvPr>
          <p:cNvSpPr>
            <a:spLocks noGrp="1"/>
          </p:cNvSpPr>
          <p:nvPr/>
        </p:nvSpPr>
        <p:spPr>
          <a:xfrm>
            <a:off x="500482" y="5668487"/>
            <a:ext cx="5233567" cy="951388"/>
          </a:xfrm>
          <a:prstGeom prst="rect">
            <a:avLst/>
          </a:prstGeom>
          <a:solidFill>
            <a:srgbClr val="FFFDF8"/>
          </a:solidFill>
          <a:ln w="9525">
            <a:solidFill>
              <a:srgbClr val="D8CEC0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8F410FCE-9628-4EA2-B893-4719F5F397C8}"/>
              </a:ext>
            </a:extLst>
          </p:cNvPr>
          <p:cNvSpPr>
            <a:spLocks noGrp="1"/>
          </p:cNvSpPr>
          <p:nvPr/>
        </p:nvSpPr>
        <p:spPr>
          <a:xfrm>
            <a:off x="6791325" y="1707787"/>
            <a:ext cx="2000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 dirty="0" err="1">
                <a:solidFill>
                  <a:srgbClr val="172033"/>
                </a:solidFill>
                <a:latin typeface="Aptos"/>
                <a:ea typeface="Aptos"/>
                <a:cs typeface="Aptos"/>
              </a:rPr>
              <a:t>橫向地圖</a:t>
            </a:r>
            <a:endParaRPr sz="1350" b="1" dirty="0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F5212F1-4845-474F-8770-4FAB31BCEB2F}"/>
              </a:ext>
            </a:extLst>
          </p:cNvPr>
          <p:cNvSpPr>
            <a:spLocks noGrp="1"/>
          </p:cNvSpPr>
          <p:nvPr/>
        </p:nvSpPr>
        <p:spPr>
          <a:xfrm>
            <a:off x="6877051" y="1994583"/>
            <a:ext cx="3524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600" b="0" dirty="0" err="1">
                <a:solidFill>
                  <a:srgbClr val="5F6B7A"/>
                </a:solidFill>
                <a:latin typeface="Aptos"/>
                <a:ea typeface="Aptos"/>
                <a:cs typeface="Aptos"/>
              </a:rPr>
              <a:t>map-window、map-track、道路線、level-node、島嶼與關卡文字</a:t>
            </a:r>
            <a:r>
              <a:rPr sz="1600" b="0" dirty="0">
                <a:solidFill>
                  <a:srgbClr val="5F6B7A"/>
                </a:solidFill>
                <a:latin typeface="Aptos"/>
                <a:ea typeface="Aptos"/>
                <a:cs typeface="Aptos"/>
              </a:rPr>
              <a:t>。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B5BC9C6-6834-471F-86A9-BDBD1DB19725}"/>
              </a:ext>
            </a:extLst>
          </p:cNvPr>
          <p:cNvSpPr>
            <a:spLocks noGrp="1"/>
          </p:cNvSpPr>
          <p:nvPr/>
        </p:nvSpPr>
        <p:spPr>
          <a:xfrm>
            <a:off x="5867400" y="4345623"/>
            <a:ext cx="5591174" cy="1277707"/>
          </a:xfrm>
          <a:prstGeom prst="rect">
            <a:avLst/>
          </a:prstGeom>
          <a:solidFill>
            <a:srgbClr val="EAF5F6"/>
          </a:solidFill>
          <a:ln w="9525">
            <a:solidFill>
              <a:srgbClr val="D8CEC0"/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1B226FC-938B-4A33-A47B-BCF444E973E0}"/>
              </a:ext>
            </a:extLst>
          </p:cNvPr>
          <p:cNvSpPr>
            <a:spLocks noGrp="1"/>
          </p:cNvSpPr>
          <p:nvPr/>
        </p:nvSpPr>
        <p:spPr>
          <a:xfrm>
            <a:off x="5915991" y="3378723"/>
            <a:ext cx="8382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C47F2C"/>
                </a:solidFill>
                <a:latin typeface="Aptos"/>
                <a:ea typeface="Aptos"/>
                <a:cs typeface="Aptos"/>
              </a:defRPr>
            </a:pPr>
            <a:r>
              <a:rPr sz="1650" b="1" dirty="0">
                <a:solidFill>
                  <a:srgbClr val="C47F2C"/>
                </a:solidFill>
                <a:latin typeface="Aptos"/>
                <a:ea typeface="Aptos"/>
                <a:cs typeface="Aptos"/>
              </a:rPr>
              <a:t>283-435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4E9EE8A0-8844-46E9-945A-1FFCC439A33C}"/>
              </a:ext>
            </a:extLst>
          </p:cNvPr>
          <p:cNvSpPr>
            <a:spLocks noGrp="1"/>
          </p:cNvSpPr>
          <p:nvPr/>
        </p:nvSpPr>
        <p:spPr>
          <a:xfrm>
            <a:off x="6791325" y="3156226"/>
            <a:ext cx="2000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 dirty="0" err="1">
                <a:solidFill>
                  <a:srgbClr val="172033"/>
                </a:solidFill>
                <a:latin typeface="Aptos"/>
                <a:ea typeface="Aptos"/>
                <a:cs typeface="Aptos"/>
              </a:rPr>
              <a:t>詳情面板</a:t>
            </a:r>
            <a:endParaRPr sz="1350" b="1" dirty="0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14CB962A-2199-48AD-8D56-0820C59B7960}"/>
              </a:ext>
            </a:extLst>
          </p:cNvPr>
          <p:cNvSpPr>
            <a:spLocks noGrp="1"/>
          </p:cNvSpPr>
          <p:nvPr/>
        </p:nvSpPr>
        <p:spPr>
          <a:xfrm>
            <a:off x="6798683" y="3468212"/>
            <a:ext cx="3524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600" b="0" dirty="0" err="1">
                <a:solidFill>
                  <a:srgbClr val="5F6B7A"/>
                </a:solidFill>
                <a:latin typeface="Aptos"/>
                <a:ea typeface="Aptos"/>
                <a:cs typeface="Aptos"/>
              </a:rPr>
              <a:t>detail-panel、tabs、iframe、統計卡、textarea、status、user-name</a:t>
            </a:r>
            <a:r>
              <a:rPr sz="1600" b="0" dirty="0">
                <a:solidFill>
                  <a:srgbClr val="5F6B7A"/>
                </a:solidFill>
                <a:latin typeface="Aptos"/>
                <a:ea typeface="Aptos"/>
                <a:cs typeface="Aptos"/>
              </a:rPr>
              <a:t>。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42513CB3-3440-417E-BDDB-778B3CCCF48F}"/>
              </a:ext>
            </a:extLst>
          </p:cNvPr>
          <p:cNvSpPr>
            <a:spLocks noGrp="1"/>
          </p:cNvSpPr>
          <p:nvPr/>
        </p:nvSpPr>
        <p:spPr>
          <a:xfrm>
            <a:off x="514350" y="4300414"/>
            <a:ext cx="5219700" cy="1240966"/>
          </a:xfrm>
          <a:prstGeom prst="rect">
            <a:avLst/>
          </a:prstGeom>
          <a:solidFill>
            <a:srgbClr val="FFFDF8"/>
          </a:solidFill>
          <a:ln w="9525">
            <a:solidFill>
              <a:srgbClr val="D8CEC0"/>
            </a:solidFill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502A935C-6BC5-440E-AE7E-9BD6EC1E28DA}"/>
              </a:ext>
            </a:extLst>
          </p:cNvPr>
          <p:cNvSpPr>
            <a:spLocks noGrp="1"/>
          </p:cNvSpPr>
          <p:nvPr/>
        </p:nvSpPr>
        <p:spPr>
          <a:xfrm>
            <a:off x="5960483" y="4797071"/>
            <a:ext cx="8382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C47F2C"/>
                </a:solidFill>
                <a:latin typeface="Aptos"/>
                <a:ea typeface="Aptos"/>
                <a:cs typeface="Aptos"/>
              </a:defRPr>
            </a:pPr>
            <a:r>
              <a:rPr sz="1650" b="1" dirty="0">
                <a:solidFill>
                  <a:srgbClr val="C47F2C"/>
                </a:solidFill>
                <a:latin typeface="Aptos"/>
                <a:ea typeface="Aptos"/>
                <a:cs typeface="Aptos"/>
              </a:rPr>
              <a:t>436-459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43E252C2-6E84-42F6-ACD8-E5A3167A2A58}"/>
              </a:ext>
            </a:extLst>
          </p:cNvPr>
          <p:cNvSpPr>
            <a:spLocks noGrp="1"/>
          </p:cNvSpPr>
          <p:nvPr/>
        </p:nvSpPr>
        <p:spPr>
          <a:xfrm>
            <a:off x="6798683" y="4577997"/>
            <a:ext cx="2000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 dirty="0">
                <a:solidFill>
                  <a:srgbClr val="172033"/>
                </a:solidFill>
                <a:latin typeface="Aptos"/>
                <a:ea typeface="Aptos"/>
                <a:cs typeface="Aptos"/>
              </a:rPr>
              <a:t>RWD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1B2EAF28-988E-4D5A-955A-ED5ADFA15FD9}"/>
              </a:ext>
            </a:extLst>
          </p:cNvPr>
          <p:cNvSpPr>
            <a:spLocks noGrp="1"/>
          </p:cNvSpPr>
          <p:nvPr/>
        </p:nvSpPr>
        <p:spPr>
          <a:xfrm>
            <a:off x="6798683" y="4896190"/>
            <a:ext cx="3524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600" b="0" dirty="0" err="1">
                <a:solidFill>
                  <a:srgbClr val="5F6B7A"/>
                </a:solidFill>
                <a:latin typeface="Aptos"/>
                <a:ea typeface="Aptos"/>
                <a:cs typeface="Aptos"/>
              </a:rPr>
              <a:t>小螢幕改成直向排列，grid</a:t>
            </a:r>
            <a:r>
              <a:rPr sz="1600" b="0" dirty="0">
                <a:solidFill>
                  <a:srgbClr val="5F6B7A"/>
                </a:solidFill>
                <a:latin typeface="Aptos"/>
                <a:ea typeface="Aptos"/>
                <a:cs typeface="Aptos"/>
              </a:rPr>
              <a:t> </a:t>
            </a:r>
            <a:r>
              <a:rPr sz="1600" b="0" dirty="0" err="1">
                <a:solidFill>
                  <a:srgbClr val="5F6B7A"/>
                </a:solidFill>
                <a:latin typeface="Aptos"/>
                <a:ea typeface="Aptos"/>
                <a:cs typeface="Aptos"/>
              </a:rPr>
              <a:t>欄數改成一欄</a:t>
            </a:r>
            <a:r>
              <a:rPr sz="1600" b="0" dirty="0">
                <a:solidFill>
                  <a:srgbClr val="5F6B7A"/>
                </a:solidFill>
                <a:latin typeface="Aptos"/>
                <a:ea typeface="Aptos"/>
                <a:cs typeface="Aptos"/>
              </a:rPr>
              <a:t>。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40B3138-34BE-413D-ACDC-FE0E31B62158}"/>
              </a:ext>
            </a:extLst>
          </p:cNvPr>
          <p:cNvSpPr>
            <a:spLocks noGrp="1"/>
          </p:cNvSpPr>
          <p:nvPr/>
        </p:nvSpPr>
        <p:spPr>
          <a:xfrm>
            <a:off x="11106150" y="6200775"/>
            <a:ext cx="514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F6B7A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851575E-BA49-402E-B04C-403AB8F7007F}"/>
              </a:ext>
            </a:extLst>
          </p:cNvPr>
          <p:cNvSpPr>
            <a:spLocks noGrp="1"/>
          </p:cNvSpPr>
          <p:nvPr/>
        </p:nvSpPr>
        <p:spPr>
          <a:xfrm>
            <a:off x="609600" y="4797071"/>
            <a:ext cx="838200" cy="247651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C47F2C"/>
                </a:solidFill>
                <a:latin typeface="Aptos"/>
                <a:ea typeface="Aptos"/>
                <a:cs typeface="Aptos"/>
              </a:defRPr>
            </a:pPr>
            <a:r>
              <a:rPr sz="1650" b="1" dirty="0">
                <a:solidFill>
                  <a:srgbClr val="C47F2C"/>
                </a:solidFill>
                <a:latin typeface="Aptos"/>
                <a:ea typeface="Aptos"/>
                <a:cs typeface="Aptos"/>
              </a:rPr>
              <a:t>42-100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5E56E3F-25B7-4F4B-9715-CCA62346AD16}"/>
              </a:ext>
            </a:extLst>
          </p:cNvPr>
          <p:cNvSpPr>
            <a:spLocks noGrp="1"/>
          </p:cNvSpPr>
          <p:nvPr/>
        </p:nvSpPr>
        <p:spPr>
          <a:xfrm>
            <a:off x="1337600" y="4507146"/>
            <a:ext cx="2000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 dirty="0" err="1">
                <a:solidFill>
                  <a:srgbClr val="172033"/>
                </a:solidFill>
                <a:latin typeface="Aptos"/>
                <a:ea typeface="Aptos"/>
                <a:cs typeface="Aptos"/>
              </a:rPr>
              <a:t>導覽列</a:t>
            </a:r>
            <a:endParaRPr sz="1350" b="1" dirty="0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2398755-EFBE-4249-B699-9F7557907B2D}"/>
              </a:ext>
            </a:extLst>
          </p:cNvPr>
          <p:cNvSpPr>
            <a:spLocks noGrp="1"/>
          </p:cNvSpPr>
          <p:nvPr/>
        </p:nvSpPr>
        <p:spPr>
          <a:xfrm>
            <a:off x="1452262" y="4887723"/>
            <a:ext cx="3524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600" b="0" dirty="0" err="1">
                <a:solidFill>
                  <a:srgbClr val="5F6B7A"/>
                </a:solidFill>
                <a:latin typeface="Aptos"/>
                <a:ea typeface="Aptos"/>
                <a:cs typeface="Aptos"/>
              </a:rPr>
              <a:t>topbar、登入</a:t>
            </a:r>
            <a:r>
              <a:rPr sz="1600" b="0" dirty="0">
                <a:solidFill>
                  <a:srgbClr val="5F6B7A"/>
                </a:solidFill>
                <a:latin typeface="Aptos"/>
                <a:ea typeface="Aptos"/>
                <a:cs typeface="Aptos"/>
              </a:rPr>
              <a:t>/</a:t>
            </a:r>
            <a:r>
              <a:rPr sz="1600" b="0" dirty="0" err="1">
                <a:solidFill>
                  <a:srgbClr val="5F6B7A"/>
                </a:solidFill>
                <a:latin typeface="Aptos"/>
                <a:ea typeface="Aptos"/>
                <a:cs typeface="Aptos"/>
              </a:rPr>
              <a:t>登出按鈕、主要與次要按鈕樣式</a:t>
            </a:r>
            <a:r>
              <a:rPr sz="1600" b="0" dirty="0">
                <a:solidFill>
                  <a:srgbClr val="5F6B7A"/>
                </a:solidFill>
                <a:latin typeface="Aptos"/>
                <a:ea typeface="Aptos"/>
                <a:cs typeface="Aptos"/>
              </a:rPr>
              <a:t>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CE33E3E-4990-45F5-94BD-2C08223B78FB}"/>
              </a:ext>
            </a:extLst>
          </p:cNvPr>
          <p:cNvSpPr>
            <a:spLocks noGrp="1"/>
          </p:cNvSpPr>
          <p:nvPr/>
        </p:nvSpPr>
        <p:spPr>
          <a:xfrm>
            <a:off x="1337600" y="3183205"/>
            <a:ext cx="2000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 dirty="0" err="1">
                <a:solidFill>
                  <a:srgbClr val="172033"/>
                </a:solidFill>
                <a:latin typeface="Aptos"/>
                <a:ea typeface="Aptos"/>
                <a:cs typeface="Aptos"/>
              </a:rPr>
              <a:t>全域設定</a:t>
            </a:r>
            <a:endParaRPr sz="1350" b="1" dirty="0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D3DD03C-BB22-4B14-A53E-3C09B95BF852}"/>
              </a:ext>
            </a:extLst>
          </p:cNvPr>
          <p:cNvSpPr>
            <a:spLocks noGrp="1"/>
          </p:cNvSpPr>
          <p:nvPr/>
        </p:nvSpPr>
        <p:spPr>
          <a:xfrm>
            <a:off x="5953125" y="1945519"/>
            <a:ext cx="8382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C47F2C"/>
                </a:solidFill>
                <a:latin typeface="Aptos"/>
                <a:ea typeface="Aptos"/>
                <a:cs typeface="Aptos"/>
              </a:defRPr>
            </a:pPr>
            <a:r>
              <a:rPr sz="1650" b="1" dirty="0">
                <a:solidFill>
                  <a:srgbClr val="C47F2C"/>
                </a:solidFill>
                <a:latin typeface="Aptos"/>
                <a:ea typeface="Aptos"/>
                <a:cs typeface="Aptos"/>
              </a:rPr>
              <a:t>170-281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B6B73B7-6FF6-45FC-8F80-D017B2A058E8}"/>
              </a:ext>
            </a:extLst>
          </p:cNvPr>
          <p:cNvSpPr>
            <a:spLocks noGrp="1"/>
          </p:cNvSpPr>
          <p:nvPr/>
        </p:nvSpPr>
        <p:spPr>
          <a:xfrm>
            <a:off x="609600" y="6025334"/>
            <a:ext cx="8382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C47F2C"/>
                </a:solidFill>
                <a:latin typeface="Aptos"/>
                <a:ea typeface="Aptos"/>
                <a:cs typeface="Aptos"/>
              </a:defRPr>
            </a:pPr>
            <a:r>
              <a:rPr sz="1650" b="1" dirty="0">
                <a:solidFill>
                  <a:srgbClr val="C47F2C"/>
                </a:solidFill>
                <a:latin typeface="Aptos"/>
                <a:ea typeface="Aptos"/>
                <a:cs typeface="Aptos"/>
              </a:rPr>
              <a:t>102-168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E51DAE6-AB69-4C9F-B9B6-9B0DB9A276BD}"/>
              </a:ext>
            </a:extLst>
          </p:cNvPr>
          <p:cNvSpPr>
            <a:spLocks noGrp="1"/>
          </p:cNvSpPr>
          <p:nvPr/>
        </p:nvSpPr>
        <p:spPr>
          <a:xfrm>
            <a:off x="1337600" y="5748112"/>
            <a:ext cx="2000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 dirty="0" err="1">
                <a:solidFill>
                  <a:srgbClr val="172033"/>
                </a:solidFill>
                <a:latin typeface="Aptos"/>
                <a:ea typeface="Aptos"/>
                <a:cs typeface="Aptos"/>
              </a:rPr>
              <a:t>開始</a:t>
            </a:r>
            <a:r>
              <a:rPr sz="1350" b="1" dirty="0">
                <a:solidFill>
                  <a:srgbClr val="172033"/>
                </a:solidFill>
                <a:latin typeface="Aptos"/>
                <a:ea typeface="Aptos"/>
                <a:cs typeface="Aptos"/>
              </a:rPr>
              <a:t>/</a:t>
            </a:r>
            <a:r>
              <a:rPr sz="1350" b="1" dirty="0" err="1">
                <a:solidFill>
                  <a:srgbClr val="172033"/>
                </a:solidFill>
                <a:latin typeface="Aptos"/>
                <a:ea typeface="Aptos"/>
                <a:cs typeface="Aptos"/>
              </a:rPr>
              <a:t>地圖標題</a:t>
            </a:r>
            <a:endParaRPr sz="1350" b="1" dirty="0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0A5DFCD-70A3-43B7-A30C-52670FFC739C}"/>
              </a:ext>
            </a:extLst>
          </p:cNvPr>
          <p:cNvSpPr>
            <a:spLocks noGrp="1"/>
          </p:cNvSpPr>
          <p:nvPr/>
        </p:nvSpPr>
        <p:spPr>
          <a:xfrm>
            <a:off x="1447800" y="6025334"/>
            <a:ext cx="3524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start-screen、title-frame、map-screen、map-head。</a:t>
            </a:r>
          </a:p>
        </p:txBody>
      </p:sp>
    </p:spTree>
    <p:extLst>
      <p:ext uri="{BB962C8B-B14F-4D97-AF65-F5344CB8AC3E}">
        <p14:creationId xmlns:p14="http://schemas.microsoft.com/office/powerpoint/2010/main" val="20772424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>
            <a:extLst>
              <a:ext uri="{FF2B5EF4-FFF2-40B4-BE49-F238E27FC236}">
                <a16:creationId xmlns:a16="http://schemas.microsoft.com/office/drawing/2014/main" id="{2B04F82B-64B5-4217-A737-C69331C7DD6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C8FB1871-DB17-4908-9F7C-12581D4A2ED6}"/>
              </a:ext>
            </a:extLst>
          </p:cNvPr>
          <p:cNvSpPr>
            <a:spLocks noGrp="1"/>
          </p:cNvSpPr>
          <p:nvPr/>
        </p:nvSpPr>
        <p:spPr>
          <a:xfrm>
            <a:off x="419100" y="419100"/>
            <a:ext cx="95250" cy="209550"/>
          </a:xfrm>
          <a:prstGeom prst="rect">
            <a:avLst/>
          </a:prstGeom>
          <a:solidFill>
            <a:srgbClr val="C47F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A6479871-0E16-4248-8FD2-D001A4ACDEC6}"/>
              </a:ext>
            </a:extLst>
          </p:cNvPr>
          <p:cNvSpPr>
            <a:spLocks noGrp="1"/>
          </p:cNvSpPr>
          <p:nvPr/>
        </p:nvSpPr>
        <p:spPr>
          <a:xfrm>
            <a:off x="609600" y="390525"/>
            <a:ext cx="247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REPORT SCOPE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94E2175-0FB0-4B85-BCF1-630445D018CB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72390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72033"/>
                </a:solidFill>
                <a:latin typeface="Georgia"/>
                <a:ea typeface="Georgia"/>
                <a:cs typeface="Georgia"/>
              </a:defRPr>
            </a:pPr>
            <a:r>
              <a:rPr lang="en-US" altLang="zh-TW" sz="2700" b="1" dirty="0">
                <a:solidFill>
                  <a:srgbClr val="172033"/>
                </a:solidFill>
                <a:latin typeface="Georgia"/>
                <a:ea typeface="Georgia"/>
                <a:cs typeface="Georgia"/>
              </a:rPr>
              <a:t>Django</a:t>
            </a:r>
            <a:r>
              <a:rPr lang="zh-TW" altLang="en-US" sz="2700" b="1" dirty="0">
                <a:solidFill>
                  <a:srgbClr val="172033"/>
                </a:solidFill>
                <a:latin typeface="Georgia"/>
                <a:ea typeface="Georgia"/>
                <a:cs typeface="Georgia"/>
              </a:rPr>
              <a:t> </a:t>
            </a:r>
            <a:r>
              <a:rPr lang="en-US" altLang="zh-TW" sz="2700" b="1" dirty="0">
                <a:solidFill>
                  <a:srgbClr val="172033"/>
                </a:solidFill>
                <a:latin typeface="Georgia"/>
                <a:ea typeface="Georgia"/>
                <a:cs typeface="Georgia"/>
              </a:rPr>
              <a:t>home.html–</a:t>
            </a:r>
            <a:r>
              <a:rPr lang="zh-TW" altLang="en-US" sz="2700" b="1" dirty="0">
                <a:solidFill>
                  <a:srgbClr val="172033"/>
                </a:solidFill>
                <a:latin typeface="Georgia"/>
                <a:ea typeface="Georgia"/>
                <a:cs typeface="Georgia"/>
              </a:rPr>
              <a:t> </a:t>
            </a:r>
            <a:r>
              <a:rPr lang="en-US" altLang="zh-TW" sz="2700" b="1" dirty="0">
                <a:solidFill>
                  <a:srgbClr val="172033"/>
                </a:solidFill>
                <a:latin typeface="Georgia"/>
                <a:ea typeface="Georgia"/>
                <a:cs typeface="Georgia"/>
              </a:rPr>
              <a:t>head</a:t>
            </a:r>
            <a:endParaRPr sz="2700" b="1" dirty="0">
              <a:solidFill>
                <a:srgbClr val="172033"/>
              </a:solidFill>
              <a:latin typeface="Georgia"/>
              <a:ea typeface="Georgia"/>
              <a:cs typeface="Georgia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2D3E486-980C-4AC8-B358-51128A3F6C74}"/>
              </a:ext>
            </a:extLst>
          </p:cNvPr>
          <p:cNvSpPr>
            <a:spLocks noGrp="1"/>
          </p:cNvSpPr>
          <p:nvPr/>
        </p:nvSpPr>
        <p:spPr>
          <a:xfrm>
            <a:off x="10058400" y="457200"/>
            <a:ext cx="152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Django pages report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89537A4-02EA-4C1B-B197-6D4A06CE8885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10382250" cy="12383"/>
          </a:xfrm>
          <a:prstGeom prst="rect">
            <a:avLst/>
          </a:prstGeom>
          <a:solidFill>
            <a:srgbClr val="D8CEC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08D8732-2C72-4427-AE4A-E891D9F1C9A0}"/>
              </a:ext>
            </a:extLst>
          </p:cNvPr>
          <p:cNvSpPr>
            <a:spLocks noGrp="1"/>
          </p:cNvSpPr>
          <p:nvPr/>
        </p:nvSpPr>
        <p:spPr>
          <a:xfrm>
            <a:off x="11106150" y="6200775"/>
            <a:ext cx="514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lang="en-US" sz="975" b="1" dirty="0">
                <a:solidFill>
                  <a:srgbClr val="5F6B7A"/>
                </a:solidFill>
                <a:latin typeface="Aptos"/>
                <a:ea typeface="Aptos"/>
                <a:cs typeface="Aptos"/>
              </a:rPr>
              <a:t>02</a:t>
            </a:r>
            <a:endParaRPr sz="975" b="1" dirty="0">
              <a:solidFill>
                <a:srgbClr val="5F6B7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735266F-DFD0-F0A1-08C5-04512D60FD4E}"/>
              </a:ext>
            </a:extLst>
          </p:cNvPr>
          <p:cNvSpPr/>
          <p:nvPr/>
        </p:nvSpPr>
        <p:spPr>
          <a:xfrm>
            <a:off x="8986236" y="1795422"/>
            <a:ext cx="2986790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zh-TW" alt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這邊是</a:t>
            </a:r>
            <a:r>
              <a:rPr lang="en-US" altLang="zh-TW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html</a:t>
            </a:r>
            <a:r>
              <a:rPr lang="zh-TW" alt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裡</a:t>
            </a:r>
            <a:r>
              <a:rPr lang="en-US" altLang="zh-TW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head</a:t>
            </a:r>
            <a:r>
              <a:rPr lang="zh-TW" alt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的部分，從上到下分別是</a:t>
            </a:r>
            <a:r>
              <a:rPr lang="en-US" altLang="zh-TW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:</a:t>
            </a:r>
          </a:p>
          <a:p>
            <a:r>
              <a:rPr lang="en-US" altLang="zh-TW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1.</a:t>
            </a:r>
            <a:r>
              <a:rPr lang="zh-TW" alt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使用</a:t>
            </a:r>
            <a:r>
              <a:rPr lang="en-US" altLang="zh-TW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utf-8</a:t>
            </a:r>
          </a:p>
          <a:p>
            <a:r>
              <a:rPr lang="en-US" altLang="zh-TW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2.</a:t>
            </a:r>
            <a:r>
              <a:rPr lang="zh-TW" alt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動態調整網頁大小</a:t>
            </a:r>
            <a:endParaRPr lang="en-US" altLang="zh-TW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altLang="zh-TW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3.</a:t>
            </a:r>
            <a:r>
              <a:rPr lang="zh-TW" alt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網頁標題</a:t>
            </a:r>
            <a:endParaRPr lang="en-US" altLang="zh-TW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altLang="zh-TW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4.CSS</a:t>
            </a:r>
            <a:r>
              <a:rPr lang="zh-TW" alt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畫面設定</a:t>
            </a:r>
            <a:endParaRPr lang="en-US" altLang="zh-TW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00B594D-7AF9-6838-96DA-322782CFB82D}"/>
              </a:ext>
            </a:extLst>
          </p:cNvPr>
          <p:cNvSpPr/>
          <p:nvPr/>
        </p:nvSpPr>
        <p:spPr>
          <a:xfrm>
            <a:off x="761608" y="1346405"/>
            <a:ext cx="5597045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Head</a:t>
            </a:r>
            <a:r>
              <a:rPr lang="zh-TW" alt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主要內容的組成有網頁的設定與標題跟</a:t>
            </a:r>
            <a:r>
              <a:rPr lang="en-US" altLang="zh-TW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style</a:t>
            </a:r>
            <a:r>
              <a:rPr lang="zh-TW" alt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設定</a:t>
            </a:r>
            <a:endParaRPr lang="zh-TW" alt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4636BDB6-AFFD-EB46-BAFF-EF77B067E4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076450"/>
            <a:ext cx="8157662" cy="4261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77128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>
            <a:extLst>
              <a:ext uri="{FF2B5EF4-FFF2-40B4-BE49-F238E27FC236}">
                <a16:creationId xmlns:a16="http://schemas.microsoft.com/office/drawing/2014/main" id="{2B04F82B-64B5-4217-A737-C69331C7DD6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C8FB1871-DB17-4908-9F7C-12581D4A2ED6}"/>
              </a:ext>
            </a:extLst>
          </p:cNvPr>
          <p:cNvSpPr>
            <a:spLocks noGrp="1"/>
          </p:cNvSpPr>
          <p:nvPr/>
        </p:nvSpPr>
        <p:spPr>
          <a:xfrm>
            <a:off x="419100" y="419100"/>
            <a:ext cx="95250" cy="209550"/>
          </a:xfrm>
          <a:prstGeom prst="rect">
            <a:avLst/>
          </a:prstGeom>
          <a:solidFill>
            <a:srgbClr val="C47F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A6479871-0E16-4248-8FD2-D001A4ACDEC6}"/>
              </a:ext>
            </a:extLst>
          </p:cNvPr>
          <p:cNvSpPr>
            <a:spLocks noGrp="1"/>
          </p:cNvSpPr>
          <p:nvPr/>
        </p:nvSpPr>
        <p:spPr>
          <a:xfrm>
            <a:off x="609600" y="390525"/>
            <a:ext cx="247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REPORT SCOPE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94E2175-0FB0-4B85-BCF1-630445D018CB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72390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72033"/>
                </a:solidFill>
                <a:latin typeface="Georgia"/>
                <a:ea typeface="Georgia"/>
                <a:cs typeface="Georgia"/>
              </a:defRPr>
            </a:pPr>
            <a:r>
              <a:rPr lang="en-US" altLang="zh-TW" sz="2700" b="1" dirty="0">
                <a:solidFill>
                  <a:srgbClr val="172033"/>
                </a:solidFill>
                <a:latin typeface="Georgia"/>
                <a:ea typeface="Georgia"/>
                <a:cs typeface="Georgia"/>
              </a:rPr>
              <a:t>Django</a:t>
            </a:r>
            <a:r>
              <a:rPr lang="zh-TW" altLang="en-US" sz="2700" b="1" dirty="0">
                <a:solidFill>
                  <a:srgbClr val="172033"/>
                </a:solidFill>
                <a:latin typeface="Georgia"/>
                <a:ea typeface="Georgia"/>
                <a:cs typeface="Georgia"/>
              </a:rPr>
              <a:t> </a:t>
            </a:r>
            <a:r>
              <a:rPr lang="en-US" altLang="zh-TW" sz="2700" b="1" dirty="0">
                <a:solidFill>
                  <a:srgbClr val="172033"/>
                </a:solidFill>
                <a:latin typeface="Georgia"/>
                <a:ea typeface="Georgia"/>
                <a:cs typeface="Georgia"/>
              </a:rPr>
              <a:t>home.html–</a:t>
            </a:r>
            <a:r>
              <a:rPr lang="zh-TW" altLang="en-US" sz="2700" b="1" dirty="0">
                <a:solidFill>
                  <a:srgbClr val="172033"/>
                </a:solidFill>
                <a:latin typeface="Georgia"/>
                <a:ea typeface="Georgia"/>
                <a:cs typeface="Georgia"/>
              </a:rPr>
              <a:t> </a:t>
            </a:r>
            <a:r>
              <a:rPr lang="en-US" altLang="zh-TW" sz="2700" b="1" dirty="0">
                <a:solidFill>
                  <a:srgbClr val="172033"/>
                </a:solidFill>
                <a:latin typeface="Georgia"/>
                <a:ea typeface="Georgia"/>
                <a:cs typeface="Georgia"/>
              </a:rPr>
              <a:t>body</a:t>
            </a:r>
            <a:endParaRPr sz="2700" b="1" dirty="0">
              <a:solidFill>
                <a:srgbClr val="172033"/>
              </a:solidFill>
              <a:latin typeface="Georgia"/>
              <a:ea typeface="Georgia"/>
              <a:cs typeface="Georgia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2D3E486-980C-4AC8-B358-51128A3F6C74}"/>
              </a:ext>
            </a:extLst>
          </p:cNvPr>
          <p:cNvSpPr>
            <a:spLocks noGrp="1"/>
          </p:cNvSpPr>
          <p:nvPr/>
        </p:nvSpPr>
        <p:spPr>
          <a:xfrm>
            <a:off x="10058400" y="457200"/>
            <a:ext cx="152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Django pages report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89537A4-02EA-4C1B-B197-6D4A06CE8885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10382250" cy="12383"/>
          </a:xfrm>
          <a:prstGeom prst="rect">
            <a:avLst/>
          </a:prstGeom>
          <a:solidFill>
            <a:srgbClr val="D8CEC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08D8732-2C72-4427-AE4A-E891D9F1C9A0}"/>
              </a:ext>
            </a:extLst>
          </p:cNvPr>
          <p:cNvSpPr>
            <a:spLocks noGrp="1"/>
          </p:cNvSpPr>
          <p:nvPr/>
        </p:nvSpPr>
        <p:spPr>
          <a:xfrm>
            <a:off x="11106150" y="6200775"/>
            <a:ext cx="514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lang="en-US" sz="975" b="1" dirty="0">
                <a:solidFill>
                  <a:srgbClr val="5F6B7A"/>
                </a:solidFill>
                <a:latin typeface="Aptos"/>
                <a:ea typeface="Aptos"/>
                <a:cs typeface="Aptos"/>
              </a:rPr>
              <a:t>02</a:t>
            </a:r>
            <a:endParaRPr sz="975" b="1" dirty="0">
              <a:solidFill>
                <a:srgbClr val="5F6B7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735266F-DFD0-F0A1-08C5-04512D60FD4E}"/>
              </a:ext>
            </a:extLst>
          </p:cNvPr>
          <p:cNvSpPr/>
          <p:nvPr/>
        </p:nvSpPr>
        <p:spPr>
          <a:xfrm>
            <a:off x="8680432" y="1397675"/>
            <a:ext cx="2986790" cy="286232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altLang="zh-TW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Body</a:t>
            </a:r>
            <a:r>
              <a:rPr lang="zh-TW" alt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的內容有</a:t>
            </a:r>
            <a:endParaRPr lang="en-US" altLang="zh-TW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altLang="zh-TW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1.</a:t>
            </a:r>
            <a:r>
              <a:rPr lang="zh-TW" alt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標題欄</a:t>
            </a:r>
            <a:r>
              <a:rPr lang="en-US" altLang="zh-TW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(Top)</a:t>
            </a:r>
          </a:p>
          <a:p>
            <a:r>
              <a:rPr lang="en-US" altLang="zh-TW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2.</a:t>
            </a:r>
            <a:r>
              <a:rPr lang="zh-TW" alt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開始遊戲按鈕</a:t>
            </a:r>
            <a:endParaRPr lang="en-US" altLang="zh-TW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altLang="zh-TW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3.</a:t>
            </a:r>
            <a:r>
              <a:rPr lang="zh-TW" alt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章節關卡選擇</a:t>
            </a:r>
            <a:endParaRPr lang="en-US" altLang="zh-TW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altLang="zh-TW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4.</a:t>
            </a:r>
            <a:r>
              <a:rPr lang="zh-TW" alt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劇情或者</a:t>
            </a:r>
            <a:r>
              <a:rPr lang="en-US" altLang="zh-TW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notebook</a:t>
            </a:r>
            <a:r>
              <a:rPr lang="zh-TW" alt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選擇</a:t>
            </a:r>
            <a:endParaRPr lang="en-US" altLang="zh-TW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altLang="zh-TW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5.</a:t>
            </a:r>
            <a:r>
              <a:rPr lang="zh-TW" alt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討論區</a:t>
            </a:r>
            <a:endParaRPr lang="en-US" altLang="zh-TW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altLang="zh-TW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6.</a:t>
            </a:r>
            <a:r>
              <a:rPr lang="zh-TW" alt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關卡統計</a:t>
            </a:r>
            <a:endParaRPr lang="en-US" altLang="zh-TW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altLang="zh-TW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****</a:t>
            </a:r>
            <a:r>
              <a:rPr lang="zh-TW" alt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其中劇情</a:t>
            </a:r>
            <a:r>
              <a:rPr lang="en-US" altLang="zh-TW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notebook</a:t>
            </a:r>
            <a:r>
              <a:rPr lang="zh-TW" alt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、討論區跟關卡統計是用同一個</a:t>
            </a:r>
            <a:endParaRPr lang="en-US" altLang="zh-TW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altLang="zh-TW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Iframe</a:t>
            </a:r>
            <a:r>
              <a:rPr lang="zh-TW" alt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切換。</a:t>
            </a: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7BECEF83-DF3C-26FC-91E3-405AB9224D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778" y="1419225"/>
            <a:ext cx="7889957" cy="5048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12213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>
            <a:extLst>
              <a:ext uri="{FF2B5EF4-FFF2-40B4-BE49-F238E27FC236}">
                <a16:creationId xmlns:a16="http://schemas.microsoft.com/office/drawing/2014/main" id="{2B04F82B-64B5-4217-A737-C69331C7DD6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C8FB1871-DB17-4908-9F7C-12581D4A2ED6}"/>
              </a:ext>
            </a:extLst>
          </p:cNvPr>
          <p:cNvSpPr>
            <a:spLocks noGrp="1"/>
          </p:cNvSpPr>
          <p:nvPr/>
        </p:nvSpPr>
        <p:spPr>
          <a:xfrm>
            <a:off x="419100" y="419100"/>
            <a:ext cx="95250" cy="209550"/>
          </a:xfrm>
          <a:prstGeom prst="rect">
            <a:avLst/>
          </a:prstGeom>
          <a:solidFill>
            <a:srgbClr val="C47F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A6479871-0E16-4248-8FD2-D001A4ACDEC6}"/>
              </a:ext>
            </a:extLst>
          </p:cNvPr>
          <p:cNvSpPr>
            <a:spLocks noGrp="1"/>
          </p:cNvSpPr>
          <p:nvPr/>
        </p:nvSpPr>
        <p:spPr>
          <a:xfrm>
            <a:off x="609600" y="390525"/>
            <a:ext cx="247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REPORT SCOPE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94E2175-0FB0-4B85-BCF1-630445D018CB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72390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72033"/>
                </a:solidFill>
                <a:latin typeface="Georgia"/>
                <a:ea typeface="Georgia"/>
                <a:cs typeface="Georgia"/>
              </a:defRPr>
            </a:pPr>
            <a:r>
              <a:rPr lang="en-US" altLang="zh-TW" sz="2700" b="1" dirty="0">
                <a:solidFill>
                  <a:srgbClr val="172033"/>
                </a:solidFill>
                <a:latin typeface="Georgia"/>
                <a:ea typeface="Georgia"/>
                <a:cs typeface="Georgia"/>
              </a:rPr>
              <a:t>Django</a:t>
            </a:r>
            <a:r>
              <a:rPr lang="zh-TW" altLang="en-US" sz="2700" b="1" dirty="0">
                <a:solidFill>
                  <a:srgbClr val="172033"/>
                </a:solidFill>
                <a:latin typeface="Georgia"/>
                <a:ea typeface="Georgia"/>
                <a:cs typeface="Georgia"/>
              </a:rPr>
              <a:t> </a:t>
            </a:r>
            <a:r>
              <a:rPr lang="en-US" altLang="zh-TW" sz="2700" b="1" dirty="0">
                <a:solidFill>
                  <a:srgbClr val="172033"/>
                </a:solidFill>
                <a:latin typeface="Georgia"/>
                <a:ea typeface="Georgia"/>
                <a:cs typeface="Georgia"/>
              </a:rPr>
              <a:t>home.html–</a:t>
            </a:r>
            <a:r>
              <a:rPr lang="zh-TW" altLang="en-US" sz="2700" b="1" dirty="0">
                <a:solidFill>
                  <a:srgbClr val="172033"/>
                </a:solidFill>
                <a:latin typeface="Georgia"/>
                <a:ea typeface="Georgia"/>
                <a:cs typeface="Georgia"/>
              </a:rPr>
              <a:t> </a:t>
            </a:r>
            <a:r>
              <a:rPr lang="en-US" altLang="zh-TW" sz="2700" b="1" dirty="0" err="1">
                <a:solidFill>
                  <a:srgbClr val="172033"/>
                </a:solidFill>
                <a:latin typeface="Georgia"/>
                <a:ea typeface="Georgia"/>
                <a:cs typeface="Georgia"/>
              </a:rPr>
              <a:t>ifram</a:t>
            </a:r>
            <a:r>
              <a:rPr lang="zh-TW" altLang="en-US" sz="2700" b="1" dirty="0">
                <a:solidFill>
                  <a:srgbClr val="172033"/>
                </a:solidFill>
                <a:latin typeface="Georgia"/>
                <a:ea typeface="Georgia"/>
                <a:cs typeface="Georgia"/>
              </a:rPr>
              <a:t>條件判斷</a:t>
            </a:r>
            <a:endParaRPr sz="2700" b="1" dirty="0">
              <a:solidFill>
                <a:srgbClr val="172033"/>
              </a:solidFill>
              <a:latin typeface="Georgia"/>
              <a:ea typeface="Georgia"/>
              <a:cs typeface="Georgia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2D3E486-980C-4AC8-B358-51128A3F6C74}"/>
              </a:ext>
            </a:extLst>
          </p:cNvPr>
          <p:cNvSpPr>
            <a:spLocks noGrp="1"/>
          </p:cNvSpPr>
          <p:nvPr/>
        </p:nvSpPr>
        <p:spPr>
          <a:xfrm>
            <a:off x="10058400" y="457200"/>
            <a:ext cx="152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Django pages report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89537A4-02EA-4C1B-B197-6D4A06CE8885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10382250" cy="12383"/>
          </a:xfrm>
          <a:prstGeom prst="rect">
            <a:avLst/>
          </a:prstGeom>
          <a:solidFill>
            <a:srgbClr val="D8CEC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08D8732-2C72-4427-AE4A-E891D9F1C9A0}"/>
              </a:ext>
            </a:extLst>
          </p:cNvPr>
          <p:cNvSpPr>
            <a:spLocks noGrp="1"/>
          </p:cNvSpPr>
          <p:nvPr/>
        </p:nvSpPr>
        <p:spPr>
          <a:xfrm>
            <a:off x="11106150" y="6200775"/>
            <a:ext cx="514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lang="en-US" sz="975" b="1" dirty="0">
                <a:solidFill>
                  <a:srgbClr val="5F6B7A"/>
                </a:solidFill>
                <a:latin typeface="Aptos"/>
                <a:ea typeface="Aptos"/>
                <a:cs typeface="Aptos"/>
              </a:rPr>
              <a:t>02</a:t>
            </a:r>
            <a:endParaRPr sz="975" b="1" dirty="0">
              <a:solidFill>
                <a:srgbClr val="5F6B7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735266F-DFD0-F0A1-08C5-04512D60FD4E}"/>
              </a:ext>
            </a:extLst>
          </p:cNvPr>
          <p:cNvSpPr/>
          <p:nvPr/>
        </p:nvSpPr>
        <p:spPr>
          <a:xfrm>
            <a:off x="9128567" y="1333500"/>
            <a:ext cx="3063433" cy="203132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zh-TW" alt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判斷要切換到哪個</a:t>
            </a:r>
            <a:r>
              <a:rPr lang="en-US" altLang="zh-TW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ifram</a:t>
            </a:r>
            <a:r>
              <a:rPr lang="zh-TW" alt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的條件在於使用者按了哪個按鈕，如果使用者按了劇情的按鈕，就會回傳</a:t>
            </a:r>
            <a:r>
              <a:rPr lang="en-US" altLang="zh-TW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story</a:t>
            </a:r>
            <a:r>
              <a:rPr lang="zh-TW" alt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，後續就會用</a:t>
            </a:r>
            <a:r>
              <a:rPr lang="en-US" altLang="zh-TW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if</a:t>
            </a:r>
            <a:r>
              <a:rPr lang="zh-TW" alt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判斷來判斷使用者目前要在哪個畫面，並且動態的切換重整目前的網頁。</a:t>
            </a:r>
            <a:endParaRPr lang="zh-TW" alt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D0847498-3D83-6145-B2F1-9C1684ADE6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502" y="1333500"/>
            <a:ext cx="8870065" cy="5367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4146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>
            <a:extLst>
              <a:ext uri="{FF2B5EF4-FFF2-40B4-BE49-F238E27FC236}">
                <a16:creationId xmlns:a16="http://schemas.microsoft.com/office/drawing/2014/main" id="{2B04F82B-64B5-4217-A737-C69331C7DD6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C8FB1871-DB17-4908-9F7C-12581D4A2ED6}"/>
              </a:ext>
            </a:extLst>
          </p:cNvPr>
          <p:cNvSpPr>
            <a:spLocks noGrp="1"/>
          </p:cNvSpPr>
          <p:nvPr/>
        </p:nvSpPr>
        <p:spPr>
          <a:xfrm>
            <a:off x="419100" y="419100"/>
            <a:ext cx="95250" cy="209550"/>
          </a:xfrm>
          <a:prstGeom prst="rect">
            <a:avLst/>
          </a:prstGeom>
          <a:solidFill>
            <a:srgbClr val="C47F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A6479871-0E16-4248-8FD2-D001A4ACDEC6}"/>
              </a:ext>
            </a:extLst>
          </p:cNvPr>
          <p:cNvSpPr>
            <a:spLocks noGrp="1"/>
          </p:cNvSpPr>
          <p:nvPr/>
        </p:nvSpPr>
        <p:spPr>
          <a:xfrm>
            <a:off x="609600" y="390525"/>
            <a:ext cx="247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REPORT SCOPE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94E2175-0FB0-4B85-BCF1-630445D018CB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72390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72033"/>
                </a:solidFill>
                <a:latin typeface="Georgia"/>
                <a:ea typeface="Georgia"/>
                <a:cs typeface="Georgia"/>
              </a:defRPr>
            </a:pPr>
            <a:r>
              <a:rPr lang="en-US" altLang="zh-TW" sz="2700" b="1" dirty="0">
                <a:solidFill>
                  <a:srgbClr val="172033"/>
                </a:solidFill>
                <a:latin typeface="Georgia"/>
                <a:ea typeface="Georgia"/>
                <a:cs typeface="Georgia"/>
              </a:rPr>
              <a:t>Django</a:t>
            </a:r>
            <a:r>
              <a:rPr lang="zh-TW" altLang="en-US" sz="2700" b="1" dirty="0">
                <a:solidFill>
                  <a:srgbClr val="172033"/>
                </a:solidFill>
                <a:latin typeface="Georgia"/>
                <a:ea typeface="Georgia"/>
                <a:cs typeface="Georgia"/>
              </a:rPr>
              <a:t> </a:t>
            </a:r>
            <a:r>
              <a:rPr lang="en-US" altLang="zh-TW" sz="2700" b="1" dirty="0">
                <a:solidFill>
                  <a:srgbClr val="172033"/>
                </a:solidFill>
                <a:latin typeface="Georgia"/>
                <a:ea typeface="Georgia"/>
                <a:cs typeface="Georgia"/>
              </a:rPr>
              <a:t>home.html–</a:t>
            </a:r>
            <a:r>
              <a:rPr lang="zh-TW" altLang="en-US" sz="2700" b="1" dirty="0">
                <a:solidFill>
                  <a:srgbClr val="172033"/>
                </a:solidFill>
                <a:latin typeface="Georgia"/>
                <a:ea typeface="Georgia"/>
                <a:cs typeface="Georgia"/>
              </a:rPr>
              <a:t> </a:t>
            </a:r>
            <a:r>
              <a:rPr lang="en-US" altLang="zh-TW" sz="2700" b="1" dirty="0">
                <a:solidFill>
                  <a:srgbClr val="172033"/>
                </a:solidFill>
                <a:latin typeface="Georgia"/>
                <a:ea typeface="Georgia"/>
                <a:cs typeface="Georgia"/>
              </a:rPr>
              <a:t>body</a:t>
            </a:r>
            <a:r>
              <a:rPr lang="zh-TW" altLang="en-US" sz="2700" b="1" dirty="0">
                <a:solidFill>
                  <a:srgbClr val="172033"/>
                </a:solidFill>
                <a:latin typeface="Georgia"/>
                <a:ea typeface="Georgia"/>
                <a:cs typeface="Georgia"/>
              </a:rPr>
              <a:t> </a:t>
            </a:r>
            <a:r>
              <a:rPr lang="en-US" altLang="zh-TW" sz="2700" b="1" dirty="0">
                <a:solidFill>
                  <a:srgbClr val="172033"/>
                </a:solidFill>
                <a:latin typeface="Georgia"/>
                <a:ea typeface="Georgia"/>
                <a:cs typeface="Georgia"/>
              </a:rPr>
              <a:t>-</a:t>
            </a:r>
            <a:r>
              <a:rPr lang="zh-TW" altLang="en-US" sz="2700" b="1" dirty="0">
                <a:solidFill>
                  <a:srgbClr val="172033"/>
                </a:solidFill>
                <a:latin typeface="Georgia"/>
                <a:ea typeface="Georgia"/>
                <a:cs typeface="Georgia"/>
              </a:rPr>
              <a:t> </a:t>
            </a:r>
            <a:r>
              <a:rPr lang="en-US" altLang="zh-TW" sz="2700" b="1" dirty="0">
                <a:solidFill>
                  <a:srgbClr val="172033"/>
                </a:solidFill>
                <a:latin typeface="Georgia"/>
                <a:ea typeface="Georgia"/>
                <a:cs typeface="Georgia"/>
              </a:rPr>
              <a:t>script</a:t>
            </a:r>
            <a:endParaRPr sz="2700" b="1" dirty="0">
              <a:solidFill>
                <a:srgbClr val="172033"/>
              </a:solidFill>
              <a:latin typeface="Georgia"/>
              <a:ea typeface="Georgia"/>
              <a:cs typeface="Georgia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2D3E486-980C-4AC8-B358-51128A3F6C74}"/>
              </a:ext>
            </a:extLst>
          </p:cNvPr>
          <p:cNvSpPr>
            <a:spLocks noGrp="1"/>
          </p:cNvSpPr>
          <p:nvPr/>
        </p:nvSpPr>
        <p:spPr>
          <a:xfrm>
            <a:off x="10058400" y="457200"/>
            <a:ext cx="152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Django pages report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89537A4-02EA-4C1B-B197-6D4A06CE8885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10382250" cy="12383"/>
          </a:xfrm>
          <a:prstGeom prst="rect">
            <a:avLst/>
          </a:prstGeom>
          <a:solidFill>
            <a:srgbClr val="D8CEC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08D8732-2C72-4427-AE4A-E891D9F1C9A0}"/>
              </a:ext>
            </a:extLst>
          </p:cNvPr>
          <p:cNvSpPr>
            <a:spLocks noGrp="1"/>
          </p:cNvSpPr>
          <p:nvPr/>
        </p:nvSpPr>
        <p:spPr>
          <a:xfrm>
            <a:off x="11106150" y="6200775"/>
            <a:ext cx="514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lang="en-US" sz="975" b="1" dirty="0">
                <a:solidFill>
                  <a:srgbClr val="5F6B7A"/>
                </a:solidFill>
                <a:latin typeface="Aptos"/>
                <a:ea typeface="Aptos"/>
                <a:cs typeface="Aptos"/>
              </a:rPr>
              <a:t>02</a:t>
            </a:r>
            <a:endParaRPr sz="975" b="1" dirty="0">
              <a:solidFill>
                <a:srgbClr val="5F6B7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735266F-DFD0-F0A1-08C5-04512D60FD4E}"/>
              </a:ext>
            </a:extLst>
          </p:cNvPr>
          <p:cNvSpPr/>
          <p:nvPr/>
        </p:nvSpPr>
        <p:spPr>
          <a:xfrm>
            <a:off x="8680432" y="1397675"/>
            <a:ext cx="2986790" cy="34163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altLang="zh-TW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script</a:t>
            </a:r>
            <a:r>
              <a:rPr lang="zh-TW" alt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的內容有</a:t>
            </a:r>
            <a:endParaRPr lang="en-US" altLang="zh-TW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altLang="zh-TW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1.</a:t>
            </a:r>
            <a:r>
              <a:rPr lang="zh-TW" alt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使用</a:t>
            </a:r>
            <a:r>
              <a:rPr lang="en-US" altLang="zh-TW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html</a:t>
            </a:r>
            <a:r>
              <a:rPr lang="zh-TW" alt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標籤抓取資料</a:t>
            </a:r>
            <a:endParaRPr lang="en-US" altLang="zh-TW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altLang="zh-TW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2.</a:t>
            </a:r>
            <a:r>
              <a:rPr lang="zh-TW" alt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把抓到的變數傳入</a:t>
            </a:r>
            <a:endParaRPr lang="en-US" altLang="zh-TW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altLang="zh-TW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3.</a:t>
            </a:r>
            <a:r>
              <a:rPr lang="zh-TW" alt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當使用者切換關卡時重新整理頁面內容，以動態切換</a:t>
            </a:r>
            <a:endParaRPr lang="en-US" altLang="zh-TW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altLang="zh-TW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4.</a:t>
            </a:r>
            <a:r>
              <a:rPr lang="zh-TW" alt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開啟關卡</a:t>
            </a:r>
            <a:r>
              <a:rPr lang="en-US" altLang="zh-TW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</a:t>
            </a:r>
            <a:r>
              <a:rPr lang="zh-TW" alt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判斷是</a:t>
            </a:r>
            <a:r>
              <a:rPr lang="en-US" altLang="zh-TW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renpy</a:t>
            </a:r>
            <a:r>
              <a:rPr lang="zh-TW" alt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、</a:t>
            </a:r>
            <a:r>
              <a:rPr lang="en-US" altLang="zh-TW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notebook</a:t>
            </a:r>
            <a:r>
              <a:rPr lang="zh-TW" alt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、討論、統計</a:t>
            </a:r>
            <a:r>
              <a:rPr lang="en-US" altLang="zh-TW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)</a:t>
            </a:r>
          </a:p>
          <a:p>
            <a:r>
              <a:rPr lang="en-US" altLang="zh-TW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5.</a:t>
            </a:r>
            <a:r>
              <a:rPr lang="zh-TW" alt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資料傳送到後端</a:t>
            </a:r>
            <a:endParaRPr lang="en-US" altLang="zh-TW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altLang="zh-TW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6.</a:t>
            </a:r>
            <a:r>
              <a:rPr lang="zh-TW" alt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切換目前顯示的畫面，像是如果使用者點擊開始按鈕後，隱藏開始介面、顯示關卡選擇畫面。</a:t>
            </a:r>
            <a:endParaRPr lang="en-US" altLang="zh-TW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8DE50B7C-F0FC-AF7E-E2F1-55705426DA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25" y="1333500"/>
            <a:ext cx="7936495" cy="5404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09122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>
            <a:extLst>
              <a:ext uri="{FF2B5EF4-FFF2-40B4-BE49-F238E27FC236}">
                <a16:creationId xmlns:a16="http://schemas.microsoft.com/office/drawing/2014/main" id="{2B04F82B-64B5-4217-A737-C69331C7DD6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C8FB1871-DB17-4908-9F7C-12581D4A2ED6}"/>
              </a:ext>
            </a:extLst>
          </p:cNvPr>
          <p:cNvSpPr>
            <a:spLocks noGrp="1"/>
          </p:cNvSpPr>
          <p:nvPr/>
        </p:nvSpPr>
        <p:spPr>
          <a:xfrm>
            <a:off x="419100" y="419100"/>
            <a:ext cx="95250" cy="209550"/>
          </a:xfrm>
          <a:prstGeom prst="rect">
            <a:avLst/>
          </a:prstGeom>
          <a:solidFill>
            <a:srgbClr val="C47F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A6479871-0E16-4248-8FD2-D001A4ACDEC6}"/>
              </a:ext>
            </a:extLst>
          </p:cNvPr>
          <p:cNvSpPr>
            <a:spLocks noGrp="1"/>
          </p:cNvSpPr>
          <p:nvPr/>
        </p:nvSpPr>
        <p:spPr>
          <a:xfrm>
            <a:off x="609600" y="390525"/>
            <a:ext cx="247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REPORT SCOPE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94E2175-0FB0-4B85-BCF1-630445D018CB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72390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72033"/>
                </a:solidFill>
                <a:latin typeface="Georgia"/>
                <a:ea typeface="Georgia"/>
                <a:cs typeface="Georgia"/>
              </a:defRPr>
            </a:pPr>
            <a:r>
              <a:rPr lang="en-US" altLang="zh-TW" sz="2700" b="1" dirty="0">
                <a:solidFill>
                  <a:srgbClr val="172033"/>
                </a:solidFill>
                <a:latin typeface="Georgia"/>
                <a:ea typeface="Georgia"/>
                <a:cs typeface="Georgia"/>
              </a:rPr>
              <a:t>Django</a:t>
            </a:r>
            <a:r>
              <a:rPr lang="zh-TW" altLang="en-US" sz="2700" b="1" dirty="0">
                <a:solidFill>
                  <a:srgbClr val="172033"/>
                </a:solidFill>
                <a:latin typeface="Georgia"/>
                <a:ea typeface="Georgia"/>
                <a:cs typeface="Georgia"/>
              </a:rPr>
              <a:t> </a:t>
            </a:r>
            <a:r>
              <a:rPr lang="en-US" altLang="zh-TW" sz="2700" b="1" dirty="0">
                <a:solidFill>
                  <a:srgbClr val="172033"/>
                </a:solidFill>
                <a:latin typeface="Georgia"/>
                <a:ea typeface="Georgia"/>
                <a:cs typeface="Georgia"/>
              </a:rPr>
              <a:t>home.html–</a:t>
            </a:r>
            <a:r>
              <a:rPr lang="zh-TW" altLang="en-US" sz="2700" b="1" dirty="0">
                <a:solidFill>
                  <a:srgbClr val="172033"/>
                </a:solidFill>
                <a:latin typeface="Georgia"/>
                <a:ea typeface="Georgia"/>
                <a:cs typeface="Georgia"/>
              </a:rPr>
              <a:t> </a:t>
            </a:r>
            <a:r>
              <a:rPr lang="en-US" altLang="zh-TW" sz="2700" b="1" dirty="0">
                <a:solidFill>
                  <a:srgbClr val="172033"/>
                </a:solidFill>
                <a:latin typeface="Georgia"/>
                <a:ea typeface="Georgia"/>
                <a:cs typeface="Georgia"/>
              </a:rPr>
              <a:t>login.html</a:t>
            </a:r>
            <a:endParaRPr sz="2700" b="1" dirty="0">
              <a:solidFill>
                <a:srgbClr val="172033"/>
              </a:solidFill>
              <a:latin typeface="Georgia"/>
              <a:ea typeface="Georgia"/>
              <a:cs typeface="Georgia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2D3E486-980C-4AC8-B358-51128A3F6C74}"/>
              </a:ext>
            </a:extLst>
          </p:cNvPr>
          <p:cNvSpPr>
            <a:spLocks noGrp="1"/>
          </p:cNvSpPr>
          <p:nvPr/>
        </p:nvSpPr>
        <p:spPr>
          <a:xfrm>
            <a:off x="10058400" y="457200"/>
            <a:ext cx="152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Django pages report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89537A4-02EA-4C1B-B197-6D4A06CE8885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10382250" cy="12383"/>
          </a:xfrm>
          <a:prstGeom prst="rect">
            <a:avLst/>
          </a:prstGeom>
          <a:solidFill>
            <a:srgbClr val="D8CEC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08D8732-2C72-4427-AE4A-E891D9F1C9A0}"/>
              </a:ext>
            </a:extLst>
          </p:cNvPr>
          <p:cNvSpPr>
            <a:spLocks noGrp="1"/>
          </p:cNvSpPr>
          <p:nvPr/>
        </p:nvSpPr>
        <p:spPr>
          <a:xfrm>
            <a:off x="11106150" y="6200775"/>
            <a:ext cx="514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lang="en-US" sz="975" b="1" dirty="0">
                <a:solidFill>
                  <a:srgbClr val="5F6B7A"/>
                </a:solidFill>
                <a:latin typeface="Aptos"/>
                <a:ea typeface="Aptos"/>
                <a:cs typeface="Aptos"/>
              </a:rPr>
              <a:t>02</a:t>
            </a:r>
            <a:endParaRPr sz="975" b="1" dirty="0">
              <a:solidFill>
                <a:srgbClr val="5F6B7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735266F-DFD0-F0A1-08C5-04512D60FD4E}"/>
              </a:ext>
            </a:extLst>
          </p:cNvPr>
          <p:cNvSpPr/>
          <p:nvPr/>
        </p:nvSpPr>
        <p:spPr>
          <a:xfrm>
            <a:off x="8633710" y="1251187"/>
            <a:ext cx="2986790" cy="286232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altLang="zh-TW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script</a:t>
            </a:r>
            <a:r>
              <a:rPr lang="zh-TW" alt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的內容有</a:t>
            </a:r>
            <a:endParaRPr lang="en-US" altLang="zh-TW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altLang="zh-TW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1.</a:t>
            </a:r>
            <a:r>
              <a:rPr lang="zh-TW" alt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定義一個表單，提交方視為</a:t>
            </a:r>
            <a:r>
              <a:rPr lang="en-US" altLang="zh-TW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POST</a:t>
            </a:r>
          </a:p>
          <a:p>
            <a:r>
              <a:rPr lang="en-US" altLang="zh-TW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2.</a:t>
            </a:r>
            <a:r>
              <a:rPr lang="zh-TW" alt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大括號裡的內容是</a:t>
            </a:r>
            <a:r>
              <a:rPr lang="en-US" altLang="zh-TW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Django</a:t>
            </a:r>
            <a:r>
              <a:rPr lang="zh-TW" alt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裡表單的自動生成語法，當網頁執行時他會變成完整的樣子。</a:t>
            </a:r>
            <a:endParaRPr lang="en-US" altLang="zh-TW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zh-TW" alt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像是</a:t>
            </a:r>
            <a:r>
              <a:rPr lang="en-US" altLang="zh-TW" dirty="0"/>
              <a:t>{{ </a:t>
            </a:r>
            <a:r>
              <a:rPr lang="en-US" altLang="zh-TW" dirty="0" err="1"/>
              <a:t>form.username</a:t>
            </a:r>
            <a:r>
              <a:rPr lang="en-US" altLang="zh-TW" dirty="0"/>
              <a:t> }}</a:t>
            </a:r>
            <a:r>
              <a:rPr lang="zh-TW" alt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會變成</a:t>
            </a:r>
            <a:r>
              <a:rPr lang="en-US" altLang="zh-TW" dirty="0"/>
              <a:t>&lt;input type=“text” ...&gt;</a:t>
            </a:r>
            <a:r>
              <a:rPr lang="zh-TW" altLang="en-US" dirty="0"/>
              <a:t>這樣子</a:t>
            </a:r>
            <a:endParaRPr lang="en-US" altLang="zh-TW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BA520BEE-5787-0D21-F09A-5B6EA0EF33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" y="1885325"/>
            <a:ext cx="7937822" cy="4477375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1D380007-40A1-20E2-7A2E-E06780A9E266}"/>
              </a:ext>
            </a:extLst>
          </p:cNvPr>
          <p:cNvSpPr/>
          <p:nvPr/>
        </p:nvSpPr>
        <p:spPr>
          <a:xfrm>
            <a:off x="655746" y="1308325"/>
            <a:ext cx="5504777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使用</a:t>
            </a:r>
            <a:r>
              <a:rPr lang="en-US" altLang="zh-TW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login-card</a:t>
            </a:r>
            <a:r>
              <a:rPr lang="zh-TW" alt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類別來表示這是卡片，標題為帳號登入</a:t>
            </a:r>
            <a:endParaRPr lang="zh-TW" alt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7887721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>
            <a:extLst>
              <a:ext uri="{FF2B5EF4-FFF2-40B4-BE49-F238E27FC236}">
                <a16:creationId xmlns:a16="http://schemas.microsoft.com/office/drawing/2014/main" id="{7B33871F-AD0D-4477-A4CD-F4FF1583A79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AE808520-0359-43D4-A540-39FB4D7B8B03}"/>
              </a:ext>
            </a:extLst>
          </p:cNvPr>
          <p:cNvSpPr>
            <a:spLocks noGrp="1"/>
          </p:cNvSpPr>
          <p:nvPr/>
        </p:nvSpPr>
        <p:spPr>
          <a:xfrm>
            <a:off x="419100" y="419100"/>
            <a:ext cx="95250" cy="209550"/>
          </a:xfrm>
          <a:prstGeom prst="rect">
            <a:avLst/>
          </a:prstGeom>
          <a:solidFill>
            <a:srgbClr val="C47F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CBDB52F7-39F9-4EDE-8902-68C03A953528}"/>
              </a:ext>
            </a:extLst>
          </p:cNvPr>
          <p:cNvSpPr>
            <a:spLocks noGrp="1"/>
          </p:cNvSpPr>
          <p:nvPr/>
        </p:nvSpPr>
        <p:spPr>
          <a:xfrm>
            <a:off x="609600" y="390525"/>
            <a:ext cx="247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TAKEAWAYS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5313043-E3A1-4A9B-BEFD-97C86DF02DA7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72390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72033"/>
                </a:solidFill>
                <a:latin typeface="Georgia"/>
                <a:ea typeface="Georgia"/>
                <a:cs typeface="Georgia"/>
              </a:defRPr>
            </a:pPr>
            <a:r>
              <a:rPr lang="zh-TW" altLang="en-US" sz="2700" b="1" dirty="0">
                <a:solidFill>
                  <a:srgbClr val="172033"/>
                </a:solidFill>
                <a:latin typeface="Georgia"/>
                <a:ea typeface="Georgia"/>
                <a:cs typeface="Georgia"/>
              </a:rPr>
              <a:t>成果</a:t>
            </a:r>
            <a:endParaRPr sz="2700" b="1" dirty="0">
              <a:solidFill>
                <a:srgbClr val="172033"/>
              </a:solidFill>
              <a:latin typeface="Georgia"/>
              <a:ea typeface="Georgia"/>
              <a:cs typeface="Georgia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D4CB972-5B0C-4E01-9009-1506279FA053}"/>
              </a:ext>
            </a:extLst>
          </p:cNvPr>
          <p:cNvSpPr>
            <a:spLocks noGrp="1"/>
          </p:cNvSpPr>
          <p:nvPr/>
        </p:nvSpPr>
        <p:spPr>
          <a:xfrm>
            <a:off x="10058400" y="457200"/>
            <a:ext cx="152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Django pages report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3933086-C8BB-4199-8B6F-B31489A08B20}"/>
              </a:ext>
            </a:extLst>
          </p:cNvPr>
          <p:cNvSpPr>
            <a:spLocks noGrp="1"/>
          </p:cNvSpPr>
          <p:nvPr/>
        </p:nvSpPr>
        <p:spPr>
          <a:xfrm>
            <a:off x="762000" y="2076450"/>
            <a:ext cx="5238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8529D81-B780-4496-9C29-443C1105D716}"/>
              </a:ext>
            </a:extLst>
          </p:cNvPr>
          <p:cNvSpPr>
            <a:spLocks noGrp="1"/>
          </p:cNvSpPr>
          <p:nvPr/>
        </p:nvSpPr>
        <p:spPr>
          <a:xfrm>
            <a:off x="762000" y="2895600"/>
            <a:ext cx="5238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0116DC08-8F0F-4181-92CF-79BF2D412688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10382250" cy="12383"/>
          </a:xfrm>
          <a:prstGeom prst="rect">
            <a:avLst/>
          </a:prstGeom>
          <a:solidFill>
            <a:srgbClr val="D8CEC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10B7D5B-98E0-4A0B-AF06-6D43F8C21B2A}"/>
              </a:ext>
            </a:extLst>
          </p:cNvPr>
          <p:cNvSpPr>
            <a:spLocks noGrp="1"/>
          </p:cNvSpPr>
          <p:nvPr/>
        </p:nvSpPr>
        <p:spPr>
          <a:xfrm>
            <a:off x="11106150" y="6200775"/>
            <a:ext cx="514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F6B7A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A529EEDE-3BF9-A07A-6BAE-5B3C80A0B2A4}"/>
              </a:ext>
            </a:extLst>
          </p:cNvPr>
          <p:cNvSpPr>
            <a:spLocks noGrp="1"/>
          </p:cNvSpPr>
          <p:nvPr/>
        </p:nvSpPr>
        <p:spPr>
          <a:xfrm>
            <a:off x="8006683" y="2954834"/>
            <a:ext cx="3811929" cy="3219450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/>
          <a:lstStyle/>
          <a:p>
            <a:r>
              <a:rPr lang="zh-TW" altLang="en-US" sz="2800" dirty="0">
                <a:solidFill>
                  <a:schemeClr val="bg1"/>
                </a:solidFill>
                <a:latin typeface="Aa复古小猫画报集" panose="02010600010101010101" pitchFamily="2" charset="-122"/>
                <a:ea typeface="Aa复古小猫画报集" panose="02010600010101010101" pitchFamily="2" charset="-122"/>
              </a:rPr>
              <a:t>可改善的地方</a:t>
            </a:r>
            <a:r>
              <a:rPr lang="en-US" altLang="zh-TW" sz="2800" dirty="0">
                <a:solidFill>
                  <a:schemeClr val="bg1"/>
                </a:solidFill>
                <a:latin typeface="Aa复古小猫画报集" panose="02010600010101010101" pitchFamily="2" charset="-122"/>
                <a:ea typeface="Aa复古小猫画报集" panose="02010600010101010101" pitchFamily="2" charset="-122"/>
              </a:rPr>
              <a:t>:</a:t>
            </a:r>
          </a:p>
          <a:p>
            <a:r>
              <a:rPr lang="en-US" altLang="zh-TW" sz="2800" dirty="0">
                <a:solidFill>
                  <a:schemeClr val="bg1"/>
                </a:solidFill>
                <a:latin typeface="Aa复古小猫画报集" panose="02010600010101010101" pitchFamily="2" charset="-122"/>
                <a:ea typeface="Aa复古小猫画报集" panose="02010600010101010101" pitchFamily="2" charset="-122"/>
              </a:rPr>
              <a:t>1.Notebook</a:t>
            </a:r>
            <a:r>
              <a:rPr lang="zh-TW" altLang="en-US" sz="2800" dirty="0">
                <a:solidFill>
                  <a:schemeClr val="bg1"/>
                </a:solidFill>
                <a:latin typeface="Aa复古小猫画报集" panose="02010600010101010101" pitchFamily="2" charset="-122"/>
                <a:ea typeface="Aa复古小猫画报集" panose="02010600010101010101" pitchFamily="2" charset="-122"/>
              </a:rPr>
              <a:t>功能的完善</a:t>
            </a:r>
            <a:endParaRPr lang="en-US" altLang="zh-TW" sz="2800" dirty="0">
              <a:solidFill>
                <a:schemeClr val="bg1"/>
              </a:solidFill>
              <a:latin typeface="Aa复古小猫画报集" panose="02010600010101010101" pitchFamily="2" charset="-122"/>
              <a:ea typeface="Aa复古小猫画报集" panose="02010600010101010101" pitchFamily="2" charset="-122"/>
            </a:endParaRPr>
          </a:p>
          <a:p>
            <a:r>
              <a:rPr lang="en-US" altLang="zh-TW" sz="2800" dirty="0">
                <a:solidFill>
                  <a:schemeClr val="bg1"/>
                </a:solidFill>
                <a:latin typeface="Aa复古小猫画报集" panose="02010600010101010101" pitchFamily="2" charset="-122"/>
                <a:ea typeface="Aa复古小猫画报集" panose="02010600010101010101" pitchFamily="2" charset="-122"/>
              </a:rPr>
              <a:t>2.</a:t>
            </a:r>
            <a:r>
              <a:rPr lang="zh-TW" altLang="en-US" sz="2800" dirty="0">
                <a:solidFill>
                  <a:schemeClr val="bg1"/>
                </a:solidFill>
                <a:latin typeface="Aa复古小猫画报集" panose="02010600010101010101" pitchFamily="2" charset="-122"/>
                <a:ea typeface="Aa复古小猫画报集" panose="02010600010101010101" pitchFamily="2" charset="-122"/>
              </a:rPr>
              <a:t>帳號註冊功能</a:t>
            </a:r>
            <a:endParaRPr lang="en-US" altLang="zh-TW" sz="2800" dirty="0">
              <a:solidFill>
                <a:schemeClr val="bg1"/>
              </a:solidFill>
              <a:latin typeface="Aa复古小猫画报集" panose="02010600010101010101" pitchFamily="2" charset="-122"/>
              <a:ea typeface="Aa复古小猫画报集" panose="02010600010101010101" pitchFamily="2" charset="-122"/>
            </a:endParaRPr>
          </a:p>
          <a:p>
            <a:r>
              <a:rPr lang="en-US" altLang="zh-TW" sz="2800" dirty="0">
                <a:solidFill>
                  <a:schemeClr val="bg1"/>
                </a:solidFill>
                <a:latin typeface="Aa复古小猫画报集" panose="02010600010101010101" pitchFamily="2" charset="-122"/>
                <a:ea typeface="Aa复古小猫画报集" panose="02010600010101010101" pitchFamily="2" charset="-122"/>
              </a:rPr>
              <a:t>3.</a:t>
            </a:r>
            <a:r>
              <a:rPr lang="zh-TW" altLang="en-US" sz="2800" dirty="0">
                <a:solidFill>
                  <a:schemeClr val="bg1"/>
                </a:solidFill>
                <a:latin typeface="Aa复古小猫画报集" panose="02010600010101010101" pitchFamily="2" charset="-122"/>
                <a:ea typeface="Aa复古小猫画报集" panose="02010600010101010101" pitchFamily="2" charset="-122"/>
              </a:rPr>
              <a:t>畫面改進</a:t>
            </a:r>
            <a:endParaRPr lang="en-US" altLang="zh-TW" sz="2800" dirty="0">
              <a:solidFill>
                <a:schemeClr val="bg1"/>
              </a:solidFill>
              <a:latin typeface="Aa复古小猫画报集" panose="02010600010101010101" pitchFamily="2" charset="-122"/>
              <a:ea typeface="Aa复古小猫画报集" panose="02010600010101010101" pitchFamily="2" charset="-122"/>
            </a:endParaRPr>
          </a:p>
          <a:p>
            <a:r>
              <a:rPr lang="en-US" altLang="zh-TW" sz="2800" dirty="0">
                <a:solidFill>
                  <a:schemeClr val="bg1"/>
                </a:solidFill>
                <a:latin typeface="Aa复古小猫画报集" panose="02010600010101010101" pitchFamily="2" charset="-122"/>
                <a:ea typeface="Aa复古小猫画报集" panose="02010600010101010101" pitchFamily="2" charset="-122"/>
              </a:rPr>
              <a:t>4.Renpy</a:t>
            </a:r>
            <a:r>
              <a:rPr lang="zh-TW" altLang="en-US" sz="2800" dirty="0">
                <a:solidFill>
                  <a:schemeClr val="bg1"/>
                </a:solidFill>
                <a:latin typeface="Aa复古小猫画报集" panose="02010600010101010101" pitchFamily="2" charset="-122"/>
                <a:ea typeface="Aa复古小猫画报集" panose="02010600010101010101" pitchFamily="2" charset="-122"/>
              </a:rPr>
              <a:t>關卡的導入</a:t>
            </a:r>
            <a:endParaRPr lang="en-US" altLang="zh-TW" sz="2800" dirty="0">
              <a:solidFill>
                <a:schemeClr val="bg1"/>
              </a:solidFill>
              <a:latin typeface="Aa复古小猫画报集" panose="02010600010101010101" pitchFamily="2" charset="-122"/>
              <a:ea typeface="Aa复古小猫画报集" panose="02010600010101010101" pitchFamily="2" charset="-122"/>
            </a:endParaRPr>
          </a:p>
          <a:p>
            <a:r>
              <a:rPr lang="en-US" altLang="zh-TW" sz="2800" dirty="0">
                <a:solidFill>
                  <a:schemeClr val="bg1"/>
                </a:solidFill>
                <a:latin typeface="Aa复古小猫画报集" panose="02010600010101010101" pitchFamily="2" charset="-122"/>
                <a:ea typeface="Aa复古小猫画报集" panose="02010600010101010101" pitchFamily="2" charset="-122"/>
              </a:rPr>
              <a:t>5.</a:t>
            </a:r>
            <a:r>
              <a:rPr lang="zh-TW" altLang="en-US" sz="2800" dirty="0">
                <a:solidFill>
                  <a:schemeClr val="bg1"/>
                </a:solidFill>
                <a:latin typeface="Aa复古小猫画报集" panose="02010600010101010101" pitchFamily="2" charset="-122"/>
                <a:ea typeface="Aa复古小猫画报集" panose="02010600010101010101" pitchFamily="2" charset="-122"/>
              </a:rPr>
              <a:t>後續關卡設計</a:t>
            </a:r>
          </a:p>
        </p:txBody>
      </p:sp>
      <p:pic>
        <p:nvPicPr>
          <p:cNvPr id="34" name="圖片 33">
            <a:extLst>
              <a:ext uri="{FF2B5EF4-FFF2-40B4-BE49-F238E27FC236}">
                <a16:creationId xmlns:a16="http://schemas.microsoft.com/office/drawing/2014/main" id="{25600AE2-2996-2E19-DFDB-E857D1A201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388" y="1247552"/>
            <a:ext cx="6597000" cy="2759286"/>
          </a:xfrm>
          <a:prstGeom prst="rect">
            <a:avLst/>
          </a:prstGeom>
          <a:ln w="57150">
            <a:solidFill>
              <a:schemeClr val="accent1">
                <a:lumMod val="60000"/>
                <a:lumOff val="40000"/>
              </a:schemeClr>
            </a:solidFill>
          </a:ln>
        </p:spPr>
      </p:pic>
      <p:pic>
        <p:nvPicPr>
          <p:cNvPr id="36" name="圖片 35">
            <a:extLst>
              <a:ext uri="{FF2B5EF4-FFF2-40B4-BE49-F238E27FC236}">
                <a16:creationId xmlns:a16="http://schemas.microsoft.com/office/drawing/2014/main" id="{540AC7E9-D5A8-2C71-41F5-C49219E5A8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065" y="4216422"/>
            <a:ext cx="6674323" cy="2431993"/>
          </a:xfrm>
          <a:prstGeom prst="rect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59769127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1232</Words>
  <Application>Microsoft Office PowerPoint</Application>
  <DocSecurity>0</DocSecurity>
  <PresentationFormat>寬螢幕</PresentationFormat>
  <Paragraphs>187</Paragraphs>
  <Slides>15</Slides>
  <Notes>15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15</vt:i4>
      </vt:variant>
    </vt:vector>
  </HeadingPairs>
  <TitlesOfParts>
    <vt:vector size="23" baseType="lpstr">
      <vt:lpstr>Aa复古小猫画报集</vt:lpstr>
      <vt:lpstr>微軟正黑體 Light</vt:lpstr>
      <vt:lpstr>Aptos</vt:lpstr>
      <vt:lpstr>Aptos Mono</vt:lpstr>
      <vt:lpstr>Calibri</vt:lpstr>
      <vt:lpstr>Georgia</vt:lpstr>
      <vt:lpstr>Wingdings</vt:lpstr>
      <vt:lpstr>ChatGPT</vt:lpstr>
      <vt:lpstr>PowerPoint 簡報</vt:lpstr>
      <vt:lpstr>RenPy 關卡設計</vt:lpstr>
      <vt:lpstr>RenPy 關卡設計-script.rpy改動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劉育愷</cp:lastModifiedBy>
  <cp:revision>2</cp:revision>
  <dcterms:created xsi:type="dcterms:W3CDTF">2026-05-17T18:30:30Z</dcterms:created>
  <dcterms:modified xsi:type="dcterms:W3CDTF">2026-05-18T04:29:03Z</dcterms:modified>
</cp:coreProperties>
</file>