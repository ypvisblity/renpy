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9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0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11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12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13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14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ink/ink21.xml" ContentType="application/inkml+xml"/>
  <Override PartName="/ppt/notesSlides/notesSlide15.xml" ContentType="application/vnd.openxmlformats-officedocument.presentationml.notesSlide+xml"/>
  <Override PartName="/ppt/ink/ink22.xml" ContentType="application/inkml+xml"/>
  <Override PartName="/ppt/ink/ink23.xml" ContentType="application/inkml+xml"/>
  <Override PartName="/ppt/ink/ink24.xml" ContentType="application/inkml+xml"/>
  <Override PartName="/ppt/notesSlides/notesSlide16.xml" ContentType="application/vnd.openxmlformats-officedocument.presentationml.notesSlide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17.xml" ContentType="application/vnd.openxmlformats-officedocument.presentationml.notesSlide+xml"/>
  <Override PartName="/ppt/ink/ink28.xml" ContentType="application/inkml+xml"/>
  <Override PartName="/ppt/ink/ink29.xml" ContentType="application/inkml+xml"/>
  <Override PartName="/ppt/ink/ink30.xml" ContentType="application/inkml+xml"/>
  <Override PartName="/ppt/notesSlides/notesSlide18.xml" ContentType="application/vnd.openxmlformats-officedocument.presentationml.notesSlide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19.xml" ContentType="application/vnd.openxmlformats-officedocument.presentationml.notesSlide+xml"/>
  <Override PartName="/ppt/ink/ink34.xml" ContentType="application/inkml+xml"/>
  <Override PartName="/ppt/ink/ink35.xml" ContentType="application/inkml+xml"/>
  <Override PartName="/ppt/ink/ink36.xml" ContentType="application/inkml+xml"/>
  <Override PartName="/ppt/notesSlides/notesSlide20.xml" ContentType="application/vnd.openxmlformats-officedocument.presentationml.notesSlide+xml"/>
  <Override PartName="/ppt/ink/ink37.xml" ContentType="application/inkml+xml"/>
  <Override PartName="/ppt/ink/ink38.xml" ContentType="application/inkml+xml"/>
  <Override PartName="/ppt/ink/ink39.xml" ContentType="application/inkml+xml"/>
  <Override PartName="/ppt/notesSlides/notesSlide21.xml" ContentType="application/vnd.openxmlformats-officedocument.presentationml.notesSlide+xml"/>
  <Override PartName="/ppt/ink/ink40.xml" ContentType="application/inkml+xml"/>
  <Override PartName="/ppt/ink/ink41.xml" ContentType="application/inkml+xml"/>
  <Override PartName="/ppt/ink/ink42.xml" ContentType="application/inkml+xml"/>
  <Override PartName="/ppt/notesSlides/notesSlide22.xml" ContentType="application/vnd.openxmlformats-officedocument.presentationml.notesSlide+xml"/>
  <Override PartName="/ppt/ink/ink43.xml" ContentType="application/inkml+xml"/>
  <Override PartName="/ppt/ink/ink44.xml" ContentType="application/inkml+xml"/>
  <Override PartName="/ppt/ink/ink45.xml" ContentType="application/inkml+xml"/>
  <Override PartName="/ppt/notesSlides/notesSlide23.xml" ContentType="application/vnd.openxmlformats-officedocument.presentationml.notesSlide+xml"/>
  <Override PartName="/ppt/ink/ink46.xml" ContentType="application/inkml+xml"/>
  <Override PartName="/ppt/ink/ink47.xml" ContentType="application/inkml+xml"/>
  <Override PartName="/ppt/ink/ink48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65" r:id="rId3"/>
    <p:sldId id="328" r:id="rId4"/>
    <p:sldId id="311" r:id="rId5"/>
    <p:sldId id="329" r:id="rId6"/>
    <p:sldId id="330" r:id="rId7"/>
    <p:sldId id="331" r:id="rId8"/>
    <p:sldId id="332" r:id="rId9"/>
    <p:sldId id="333" r:id="rId10"/>
    <p:sldId id="334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342" r:id="rId19"/>
    <p:sldId id="343" r:id="rId20"/>
    <p:sldId id="345" r:id="rId21"/>
    <p:sldId id="344" r:id="rId22"/>
    <p:sldId id="346" r:id="rId23"/>
    <p:sldId id="347" r:id="rId24"/>
    <p:sldId id="348" r:id="rId25"/>
    <p:sldId id="349" r:id="rId26"/>
    <p:sldId id="267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EBB95DC8-3C02-44AB-B1ED-631A26AB7D99}">
          <p14:sldIdLst>
            <p14:sldId id="256"/>
            <p14:sldId id="265"/>
          </p14:sldIdLst>
        </p14:section>
        <p14:section name="未命名的章節" id="{F44A88FC-5764-4BC3-ABBF-5EAB90BC7E1E}">
          <p14:sldIdLst>
            <p14:sldId id="328"/>
            <p14:sldId id="311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5"/>
            <p14:sldId id="344"/>
            <p14:sldId id="346"/>
            <p14:sldId id="347"/>
            <p14:sldId id="348"/>
            <p14:sldId id="349"/>
          </p14:sldIdLst>
        </p14:section>
        <p14:section name="未命名" id="{AB201B5D-527D-45AB-B57D-ED06D7FF839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BC31086-2AF2-3F16-5EA2-3F836B72C889}" name="家耀 張" initials="家張" userId="2864388ae36ba22c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40" autoAdjust="0"/>
    <p:restoredTop sz="91732" autoAdjust="0"/>
  </p:normalViewPr>
  <p:slideViewPr>
    <p:cSldViewPr>
      <p:cViewPr varScale="1">
        <p:scale>
          <a:sx n="75" d="100"/>
          <a:sy n="75" d="100"/>
        </p:scale>
        <p:origin x="193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811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6.xml"/><Relationship Id="rId2" Type="http://schemas.openxmlformats.org/officeDocument/2006/relationships/slide" Target="slides/slide2.xml"/><Relationship Id="rId1" Type="http://schemas.openxmlformats.org/officeDocument/2006/relationships/slide" Target="slides/slid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26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0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1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26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0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1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26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0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1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26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0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1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26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0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1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26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0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1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26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0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1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26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0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1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26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0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1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26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0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1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26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0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1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26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0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1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26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0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1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26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0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1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26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0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1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26.2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0.2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01T03:15:31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10137-1A81-4E0D-9032-609E98C676AE}" type="datetimeFigureOut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DC839D-53C0-477E-9499-3CBD2E0855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6484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105BB-BE46-BAA0-2699-41F3E9CB3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A45AA42-6F43-0D9F-A2D2-74ABC9316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906F7F3-9730-E498-A978-4AA4E448B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3C15C4-CF4C-6B66-4AEE-9E1A301AE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68144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4D40A-4B2B-C1B9-C786-CF6215103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B8C47FB-0526-6329-F844-D1ECA637F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FAAD22C-5C2C-3DFA-B2D5-50A347D5B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F792B6-47BF-53C6-F576-5EDE4073DD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7689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D145A-3D7B-70A5-8F6A-EF8B2FDC9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D9AFC86-4A8B-DC7A-A85B-7F06217183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01D2E2D-DAB4-5511-B9CD-99844740F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D67B34-5703-980A-CC2B-2EBF67522A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4213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D2769-AFE4-0362-CF43-6E8052D76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77AC261-5199-AC2F-9DC3-8426C6F063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950A733-5D32-F58A-FF4A-31C7720DD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3354CC-F04A-CA8F-5676-0725BFD0B3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10691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C23A8-0361-F14C-7532-F5952E2FF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2A1B6D9-A3FC-AB82-35E6-C7E440587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0E2FA27-39E2-BE53-75D2-A29F6E07D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E17C45-027D-12BB-E3F7-7601895A4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4100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CF199-864C-9D94-1067-21E965956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0C1946C-F177-0D21-5524-F1C7D5F79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71ED355-7708-A856-04E9-02B9AAF96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AFE8BE-9C75-2554-5B62-04F8605E0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2254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6ED3F-334D-3EEA-C3CA-F6151B363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81D10B3-21E1-BD52-37E5-A300392F9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F34099B-DD42-EE07-7123-4EA63A0A1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DE633DC-5639-B555-FF32-561B0B98E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54890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95D67-1355-4E8A-A6FF-95C4D8C64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3E084EB-7ABD-A241-E6ED-E32E6CDAFE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D36F394-31B8-8216-BA73-6E09907E9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7EEDD2-A5DB-8EDD-D740-F8BA8562D1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45932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3BF70-0BFB-A5D9-52C4-D0CAD9BBF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2BF79C3-98C7-29CB-5A47-711D6EF40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05E3274-FA03-E67B-C273-7A0EDB7C9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A2FC672-3186-7E3E-2321-AFF4375F5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05365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DEF29-7E41-CA1A-125E-E91D8D4B9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6228B51-085E-8EEF-2CF9-BD10B82FAB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9BA0EEE-B43C-CBFE-1B3C-888AB082A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DFA05B-3E02-A6C8-8B5C-B69DC7A657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9899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ED9F7-C309-638C-3DC7-DD4F2E921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1EB009F-6678-8B87-3E46-800052D43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9DD3532-2966-A4B3-B1E6-7498CC3711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752D2BE-A26B-591D-6DF4-179FC7BE1B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7359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725AF-5237-DE09-EC87-BEB3FD29C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BCAF899-0FEB-025D-51F9-FAD1C2C5C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1690C1-739C-1787-DB34-168B8F3B28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122FE0D-87AF-E65B-1CC0-179D4DEDF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30570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3269A-99E5-FA27-3712-98EB680C3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323DF51-A893-7A6D-9347-A4B129BD9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01B6CA2-E2AD-5620-A92F-215B58AD16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812F308-E54A-2B22-5083-E08D5E746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1895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D6F20-AEED-F006-52EA-1A4D6F2A3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0BBA73F-7FFC-426C-AE0C-849793D80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0B7ACE7-E2B4-2699-7FE1-D15F05691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138A4C8-6234-C6A8-E232-66F28EA784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69085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58443-D787-C1E6-8455-5A2C18944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9F8E324-21A0-9B8A-C086-C9E1C50D80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66197EB-FF74-5503-F89F-FC51AAE36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00DAFA0-FB31-125B-8937-B5968E41B8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45222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1137B-EA53-8C1B-5B78-DBFFE2ABA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78FA90E-46B9-1733-BE4C-568A4DDE2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E15D3B4-6BEB-BF52-170A-997013FC6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862078-2DF4-121F-5633-A0EBEE918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44763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F4A40-1B8A-4AE6-5268-ADB4E53ED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67D963F-8A24-E083-8B54-F3C25F4EF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6D75EA5-4185-9764-AF23-3ACA21013A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0FD9F69-7053-434D-0C18-D72E852D6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17167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E30EC-34E7-F634-4007-85FCF22B8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554B251-91A6-0543-E0BE-8B8426090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A0EEF34-204E-750E-179C-E9A3D1F44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BF584B-7A91-B58E-D001-95FA337BBF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13996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71A6F-79BE-91F5-EB12-85B6BDB3A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B0C6C2F-FD77-F41C-0850-D7947AFAA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285D395-D569-3006-3274-86E4E998CA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E56751-02FE-C64E-7E22-43DF7BCDD7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96368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64C06-9D2D-36C6-18A8-BB206045E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4F1790F-FA73-4028-843E-2A199D6C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DE33EF9-E855-77FE-3A6C-AEAB4B301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F6CD05-95BA-98AB-B493-DE405B03A0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62686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DF0AD-FBB3-1338-30C5-7E669D71A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83D859A-D3E6-6C5C-0B87-23FC28AC2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012AC95-1378-2648-29BE-894C8707D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1B71EE-BA68-8C0E-C5F1-798E3BE22E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48086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65956-BF24-ABA0-AA42-57EADB870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641A0A1-48C4-4E80-28C3-DAA34790F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A89DDC-A650-FD72-9852-F233F7D511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34B61F-D0FD-DBB6-B8BC-040859ADAB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96598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2CB17-5536-3287-2588-0C12CB746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59E8A1D-6F55-4A48-1DE4-5F163C6310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A46BAB1-B6D5-413F-E0BE-1D771B277C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C45914-7C46-0C35-CFC3-7C4D9DA35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DC839D-53C0-477E-9499-3CBD2E08551A}" type="slidenum">
              <a:rPr lang="zh-TW" altLang="en-US" smtClean="0"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553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36346" y="1788454"/>
            <a:ext cx="6270922" cy="2098226"/>
          </a:xfrm>
        </p:spPr>
        <p:txBody>
          <a:bodyPr anchor="b">
            <a:noAutofit/>
          </a:bodyPr>
          <a:lstStyle>
            <a:lvl1pPr algn="ct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9930" y="3956280"/>
            <a:ext cx="5123755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4644" y="6453386"/>
            <a:ext cx="1205958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1A29149-C5EC-49F5-B776-734C8347F9B8}" type="datetime1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041" y="6453386"/>
            <a:ext cx="5267533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564643" y="744469"/>
            <a:ext cx="8005589" cy="5349671"/>
            <a:chOff x="564643" y="744469"/>
            <a:chExt cx="8005589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6113972" y="1685652"/>
              <a:ext cx="2456260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357"/>
                  </a:lnTo>
                  <a:lnTo>
                    <a:pt x="8761" y="935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564643" y="744469"/>
              <a:ext cx="2456505" cy="4408488"/>
            </a:xfrm>
            <a:custGeom>
              <a:avLst/>
              <a:gdLst/>
              <a:ahLst/>
              <a:cxnLst/>
              <a:rect l="l" t="t" r="r" b="b"/>
              <a:pathLst>
                <a:path w="10001" h="10000">
                  <a:moveTo>
                    <a:pt x="8762" y="0"/>
                  </a:moveTo>
                  <a:lnTo>
                    <a:pt x="10001" y="0"/>
                  </a:lnTo>
                  <a:lnTo>
                    <a:pt x="10001" y="10000"/>
                  </a:lnTo>
                  <a:lnTo>
                    <a:pt x="1" y="10000"/>
                  </a:lnTo>
                  <a:cubicBezTo>
                    <a:pt x="-2" y="9766"/>
                    <a:pt x="4" y="9586"/>
                    <a:pt x="1" y="9352"/>
                  </a:cubicBezTo>
                  <a:lnTo>
                    <a:pt x="8762" y="9346"/>
                  </a:lnTo>
                  <a:lnTo>
                    <a:pt x="876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566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A1866-9651-4908-B57D-19F66F0CB226}" type="datetime1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2669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69" y="1301361"/>
            <a:ext cx="7209728" cy="2852737"/>
          </a:xfrm>
        </p:spPr>
        <p:txBody>
          <a:bodyPr anchor="b">
            <a:normAutofit/>
          </a:bodyPr>
          <a:lstStyle>
            <a:lvl1pPr algn="r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3769" y="4216328"/>
            <a:ext cx="7209728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4181" y="6453386"/>
            <a:ext cx="1216807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6B79E9-7AAB-4684-B228-C54A80412DF5}" type="datetime1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38234" y="6453386"/>
            <a:ext cx="5267533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373012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" name="Freeform 7" title="Crop Mark"/>
          <p:cNvSpPr/>
          <p:nvPr/>
        </p:nvSpPr>
        <p:spPr bwMode="auto">
          <a:xfrm>
            <a:off x="6113972" y="1685652"/>
            <a:ext cx="2456260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080313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8700" y="2286000"/>
            <a:ext cx="3335840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94052" y="2286000"/>
            <a:ext cx="3335840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2ED6E-AB36-46F9-B3E7-BAEC20D2097B}" type="datetime1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0187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340230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8700" y="3305208"/>
            <a:ext cx="3335839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3760" y="2349754"/>
            <a:ext cx="3335840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0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93760" y="3305208"/>
            <a:ext cx="3335840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20E48-F43F-4A80-B766-141B04CC0EF6}" type="datetime1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336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A353DF-7321-47E7-9181-A5F37F0EA25E}" type="datetime1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446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6700A-E63E-433A-BB48-9AACA55EC76A}" type="datetime1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668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400" baseline="0">
                <a:solidFill>
                  <a:schemeClr val="tx2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2015" y="685801"/>
            <a:ext cx="3909060" cy="5175250"/>
          </a:xfrm>
        </p:spPr>
        <p:txBody>
          <a:bodyPr/>
          <a:lstStyle>
            <a:lvl1pPr>
              <a:defRPr sz="15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6344"/>
            <a:ext cx="2891790" cy="3011056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04BBD1A-C821-4C1E-B76C-29EF781C868F}" type="datetime1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35680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397764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925" y="685800"/>
            <a:ext cx="289179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400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149090" y="1"/>
            <a:ext cx="4994910" cy="6857999"/>
          </a:xfrm>
        </p:spPr>
        <p:txBody>
          <a:bodyPr anchor="t"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500"/>
            </a:lvl2pPr>
            <a:lvl3pPr marL="685800" indent="0">
              <a:buNone/>
              <a:defRPr sz="15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925" y="2855968"/>
            <a:ext cx="2891790" cy="3011432"/>
          </a:xfrm>
        </p:spPr>
        <p:txBody>
          <a:bodyPr>
            <a:normAutofit/>
          </a:bodyPr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2925" y="6453386"/>
            <a:ext cx="90342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7B7CC28-8F5B-4A97-8B55-03B21E511C09}" type="datetime1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654459" y="6453386"/>
            <a:ext cx="1780256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12355" y="6453386"/>
            <a:ext cx="119721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 title="Divider Bar"/>
          <p:cNvSpPr/>
          <p:nvPr/>
        </p:nvSpPr>
        <p:spPr>
          <a:xfrm>
            <a:off x="3977640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92167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2295526"/>
            <a:ext cx="7200900" cy="357187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1B6F8-1FD1-49D9-9A91-8C76D5C4DDDA}" type="datetime1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5197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80797" y="624156"/>
            <a:ext cx="1490950" cy="52432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8700" y="624156"/>
            <a:ext cx="5724525" cy="52432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BBB52-2634-497B-A0D7-869663A1893C}" type="datetime1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106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8700" y="685800"/>
            <a:ext cx="72009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8700" y="2286000"/>
            <a:ext cx="72009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2987" y="6453386"/>
            <a:ext cx="90342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fld id="{0FDC957E-D632-4B34-80D9-1804E7FA74AE}" type="datetime1">
              <a:rPr lang="zh-TW" altLang="en-US" smtClean="0"/>
              <a:t>2026/6/1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70173" y="6453386"/>
            <a:ext cx="471062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aseline="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552" y="6453386"/>
            <a:ext cx="1197219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aseline="0">
                <a:solidFill>
                  <a:schemeClr val="tx2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8" name="Rectangle 7" title="Side bar"/>
          <p:cNvSpPr/>
          <p:nvPr/>
        </p:nvSpPr>
        <p:spPr>
          <a:xfrm>
            <a:off x="358571" y="376"/>
            <a:ext cx="17145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5034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6858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6858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1368">
          <p15:clr>
            <a:srgbClr val="F26B43"/>
          </p15:clr>
        </p15:guide>
        <p15:guide id="1" pos="6912">
          <p15:clr>
            <a:srgbClr val="F26B43"/>
          </p15:clr>
        </p15:guide>
        <p15:guide id="2" pos="936">
          <p15:clr>
            <a:srgbClr val="F26B43"/>
          </p15:clr>
        </p15:guide>
        <p15:guide id="3" pos="864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696">
          <p15:clr>
            <a:srgbClr val="F26B43"/>
          </p15:clr>
        </p15:guide>
        <p15:guide id="6" orient="horz" pos="432">
          <p15:clr>
            <a:srgbClr val="F26B43"/>
          </p15:clr>
        </p15:guide>
        <p15:guide id="7" orient="horz" pos="1512">
          <p15:clr>
            <a:srgbClr val="F26B43"/>
          </p15:clr>
        </p15:guide>
        <p15:guide id="8" pos="5184">
          <p15:clr>
            <a:srgbClr val="F26B43"/>
          </p15:clr>
        </p15:guide>
        <p15:guide id="9" pos="702">
          <p15:clr>
            <a:srgbClr val="F26B43"/>
          </p15:clr>
        </p15:guide>
        <p15:guide id="10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customXml" Target="../ink/ink5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customXml" Target="../ink/ink8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customXml" Target="../ink/ink1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customXml" Target="../ink/ink14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5" Type="http://schemas.openxmlformats.org/officeDocument/2006/relationships/customXml" Target="../ink/ink1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.xml"/><Relationship Id="rId5" Type="http://schemas.openxmlformats.org/officeDocument/2006/relationships/customXml" Target="../ink/ink20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.xm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5" Type="http://schemas.openxmlformats.org/officeDocument/2006/relationships/customXml" Target="../ink/ink23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.xml"/><Relationship Id="rId5" Type="http://schemas.openxmlformats.org/officeDocument/2006/relationships/customXml" Target="../ink/ink26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0.xml"/><Relationship Id="rId5" Type="http://schemas.openxmlformats.org/officeDocument/2006/relationships/customXml" Target="../ink/ink29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1.xm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.xml"/><Relationship Id="rId5" Type="http://schemas.openxmlformats.org/officeDocument/2006/relationships/customXml" Target="../ink/ink3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34.xm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6.xml"/><Relationship Id="rId5" Type="http://schemas.openxmlformats.org/officeDocument/2006/relationships/customXml" Target="../ink/ink35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customXml" Target="../ink/ink37.xml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9.xml"/><Relationship Id="rId5" Type="http://schemas.openxmlformats.org/officeDocument/2006/relationships/customXml" Target="../ink/ink38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customXml" Target="../ink/ink40.xm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2.xml"/><Relationship Id="rId5" Type="http://schemas.openxmlformats.org/officeDocument/2006/relationships/customXml" Target="../ink/ink41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customXml" Target="../ink/ink43.xm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5.xml"/><Relationship Id="rId5" Type="http://schemas.openxmlformats.org/officeDocument/2006/relationships/customXml" Target="../ink/ink44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customXml" Target="../ink/ink46.xm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8.xml"/><Relationship Id="rId5" Type="http://schemas.openxmlformats.org/officeDocument/2006/relationships/customXml" Target="../ink/ink47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564904"/>
            <a:ext cx="7772400" cy="1470025"/>
          </a:xfrm>
        </p:spPr>
        <p:txBody>
          <a:bodyPr/>
          <a:lstStyle/>
          <a:p>
            <a:r>
              <a:rPr lang="zh-TW" altLang="en-US" dirty="0"/>
              <a:t>第十五週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97230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112EFF-453D-AFCC-EA00-9AC9F10B3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488832" cy="654968"/>
          </a:xfrm>
        </p:spPr>
        <p:txBody>
          <a:bodyPr>
            <a:normAutofit fontScale="90000"/>
          </a:bodyPr>
          <a:lstStyle/>
          <a:p>
            <a:r>
              <a:rPr lang="zh-TW" altLang="en-US" dirty="0"/>
              <a:t>目錄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F9B01E-4D7A-0768-08F3-29B7EC228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60" y="915616"/>
            <a:ext cx="8352928" cy="58257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/>
              <a:t>文獻</a:t>
            </a:r>
            <a:endParaRPr lang="en-US" altLang="zh-TW" dirty="0"/>
          </a:p>
          <a:p>
            <a:r>
              <a:rPr lang="en-US" altLang="zh-TW" dirty="0" err="1"/>
              <a:t>Renpy</a:t>
            </a:r>
            <a:r>
              <a:rPr lang="zh-TW" altLang="en-US" dirty="0"/>
              <a:t>的問題改進</a:t>
            </a:r>
            <a:r>
              <a:rPr lang="en-US" altLang="zh-TW" dirty="0"/>
              <a:t>-----</a:t>
            </a:r>
            <a:r>
              <a:rPr lang="zh-TW" altLang="en-US" dirty="0"/>
              <a:t> </a:t>
            </a:r>
            <a:r>
              <a:rPr lang="en-US" altLang="zh-TW" dirty="0"/>
              <a:t>xx~’</a:t>
            </a:r>
          </a:p>
          <a:p>
            <a:r>
              <a:rPr lang="en-US" altLang="zh-TW" dirty="0"/>
              <a:t>Django </a:t>
            </a:r>
          </a:p>
          <a:p>
            <a:endParaRPr lang="en-US" altLang="zh-TW" dirty="0">
              <a:hlinkClick r:id="" action="ppaction://noaction"/>
            </a:endParaRPr>
          </a:p>
        </p:txBody>
      </p:sp>
    </p:spTree>
    <p:extLst>
      <p:ext uri="{BB962C8B-B14F-4D97-AF65-F5344CB8AC3E}">
        <p14:creationId xmlns:p14="http://schemas.microsoft.com/office/powerpoint/2010/main" val="1711701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A91B3-84B3-6F88-9473-F2D7AAA27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A9031797-9318-2232-12A7-1A02D388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增加扣分機制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911EC68-B0FD-47CD-C0E9-6FC406A4C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D8C6497-21AE-11FA-074C-0B823ED3C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64" y="934886"/>
            <a:ext cx="7848871" cy="3299746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B35A1C17-946F-D00D-7372-37722171C5DA}"/>
              </a:ext>
            </a:extLst>
          </p:cNvPr>
          <p:cNvSpPr txBox="1">
            <a:spLocks/>
          </p:cNvSpPr>
          <p:nvPr/>
        </p:nvSpPr>
        <p:spPr>
          <a:xfrm>
            <a:off x="651079" y="4509120"/>
            <a:ext cx="7772400" cy="10081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增加扣分機制，且答錯可以重複作答，直到答對。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配分方式：扣分是答對的分數在倒扣</a:t>
            </a:r>
            <a:r>
              <a:rPr lang="en-US" altLang="zh-TW" sz="2400" dirty="0"/>
              <a:t>5</a:t>
            </a:r>
            <a:r>
              <a:rPr lang="zh-TW" altLang="en-US" sz="2400" dirty="0"/>
              <a:t>分。</a:t>
            </a:r>
            <a:endParaRPr lang="en-US" altLang="zh-TW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1732752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9A503-F9BE-BCC0-7729-C6F90874D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A40205B6-C116-A46C-7B73-8EBEC3018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en-US" altLang="zh-TW" dirty="0">
                <a:latin typeface="+mn-ea"/>
              </a:rPr>
              <a:t> </a:t>
            </a:r>
            <a:r>
              <a:rPr lang="zh-TW" altLang="en-US" dirty="0">
                <a:latin typeface="+mn-ea"/>
              </a:rPr>
              <a:t>章節最後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F7A6697-FCF3-3AAA-AE62-27D406F60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6A64813-DD7B-77C7-7815-F24BD170853B}"/>
              </a:ext>
            </a:extLst>
          </p:cNvPr>
          <p:cNvSpPr txBox="1"/>
          <p:nvPr/>
        </p:nvSpPr>
        <p:spPr>
          <a:xfrm>
            <a:off x="611560" y="915616"/>
            <a:ext cx="8348238" cy="369332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 aria  "</a:t>
            </a:r>
            <a:r>
              <a:rPr lang="zh-TW" altLang="en-US" dirty="0">
                <a:solidFill>
                  <a:schemeClr val="bg1"/>
                </a:solidFill>
              </a:rPr>
              <a:t>累計總得分</a:t>
            </a:r>
            <a:r>
              <a:rPr lang="en-US" altLang="zh-TW" dirty="0">
                <a:solidFill>
                  <a:schemeClr val="bg1"/>
                </a:solidFill>
              </a:rPr>
              <a:t>:[score] </a:t>
            </a:r>
            <a:r>
              <a:rPr lang="zh-TW" altLang="en-US" dirty="0">
                <a:solidFill>
                  <a:schemeClr val="bg1"/>
                </a:solidFill>
              </a:rPr>
              <a:t>分。</a:t>
            </a:r>
            <a:r>
              <a:rPr lang="en-US" altLang="zh-TW" dirty="0">
                <a:solidFill>
                  <a:schemeClr val="bg1"/>
                </a:solidFill>
              </a:rPr>
              <a:t>\</a:t>
            </a:r>
            <a:r>
              <a:rPr lang="en-US" altLang="zh-TW" dirty="0" err="1">
                <a:solidFill>
                  <a:schemeClr val="bg1"/>
                </a:solidFill>
              </a:rPr>
              <a:t>nLayer</a:t>
            </a:r>
            <a:r>
              <a:rPr lang="en-US" altLang="zh-TW" dirty="0">
                <a:solidFill>
                  <a:schemeClr val="bg1"/>
                </a:solidFill>
              </a:rPr>
              <a:t> 1</a:t>
            </a:r>
            <a:r>
              <a:rPr lang="zh-TW" altLang="en-US" dirty="0">
                <a:solidFill>
                  <a:schemeClr val="bg1"/>
                </a:solidFill>
              </a:rPr>
              <a:t>密室修復完成！你做得很好。</a:t>
            </a:r>
            <a:r>
              <a:rPr lang="en-US" altLang="zh-TW" dirty="0">
                <a:solidFill>
                  <a:schemeClr val="bg1"/>
                </a:solidFill>
              </a:rPr>
              <a:t>"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E7C3299-A9FC-CD6E-DF23-8D6AF3688367}"/>
              </a:ext>
            </a:extLst>
          </p:cNvPr>
          <p:cNvSpPr txBox="1">
            <a:spLocks/>
          </p:cNvSpPr>
          <p:nvPr/>
        </p:nvSpPr>
        <p:spPr>
          <a:xfrm>
            <a:off x="683342" y="1419672"/>
            <a:ext cx="7772400" cy="72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每章節的最後，增加了累計總得分，讓使用者可以知道已經累計的分數。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AB3D782-2C42-5B08-50E3-38EF825D0D10}"/>
              </a:ext>
            </a:extLst>
          </p:cNvPr>
          <p:cNvSpPr txBox="1"/>
          <p:nvPr/>
        </p:nvSpPr>
        <p:spPr>
          <a:xfrm>
            <a:off x="611560" y="2148203"/>
            <a:ext cx="8348238" cy="4524315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if score &gt;= 60: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show aria talk: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    right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with move   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aria "</a:t>
            </a:r>
            <a:r>
              <a:rPr lang="zh-TW" altLang="en-US" dirty="0">
                <a:solidFill>
                  <a:schemeClr val="bg1"/>
                </a:solidFill>
              </a:rPr>
              <a:t>最終結算得分</a:t>
            </a:r>
            <a:r>
              <a:rPr lang="en-US" altLang="zh-TW" dirty="0">
                <a:solidFill>
                  <a:schemeClr val="bg1"/>
                </a:solidFill>
              </a:rPr>
              <a:t>:[score] </a:t>
            </a:r>
            <a:r>
              <a:rPr lang="zh-TW" altLang="en-US" dirty="0">
                <a:solidFill>
                  <a:schemeClr val="bg1"/>
                </a:solidFill>
              </a:rPr>
              <a:t>分</a:t>
            </a:r>
            <a:r>
              <a:rPr lang="en-US" altLang="zh-TW" dirty="0">
                <a:solidFill>
                  <a:schemeClr val="bg1"/>
                </a:solidFill>
              </a:rPr>
              <a:t>!</a:t>
            </a:r>
            <a:r>
              <a:rPr lang="zh-TW" altLang="en-US" dirty="0">
                <a:solidFill>
                  <a:schemeClr val="bg1"/>
                </a:solidFill>
              </a:rPr>
              <a:t>你展現了極高水準的</a:t>
            </a:r>
            <a:r>
              <a:rPr lang="en-US" altLang="zh-TW" dirty="0">
                <a:solidFill>
                  <a:schemeClr val="bg1"/>
                </a:solidFill>
              </a:rPr>
              <a:t>『</a:t>
            </a:r>
            <a:r>
              <a:rPr lang="zh-TW" altLang="en-US" dirty="0">
                <a:solidFill>
                  <a:schemeClr val="bg1"/>
                </a:solidFill>
              </a:rPr>
              <a:t>測試驅動思維</a:t>
            </a:r>
            <a:r>
              <a:rPr lang="en-US" altLang="zh-TW" dirty="0">
                <a:solidFill>
                  <a:schemeClr val="bg1"/>
                </a:solidFill>
              </a:rPr>
              <a:t>』</a:t>
            </a:r>
            <a:r>
              <a:rPr lang="zh-TW" altLang="en-US" dirty="0">
                <a:solidFill>
                  <a:schemeClr val="bg1"/>
                </a:solidFill>
              </a:rPr>
              <a:t>與</a:t>
            </a:r>
            <a:r>
              <a:rPr lang="en-US" altLang="zh-TW" dirty="0">
                <a:solidFill>
                  <a:schemeClr val="bg1"/>
                </a:solidFill>
              </a:rPr>
              <a:t>『</a:t>
            </a:r>
            <a:r>
              <a:rPr lang="zh-TW" altLang="en-US" dirty="0">
                <a:solidFill>
                  <a:schemeClr val="bg1"/>
                </a:solidFill>
              </a:rPr>
              <a:t>獨立應用能力</a:t>
            </a:r>
            <a:r>
              <a:rPr lang="en-US" altLang="zh-TW" dirty="0">
                <a:solidFill>
                  <a:schemeClr val="bg1"/>
                </a:solidFill>
              </a:rPr>
              <a:t>』,</a:t>
            </a:r>
            <a:r>
              <a:rPr lang="zh-TW" altLang="en-US" dirty="0">
                <a:solidFill>
                  <a:schemeClr val="bg1"/>
                </a:solidFill>
              </a:rPr>
              <a:t>你是真正的核心架構師</a:t>
            </a:r>
            <a:r>
              <a:rPr lang="en-US" altLang="zh-TW" dirty="0">
                <a:solidFill>
                  <a:schemeClr val="bg1"/>
                </a:solidFill>
              </a:rPr>
              <a:t>!"</a:t>
            </a:r>
            <a:endParaRPr lang="zh-TW" altLang="en-US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        </a:t>
            </a:r>
            <a:r>
              <a:rPr lang="en-US" altLang="zh-TW" dirty="0">
                <a:solidFill>
                  <a:schemeClr val="bg1"/>
                </a:solidFill>
              </a:rPr>
              <a:t>boss "</a:t>
            </a:r>
            <a:r>
              <a:rPr lang="zh-TW" altLang="en-US" dirty="0">
                <a:solidFill>
                  <a:schemeClr val="bg1"/>
                </a:solidFill>
              </a:rPr>
              <a:t>太感謝你了</a:t>
            </a:r>
            <a:r>
              <a:rPr lang="en-US" altLang="zh-TW" dirty="0">
                <a:solidFill>
                  <a:schemeClr val="bg1"/>
                </a:solidFill>
              </a:rPr>
              <a:t>!</a:t>
            </a:r>
            <a:r>
              <a:rPr lang="zh-TW" altLang="en-US" dirty="0">
                <a:solidFill>
                  <a:schemeClr val="bg1"/>
                </a:solidFill>
              </a:rPr>
              <a:t>明天的週一例會</a:t>
            </a:r>
            <a:r>
              <a:rPr lang="en-US" altLang="zh-TW" dirty="0">
                <a:solidFill>
                  <a:schemeClr val="bg1"/>
                </a:solidFill>
              </a:rPr>
              <a:t>,</a:t>
            </a:r>
            <a:r>
              <a:rPr lang="zh-TW" altLang="en-US" dirty="0">
                <a:solidFill>
                  <a:schemeClr val="bg1"/>
                </a:solidFill>
              </a:rPr>
              <a:t>我會正式宣布晉升你為我們的首席資訊長</a:t>
            </a:r>
            <a:r>
              <a:rPr lang="en-US" altLang="zh-TW" dirty="0">
                <a:solidFill>
                  <a:schemeClr val="bg1"/>
                </a:solidFill>
              </a:rPr>
              <a:t>(CIO)!</a:t>
            </a:r>
            <a:r>
              <a:rPr lang="zh-TW" altLang="en-US" dirty="0">
                <a:solidFill>
                  <a:schemeClr val="bg1"/>
                </a:solidFill>
              </a:rPr>
              <a:t>現在</a:t>
            </a:r>
            <a:r>
              <a:rPr lang="en-US" altLang="zh-TW" dirty="0">
                <a:solidFill>
                  <a:schemeClr val="bg1"/>
                </a:solidFill>
              </a:rPr>
              <a:t>,</a:t>
            </a:r>
            <a:r>
              <a:rPr lang="zh-TW" altLang="en-US" dirty="0">
                <a:solidFill>
                  <a:schemeClr val="bg1"/>
                </a:solidFill>
              </a:rPr>
              <a:t>給自己開一罐慶祝的啤酒吧</a:t>
            </a:r>
            <a:r>
              <a:rPr lang="en-US" altLang="zh-TW" dirty="0">
                <a:solidFill>
                  <a:schemeClr val="bg1"/>
                </a:solidFill>
              </a:rPr>
              <a:t>!"</a:t>
            </a:r>
            <a:endParaRPr lang="zh-TW" altLang="en-US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        </a:t>
            </a:r>
            <a:r>
              <a:rPr lang="en-US" altLang="zh-TW" dirty="0">
                <a:solidFill>
                  <a:schemeClr val="bg1"/>
                </a:solidFill>
              </a:rPr>
              <a:t>"【</a:t>
            </a:r>
            <a:r>
              <a:rPr lang="zh-TW" altLang="en-US" dirty="0">
                <a:solidFill>
                  <a:schemeClr val="bg1"/>
                </a:solidFill>
              </a:rPr>
              <a:t>辦公室數據密室逃脫</a:t>
            </a:r>
            <a:r>
              <a:rPr lang="en-US" altLang="zh-TW" dirty="0">
                <a:solidFill>
                  <a:schemeClr val="bg1"/>
                </a:solidFill>
              </a:rPr>
              <a:t>——</a:t>
            </a:r>
            <a:r>
              <a:rPr lang="zh-TW" altLang="en-US" dirty="0">
                <a:solidFill>
                  <a:schemeClr val="bg1"/>
                </a:solidFill>
              </a:rPr>
              <a:t>成功</a:t>
            </a:r>
            <a:r>
              <a:rPr lang="en-US" altLang="zh-TW" dirty="0">
                <a:solidFill>
                  <a:schemeClr val="bg1"/>
                </a:solidFill>
              </a:rPr>
              <a:t>!THE END】"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else: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show aria talk: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    right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with move   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aria "</a:t>
            </a:r>
            <a:r>
              <a:rPr lang="zh-TW" altLang="en-US" dirty="0">
                <a:solidFill>
                  <a:schemeClr val="bg1"/>
                </a:solidFill>
              </a:rPr>
              <a:t>最終結算得分</a:t>
            </a:r>
            <a:r>
              <a:rPr lang="en-US" altLang="zh-TW" dirty="0">
                <a:solidFill>
                  <a:schemeClr val="bg1"/>
                </a:solidFill>
              </a:rPr>
              <a:t>:[score] </a:t>
            </a:r>
            <a:r>
              <a:rPr lang="zh-TW" altLang="en-US" dirty="0">
                <a:solidFill>
                  <a:schemeClr val="bg1"/>
                </a:solidFill>
              </a:rPr>
              <a:t>分。分數未達到標準，最終修復宣告失敗</a:t>
            </a:r>
            <a:r>
              <a:rPr lang="en-US" altLang="zh-TW" dirty="0">
                <a:solidFill>
                  <a:schemeClr val="bg1"/>
                </a:solidFill>
              </a:rPr>
              <a:t>……"</a:t>
            </a:r>
            <a:endParaRPr lang="zh-TW" altLang="en-US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        </a:t>
            </a:r>
            <a:r>
              <a:rPr lang="en-US" altLang="zh-TW" dirty="0">
                <a:solidFill>
                  <a:schemeClr val="bg1"/>
                </a:solidFill>
              </a:rPr>
              <a:t>"【</a:t>
            </a:r>
            <a:r>
              <a:rPr lang="zh-TW" altLang="en-US" dirty="0">
                <a:solidFill>
                  <a:schemeClr val="bg1"/>
                </a:solidFill>
              </a:rPr>
              <a:t>辦公室數據密室逃脫</a:t>
            </a:r>
            <a:r>
              <a:rPr lang="en-US" altLang="zh-TW" dirty="0">
                <a:solidFill>
                  <a:schemeClr val="bg1"/>
                </a:solidFill>
              </a:rPr>
              <a:t>——</a:t>
            </a:r>
            <a:r>
              <a:rPr lang="zh-TW" altLang="en-US" dirty="0">
                <a:solidFill>
                  <a:schemeClr val="bg1"/>
                </a:solidFill>
              </a:rPr>
              <a:t>失敗</a:t>
            </a:r>
            <a:r>
              <a:rPr lang="en-US" altLang="zh-TW" dirty="0">
                <a:solidFill>
                  <a:schemeClr val="bg1"/>
                </a:solidFill>
              </a:rPr>
              <a:t>!THE END】"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return</a:t>
            </a:r>
          </a:p>
        </p:txBody>
      </p:sp>
    </p:spTree>
    <p:extLst>
      <p:ext uri="{BB962C8B-B14F-4D97-AF65-F5344CB8AC3E}">
        <p14:creationId xmlns:p14="http://schemas.microsoft.com/office/powerpoint/2010/main" val="3251140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B2C6B-C146-788E-ED87-3162AC7F1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07F5219A-E577-26BA-ED55-879193BB8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zh-TW" altLang="en-US" dirty="0">
                <a:latin typeface="+mn-ea"/>
              </a:rPr>
              <a:t>輸入答案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ABC3663-B4BA-67F3-7757-0321E6D01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19F1F8D-C7C2-7A33-C192-736786BCDE81}"/>
              </a:ext>
            </a:extLst>
          </p:cNvPr>
          <p:cNvSpPr txBox="1"/>
          <p:nvPr/>
        </p:nvSpPr>
        <p:spPr>
          <a:xfrm>
            <a:off x="611560" y="915616"/>
            <a:ext cx="8348238" cy="4524315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label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chapter3_3:</a:t>
            </a:r>
            <a:endParaRPr lang="zh-TW" altLang="en-US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        </a:t>
            </a:r>
            <a:r>
              <a:rPr lang="en-US" altLang="zh-TW" dirty="0">
                <a:solidFill>
                  <a:schemeClr val="bg1"/>
                </a:solidFill>
              </a:rPr>
              <a:t>"</a:t>
            </a:r>
            <a:r>
              <a:rPr lang="zh-TW" altLang="en-US" dirty="0">
                <a:solidFill>
                  <a:schemeClr val="bg1"/>
                </a:solidFill>
              </a:rPr>
              <a:t>突然間</a:t>
            </a:r>
            <a:r>
              <a:rPr lang="en-US" altLang="zh-TW" dirty="0">
                <a:solidFill>
                  <a:schemeClr val="bg1"/>
                </a:solidFill>
              </a:rPr>
              <a:t>,</a:t>
            </a:r>
            <a:r>
              <a:rPr lang="zh-TW" altLang="en-US" dirty="0">
                <a:solidFill>
                  <a:schemeClr val="bg1"/>
                </a:solidFill>
              </a:rPr>
              <a:t>辦公室的冷氣發出劇烈運轉聲</a:t>
            </a:r>
            <a:r>
              <a:rPr lang="en-US" altLang="zh-TW" dirty="0">
                <a:solidFill>
                  <a:schemeClr val="bg1"/>
                </a:solidFill>
              </a:rPr>
              <a:t>,</a:t>
            </a:r>
            <a:r>
              <a:rPr lang="zh-TW" altLang="en-US" dirty="0">
                <a:solidFill>
                  <a:schemeClr val="bg1"/>
                </a:solidFill>
              </a:rPr>
              <a:t>溫度瞬間掉到 </a:t>
            </a:r>
            <a:r>
              <a:rPr lang="en-US" altLang="zh-TW" dirty="0">
                <a:solidFill>
                  <a:schemeClr val="bg1"/>
                </a:solidFill>
              </a:rPr>
              <a:t>16 </a:t>
            </a:r>
            <a:r>
              <a:rPr lang="zh-TW" altLang="en-US" dirty="0">
                <a:solidFill>
                  <a:schemeClr val="bg1"/>
                </a:solidFill>
              </a:rPr>
              <a:t>度</a:t>
            </a:r>
            <a:r>
              <a:rPr lang="en-US" altLang="zh-TW" dirty="0">
                <a:solidFill>
                  <a:schemeClr val="bg1"/>
                </a:solidFill>
              </a:rPr>
              <a:t>,</a:t>
            </a:r>
            <a:r>
              <a:rPr lang="zh-TW" altLang="en-US" dirty="0">
                <a:solidFill>
                  <a:schemeClr val="bg1"/>
                </a:solidFill>
              </a:rPr>
              <a:t>會議室的智慧燈光開始瘋狂閃爍。</a:t>
            </a:r>
            <a:r>
              <a:rPr lang="en-US" altLang="zh-TW" dirty="0">
                <a:solidFill>
                  <a:schemeClr val="bg1"/>
                </a:solidFill>
              </a:rPr>
              <a:t>"</a:t>
            </a:r>
            <a:endParaRPr lang="zh-TW" altLang="en-US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        </a:t>
            </a:r>
            <a:r>
              <a:rPr lang="en-US" altLang="zh-TW" dirty="0">
                <a:solidFill>
                  <a:schemeClr val="bg1"/>
                </a:solidFill>
              </a:rPr>
              <a:t>sys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"【</a:t>
            </a:r>
            <a:r>
              <a:rPr lang="zh-TW" altLang="en-US" dirty="0">
                <a:solidFill>
                  <a:schemeClr val="bg1"/>
                </a:solidFill>
              </a:rPr>
              <a:t>警告</a:t>
            </a:r>
            <a:r>
              <a:rPr lang="en-US" altLang="zh-TW" dirty="0">
                <a:solidFill>
                  <a:schemeClr val="bg1"/>
                </a:solidFill>
              </a:rPr>
              <a:t>】</a:t>
            </a:r>
            <a:r>
              <a:rPr lang="zh-TW" altLang="en-US" dirty="0">
                <a:solidFill>
                  <a:schemeClr val="bg1"/>
                </a:solidFill>
              </a:rPr>
              <a:t>總務部智慧辦公室 </a:t>
            </a:r>
            <a:r>
              <a:rPr lang="en-US" altLang="zh-TW" dirty="0">
                <a:solidFill>
                  <a:schemeClr val="bg1"/>
                </a:solidFill>
              </a:rPr>
              <a:t>IoT </a:t>
            </a:r>
            <a:r>
              <a:rPr lang="zh-TW" altLang="en-US" dirty="0">
                <a:solidFill>
                  <a:schemeClr val="bg1"/>
                </a:solidFill>
              </a:rPr>
              <a:t>環控系統暴走。數據讀取到大量空值。</a:t>
            </a:r>
            <a:r>
              <a:rPr lang="en-US" altLang="zh-TW" dirty="0">
                <a:solidFill>
                  <a:schemeClr val="bg1"/>
                </a:solidFill>
              </a:rPr>
              <a:t>"</a:t>
            </a:r>
            <a:endParaRPr lang="zh-TW" altLang="en-US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        </a:t>
            </a:r>
            <a:r>
              <a:rPr lang="en-US" altLang="zh-TW" dirty="0">
                <a:solidFill>
                  <a:schemeClr val="bg1"/>
                </a:solidFill>
              </a:rPr>
              <a:t>aria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"</a:t>
            </a:r>
            <a:r>
              <a:rPr lang="zh-TW" altLang="en-US" dirty="0">
                <a:solidFill>
                  <a:schemeClr val="bg1"/>
                </a:solidFill>
              </a:rPr>
              <a:t>駭客切斷了感測器 </a:t>
            </a:r>
            <a:r>
              <a:rPr lang="en-US" altLang="zh-TW" dirty="0">
                <a:solidFill>
                  <a:schemeClr val="bg1"/>
                </a:solidFill>
              </a:rPr>
              <a:t>API </a:t>
            </a:r>
            <a:r>
              <a:rPr lang="zh-TW" altLang="en-US" dirty="0">
                <a:solidFill>
                  <a:schemeClr val="bg1"/>
                </a:solidFill>
              </a:rPr>
              <a:t>的部分數據</a:t>
            </a:r>
            <a:r>
              <a:rPr lang="en-US" altLang="zh-TW" dirty="0">
                <a:solidFill>
                  <a:schemeClr val="bg1"/>
                </a:solidFill>
              </a:rPr>
              <a:t>,</a:t>
            </a:r>
            <a:r>
              <a:rPr lang="zh-TW" altLang="en-US" dirty="0">
                <a:solidFill>
                  <a:schemeClr val="bg1"/>
                </a:solidFill>
              </a:rPr>
              <a:t>導致系統一直讀到 </a:t>
            </a:r>
            <a:r>
              <a:rPr lang="en-US" altLang="zh-TW" dirty="0">
                <a:solidFill>
                  <a:schemeClr val="bg1"/>
                </a:solidFill>
              </a:rPr>
              <a:t>None</a:t>
            </a:r>
            <a:r>
              <a:rPr lang="zh-TW" altLang="en-US" dirty="0">
                <a:solidFill>
                  <a:schemeClr val="bg1"/>
                </a:solidFill>
              </a:rPr>
              <a:t>。我的程式碼沒有處理空值</a:t>
            </a:r>
            <a:r>
              <a:rPr lang="en-US" altLang="zh-TW" dirty="0">
                <a:solidFill>
                  <a:schemeClr val="bg1"/>
                </a:solidFill>
              </a:rPr>
              <a:t>,</a:t>
            </a:r>
            <a:r>
              <a:rPr lang="zh-TW" altLang="en-US" dirty="0">
                <a:solidFill>
                  <a:schemeClr val="bg1"/>
                </a:solidFill>
              </a:rPr>
              <a:t>直接把空值帶入計算</a:t>
            </a:r>
            <a:r>
              <a:rPr lang="en-US" altLang="zh-TW" dirty="0">
                <a:solidFill>
                  <a:schemeClr val="bg1"/>
                </a:solidFill>
              </a:rPr>
              <a:t>,</a:t>
            </a:r>
            <a:r>
              <a:rPr lang="zh-TW" altLang="en-US" dirty="0">
                <a:solidFill>
                  <a:schemeClr val="bg1"/>
                </a:solidFill>
              </a:rPr>
              <a:t>系統卡死了</a:t>
            </a:r>
            <a:r>
              <a:rPr lang="en-US" altLang="zh-TW" dirty="0">
                <a:solidFill>
                  <a:schemeClr val="bg1"/>
                </a:solidFill>
              </a:rPr>
              <a:t>!"</a:t>
            </a:r>
            <a:endParaRPr lang="zh-TW" altLang="en-US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        </a:t>
            </a:r>
            <a:r>
              <a:rPr lang="en-US" altLang="zh-TW" dirty="0">
                <a:solidFill>
                  <a:schemeClr val="bg1"/>
                </a:solidFill>
              </a:rPr>
              <a:t>p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"</a:t>
            </a:r>
            <a:r>
              <a:rPr lang="zh-TW" altLang="en-US" dirty="0">
                <a:solidFill>
                  <a:schemeClr val="bg1"/>
                </a:solidFill>
              </a:rPr>
              <a:t>快把你的 </a:t>
            </a:r>
            <a:r>
              <a:rPr lang="en-US" altLang="zh-TW" dirty="0">
                <a:solidFill>
                  <a:schemeClr val="bg1"/>
                </a:solidFill>
              </a:rPr>
              <a:t>API </a:t>
            </a:r>
            <a:r>
              <a:rPr lang="zh-TW" altLang="en-US" dirty="0">
                <a:solidFill>
                  <a:schemeClr val="bg1"/>
                </a:solidFill>
              </a:rPr>
              <a:t>接收 </a:t>
            </a:r>
            <a:r>
              <a:rPr lang="en-US" altLang="zh-TW" dirty="0">
                <a:solidFill>
                  <a:schemeClr val="bg1"/>
                </a:solidFill>
              </a:rPr>
              <a:t>Code </a:t>
            </a:r>
            <a:r>
              <a:rPr lang="zh-TW" altLang="en-US" dirty="0">
                <a:solidFill>
                  <a:schemeClr val="bg1"/>
                </a:solidFill>
              </a:rPr>
              <a:t>丟出來</a:t>
            </a:r>
            <a:r>
              <a:rPr lang="en-US" altLang="zh-TW" dirty="0">
                <a:solidFill>
                  <a:schemeClr val="bg1"/>
                </a:solidFill>
              </a:rPr>
              <a:t>,</a:t>
            </a:r>
            <a:r>
              <a:rPr lang="zh-TW" altLang="en-US" dirty="0">
                <a:solidFill>
                  <a:schemeClr val="bg1"/>
                </a:solidFill>
              </a:rPr>
              <a:t>我來寫資料清洗測試</a:t>
            </a:r>
            <a:r>
              <a:rPr lang="en-US" altLang="zh-TW" dirty="0">
                <a:solidFill>
                  <a:schemeClr val="bg1"/>
                </a:solidFill>
              </a:rPr>
              <a:t>!"</a:t>
            </a:r>
            <a:endParaRPr lang="zh-TW" altLang="en-US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        </a:t>
            </a:r>
          </a:p>
          <a:p>
            <a:r>
              <a:rPr lang="zh-TW" altLang="en-US" dirty="0">
                <a:solidFill>
                  <a:schemeClr val="bg1"/>
                </a:solidFill>
              </a:rPr>
              <a:t>        </a:t>
            </a:r>
            <a:r>
              <a:rPr lang="en-US" altLang="zh-TW" dirty="0">
                <a:solidFill>
                  <a:schemeClr val="bg1"/>
                </a:solidFill>
              </a:rPr>
              <a:t>"【</a:t>
            </a:r>
            <a:r>
              <a:rPr lang="zh-TW" altLang="en-US" dirty="0">
                <a:solidFill>
                  <a:schemeClr val="bg1"/>
                </a:solidFill>
              </a:rPr>
              <a:t>全息投影提示：請輸入防呆判斷，當 </a:t>
            </a:r>
            <a:r>
              <a:rPr lang="en-US" altLang="zh-TW" dirty="0">
                <a:solidFill>
                  <a:schemeClr val="bg1"/>
                </a:solidFill>
              </a:rPr>
              <a:t>data </a:t>
            </a:r>
            <a:r>
              <a:rPr lang="zh-TW" altLang="en-US" dirty="0">
                <a:solidFill>
                  <a:schemeClr val="bg1"/>
                </a:solidFill>
              </a:rPr>
              <a:t>為什麼時給予預設值 </a:t>
            </a:r>
            <a:r>
              <a:rPr lang="en-US" altLang="zh-TW" dirty="0">
                <a:solidFill>
                  <a:schemeClr val="bg1"/>
                </a:solidFill>
              </a:rPr>
              <a:t>26 </a:t>
            </a:r>
            <a:r>
              <a:rPr lang="zh-TW" altLang="en-US" dirty="0">
                <a:solidFill>
                  <a:schemeClr val="bg1"/>
                </a:solidFill>
              </a:rPr>
              <a:t>度？</a:t>
            </a:r>
            <a:r>
              <a:rPr lang="en-US" altLang="zh-TW" dirty="0">
                <a:solidFill>
                  <a:schemeClr val="bg1"/>
                </a:solidFill>
              </a:rPr>
              <a:t>】\</a:t>
            </a:r>
            <a:r>
              <a:rPr lang="en-US" altLang="zh-TW" dirty="0" err="1">
                <a:solidFill>
                  <a:schemeClr val="bg1"/>
                </a:solidFill>
              </a:rPr>
              <a:t>nif</a:t>
            </a:r>
            <a:r>
              <a:rPr lang="en-US" altLang="zh-TW" dirty="0">
                <a:solidFill>
                  <a:schemeClr val="bg1"/>
                </a:solidFill>
              </a:rPr>
              <a:t> data is ____:\n</a:t>
            </a:r>
            <a:r>
              <a:rPr lang="zh-TW" altLang="en-US" dirty="0">
                <a:solidFill>
                  <a:schemeClr val="bg1"/>
                </a:solidFill>
              </a:rPr>
              <a:t>    </a:t>
            </a:r>
            <a:r>
              <a:rPr lang="en-US" altLang="zh-TW" dirty="0">
                <a:solidFill>
                  <a:schemeClr val="bg1"/>
                </a:solidFill>
              </a:rPr>
              <a:t>data = 26</a:t>
            </a:r>
            <a:r>
              <a:rPr lang="en-US" altLang="zh-TW" dirty="0"/>
              <a:t>"</a:t>
            </a:r>
            <a:endParaRPr lang="zh-TW" altLang="en-US" dirty="0"/>
          </a:p>
          <a:p>
            <a:br>
              <a:rPr lang="en-US" altLang="zh-TW" dirty="0">
                <a:solidFill>
                  <a:schemeClr val="bg1"/>
                </a:solidFill>
              </a:rPr>
            </a:br>
            <a:r>
              <a:rPr lang="en-US" altLang="zh-TW" dirty="0">
                <a:solidFill>
                  <a:schemeClr val="bg1"/>
                </a:solidFill>
              </a:rPr>
              <a:t>label ch3_3_input: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    python: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        # </a:t>
            </a:r>
            <a:r>
              <a:rPr lang="zh-TW" altLang="en-US" dirty="0">
                <a:solidFill>
                  <a:schemeClr val="bg1"/>
                </a:solidFill>
              </a:rPr>
              <a:t>測試學生是否知道 </a:t>
            </a:r>
            <a:r>
              <a:rPr lang="en-US" altLang="zh-TW" dirty="0">
                <a:solidFill>
                  <a:schemeClr val="bg1"/>
                </a:solidFill>
              </a:rPr>
              <a:t>Python </a:t>
            </a:r>
            <a:r>
              <a:rPr lang="zh-TW" altLang="en-US" dirty="0">
                <a:solidFill>
                  <a:schemeClr val="bg1"/>
                </a:solidFill>
              </a:rPr>
              <a:t>的空值型態是大寫的 </a:t>
            </a:r>
            <a:r>
              <a:rPr lang="en-US" altLang="zh-TW" dirty="0">
                <a:solidFill>
                  <a:schemeClr val="bg1"/>
                </a:solidFill>
              </a:rPr>
              <a:t>None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        ans_3_3 = </a:t>
            </a:r>
            <a:r>
              <a:rPr lang="en-US" altLang="zh-TW" dirty="0" err="1">
                <a:solidFill>
                  <a:schemeClr val="bg1"/>
                </a:solidFill>
              </a:rPr>
              <a:t>renpy.input</a:t>
            </a:r>
            <a:r>
              <a:rPr lang="en-US" altLang="zh-TW" dirty="0">
                <a:solidFill>
                  <a:schemeClr val="bg1"/>
                </a:solidFill>
              </a:rPr>
              <a:t>("</a:t>
            </a:r>
            <a:r>
              <a:rPr lang="zh-TW" altLang="en-US" dirty="0">
                <a:solidFill>
                  <a:schemeClr val="bg1"/>
                </a:solidFill>
              </a:rPr>
              <a:t>請填入 </a:t>
            </a:r>
            <a:r>
              <a:rPr lang="en-US" altLang="zh-TW" dirty="0">
                <a:solidFill>
                  <a:schemeClr val="bg1"/>
                </a:solidFill>
              </a:rPr>
              <a:t>Python </a:t>
            </a:r>
            <a:r>
              <a:rPr lang="zh-TW" altLang="en-US" dirty="0">
                <a:solidFill>
                  <a:schemeClr val="bg1"/>
                </a:solidFill>
              </a:rPr>
              <a:t>的空值關鍵字（注意大小寫）：</a:t>
            </a:r>
            <a:r>
              <a:rPr lang="en-US" altLang="zh-TW" dirty="0">
                <a:solidFill>
                  <a:schemeClr val="bg1"/>
                </a:solidFill>
              </a:rPr>
              <a:t>", default="").strip()           </a:t>
            </a: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67F58C8C-A45D-927B-84BD-4D458BA6DF1C}"/>
              </a:ext>
            </a:extLst>
          </p:cNvPr>
          <p:cNvSpPr txBox="1">
            <a:spLocks/>
          </p:cNvSpPr>
          <p:nvPr/>
        </p:nvSpPr>
        <p:spPr>
          <a:xfrm>
            <a:off x="611560" y="5614069"/>
            <a:ext cx="7772400" cy="72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000" dirty="0">
                <a:solidFill>
                  <a:schemeClr val="tx1"/>
                </a:solidFill>
              </a:rPr>
              <a:t>.strip()</a:t>
            </a:r>
            <a:r>
              <a:rPr lang="zh-TW" altLang="en-US" sz="2000" dirty="0">
                <a:solidFill>
                  <a:schemeClr val="tx1"/>
                </a:solidFill>
              </a:rPr>
              <a:t> </a:t>
            </a:r>
            <a:r>
              <a:rPr lang="en-US" altLang="zh-TW" sz="2000" dirty="0">
                <a:solidFill>
                  <a:schemeClr val="tx1"/>
                </a:solidFill>
              </a:rPr>
              <a:t>:</a:t>
            </a:r>
            <a:r>
              <a:rPr lang="zh-TW" altLang="en-US" sz="2000" dirty="0">
                <a:solidFill>
                  <a:schemeClr val="tx1"/>
                </a:solidFill>
              </a:rPr>
              <a:t>自動修剪掉字串「開頭」和「結尾」的空白字元（包括空格、換行符 </a:t>
            </a:r>
            <a:r>
              <a:rPr lang="en-US" altLang="zh-TW" sz="2000" dirty="0">
                <a:solidFill>
                  <a:schemeClr val="tx1"/>
                </a:solidFill>
              </a:rPr>
              <a:t>\n</a:t>
            </a:r>
            <a:r>
              <a:rPr lang="zh-TW" altLang="en-US" sz="2000" dirty="0">
                <a:solidFill>
                  <a:schemeClr val="tx1"/>
                </a:solidFill>
              </a:rPr>
              <a:t>、縮排 </a:t>
            </a:r>
            <a:r>
              <a:rPr lang="en-US" altLang="zh-TW" sz="2000" dirty="0">
                <a:solidFill>
                  <a:schemeClr val="tx1"/>
                </a:solidFill>
              </a:rPr>
              <a:t>\t</a:t>
            </a:r>
            <a:r>
              <a:rPr lang="zh-TW" altLang="en-US" sz="2000" dirty="0">
                <a:solidFill>
                  <a:schemeClr val="tx1"/>
                </a:solidFill>
              </a:rPr>
              <a:t>），但不會影響字串中間的空格。</a:t>
            </a:r>
          </a:p>
        </p:txBody>
      </p:sp>
    </p:spTree>
    <p:extLst>
      <p:ext uri="{BB962C8B-B14F-4D97-AF65-F5344CB8AC3E}">
        <p14:creationId xmlns:p14="http://schemas.microsoft.com/office/powerpoint/2010/main" val="3543247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E0042-5191-841E-8DFD-E2A290CAE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4BDA4404-A560-4573-F793-DF87FC8B9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zh-TW" altLang="en-US" dirty="0">
                <a:latin typeface="+mn-ea"/>
              </a:rPr>
              <a:t>輸入答案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5475D07-CF37-ADBE-47B2-0DB63E6A9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4406AFD-30EE-5973-9AB8-6F416FB1DAF0}"/>
              </a:ext>
            </a:extLst>
          </p:cNvPr>
          <p:cNvSpPr txBox="1"/>
          <p:nvPr/>
        </p:nvSpPr>
        <p:spPr>
          <a:xfrm>
            <a:off x="611560" y="915616"/>
            <a:ext cx="8348238" cy="5909310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          if ans_3_3 == “None”: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        </a:t>
            </a:r>
            <a:r>
              <a:rPr lang="en-US" altLang="zh-TW" i="1" dirty="0">
                <a:solidFill>
                  <a:schemeClr val="bg1"/>
                </a:solidFill>
              </a:rPr>
              <a:t>$</a:t>
            </a:r>
            <a:r>
              <a:rPr lang="en-US" altLang="zh-TW" dirty="0">
                <a:solidFill>
                  <a:schemeClr val="bg1"/>
                </a:solidFill>
              </a:rPr>
              <a:t> score += 10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        </a:t>
            </a:r>
            <a:r>
              <a:rPr lang="en-US" altLang="zh-TW" i="1" dirty="0">
                <a:solidFill>
                  <a:schemeClr val="bg1"/>
                </a:solidFill>
              </a:rPr>
              <a:t>$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dirty="0" err="1">
                <a:solidFill>
                  <a:schemeClr val="bg1"/>
                </a:solidFill>
              </a:rPr>
              <a:t>aria_trust</a:t>
            </a:r>
            <a:r>
              <a:rPr lang="en-US" altLang="zh-TW" dirty="0">
                <a:solidFill>
                  <a:schemeClr val="bg1"/>
                </a:solidFill>
              </a:rPr>
              <a:t> += 1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        show aria talk at right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        aria "</a:t>
            </a:r>
            <a:r>
              <a:rPr lang="zh-TW" altLang="en-US" dirty="0">
                <a:solidFill>
                  <a:schemeClr val="bg1"/>
                </a:solidFill>
              </a:rPr>
              <a:t>完美清洗！環控系統成功跳過了駭客製造的空值陷阱，冷氣和燈光恢復正常了！</a:t>
            </a:r>
            <a:r>
              <a:rPr lang="en-US" altLang="zh-TW" dirty="0">
                <a:solidFill>
                  <a:schemeClr val="bg1"/>
                </a:solidFill>
              </a:rPr>
              <a:t>"</a:t>
            </a:r>
            <a:endParaRPr lang="zh-TW" altLang="en-US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                </a:t>
            </a:r>
            <a:r>
              <a:rPr lang="en-US" altLang="zh-TW" dirty="0">
                <a:solidFill>
                  <a:schemeClr val="bg1"/>
                </a:solidFill>
              </a:rPr>
              <a:t>"【</a:t>
            </a:r>
            <a:r>
              <a:rPr lang="zh-TW" altLang="en-US" dirty="0">
                <a:solidFill>
                  <a:schemeClr val="bg1"/>
                </a:solidFill>
              </a:rPr>
              <a:t>系統提示</a:t>
            </a:r>
            <a:r>
              <a:rPr lang="en-US" altLang="zh-TW" dirty="0">
                <a:solidFill>
                  <a:schemeClr val="bg1"/>
                </a:solidFill>
              </a:rPr>
              <a:t>: API </a:t>
            </a:r>
            <a:r>
              <a:rPr lang="zh-TW" altLang="en-US" dirty="0">
                <a:solidFill>
                  <a:schemeClr val="bg1"/>
                </a:solidFill>
              </a:rPr>
              <a:t>接收正確性評測通過。</a:t>
            </a:r>
            <a:r>
              <a:rPr lang="en-US" altLang="zh-TW" dirty="0">
                <a:solidFill>
                  <a:schemeClr val="bg1"/>
                </a:solidFill>
              </a:rPr>
              <a:t>Layer 3 </a:t>
            </a:r>
            <a:r>
              <a:rPr lang="zh-TW" altLang="en-US" dirty="0">
                <a:solidFill>
                  <a:schemeClr val="bg1"/>
                </a:solidFill>
              </a:rPr>
              <a:t>數據密室全面解鎖</a:t>
            </a:r>
            <a:r>
              <a:rPr lang="en-US" altLang="zh-TW" dirty="0">
                <a:solidFill>
                  <a:schemeClr val="bg1"/>
                </a:solidFill>
              </a:rPr>
              <a:t>!】"</a:t>
            </a:r>
            <a:endParaRPr lang="zh-TW" altLang="en-US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                </a:t>
            </a:r>
            <a:r>
              <a:rPr lang="en-US" altLang="zh-TW" dirty="0">
                <a:solidFill>
                  <a:schemeClr val="bg1"/>
                </a:solidFill>
              </a:rPr>
              <a:t>jump chapter3_clear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    </a:t>
            </a:r>
            <a:r>
              <a:rPr lang="en-US" altLang="zh-TW" dirty="0" err="1">
                <a:solidFill>
                  <a:schemeClr val="bg1"/>
                </a:solidFill>
              </a:rPr>
              <a:t>elif</a:t>
            </a:r>
            <a:r>
              <a:rPr lang="en-US" altLang="zh-TW" dirty="0">
                <a:solidFill>
                  <a:schemeClr val="bg1"/>
                </a:solidFill>
              </a:rPr>
              <a:t> ans_3_3.lower() == “null” or ans_3_3.lower() == “none”: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u="sng" dirty="0">
                <a:solidFill>
                  <a:schemeClr val="bg1"/>
                </a:solidFill>
              </a:rPr>
              <a:t>//</a:t>
            </a:r>
            <a:r>
              <a:rPr lang="zh-TW" altLang="en-US" u="sng" dirty="0">
                <a:solidFill>
                  <a:schemeClr val="bg1"/>
                </a:solidFill>
              </a:rPr>
              <a:t>讓使用者輸入這兩個解答，也可以通過。</a:t>
            </a:r>
            <a:endParaRPr lang="en-US" altLang="zh-TW" u="sng" dirty="0">
              <a:solidFill>
                <a:schemeClr val="bg1"/>
              </a:solidFill>
            </a:endParaRPr>
          </a:p>
          <a:p>
            <a:r>
              <a:rPr lang="en-US" altLang="zh-TW" dirty="0">
                <a:solidFill>
                  <a:schemeClr val="bg1"/>
                </a:solidFill>
              </a:rPr>
              <a:t>                show aria talk at right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        aria "</a:t>
            </a:r>
            <a:r>
              <a:rPr lang="zh-TW" altLang="en-US" dirty="0">
                <a:solidFill>
                  <a:schemeClr val="bg1"/>
                </a:solidFill>
              </a:rPr>
              <a:t>注意！</a:t>
            </a:r>
            <a:r>
              <a:rPr lang="en-US" altLang="zh-TW" dirty="0">
                <a:solidFill>
                  <a:schemeClr val="bg1"/>
                </a:solidFill>
              </a:rPr>
              <a:t>Python </a:t>
            </a:r>
            <a:r>
              <a:rPr lang="zh-TW" altLang="en-US" dirty="0">
                <a:solidFill>
                  <a:schemeClr val="bg1"/>
                </a:solidFill>
              </a:rPr>
              <a:t>的空值宣告與 </a:t>
            </a:r>
            <a:r>
              <a:rPr lang="en-US" altLang="zh-TW" dirty="0">
                <a:solidFill>
                  <a:schemeClr val="bg1"/>
                </a:solidFill>
              </a:rPr>
              <a:t>JavaScript </a:t>
            </a:r>
            <a:r>
              <a:rPr lang="zh-TW" altLang="en-US" dirty="0">
                <a:solidFill>
                  <a:schemeClr val="bg1"/>
                </a:solidFill>
              </a:rPr>
              <a:t>或 </a:t>
            </a:r>
            <a:r>
              <a:rPr lang="en-US" altLang="zh-TW" dirty="0">
                <a:solidFill>
                  <a:schemeClr val="bg1"/>
                </a:solidFill>
              </a:rPr>
              <a:t>SQL </a:t>
            </a:r>
            <a:r>
              <a:rPr lang="zh-TW" altLang="en-US" dirty="0">
                <a:solidFill>
                  <a:schemeClr val="bg1"/>
                </a:solidFill>
              </a:rPr>
              <a:t>不同，且大小寫極為嚴格！請重新檢查。</a:t>
            </a:r>
            <a:r>
              <a:rPr lang="en-US" altLang="zh-TW" dirty="0">
                <a:solidFill>
                  <a:schemeClr val="bg1"/>
                </a:solidFill>
              </a:rPr>
              <a:t>"</a:t>
            </a:r>
            <a:endParaRPr lang="zh-TW" altLang="en-US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                </a:t>
            </a:r>
            <a:r>
              <a:rPr lang="en-US" altLang="zh-TW" dirty="0">
                <a:solidFill>
                  <a:schemeClr val="bg1"/>
                </a:solidFill>
              </a:rPr>
              <a:t>jump ch3_3_input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    else: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        </a:t>
            </a:r>
            <a:r>
              <a:rPr lang="en-US" altLang="zh-TW" i="1" dirty="0">
                <a:solidFill>
                  <a:schemeClr val="bg1"/>
                </a:solidFill>
              </a:rPr>
              <a:t>$</a:t>
            </a:r>
            <a:r>
              <a:rPr lang="en-US" altLang="zh-TW" dirty="0">
                <a:solidFill>
                  <a:schemeClr val="bg1"/>
                </a:solidFill>
              </a:rPr>
              <a:t>  score = score -  15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        show aria talk at right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        aria "</a:t>
            </a:r>
            <a:r>
              <a:rPr lang="zh-TW" altLang="en-US" dirty="0">
                <a:solidFill>
                  <a:schemeClr val="bg1"/>
                </a:solidFill>
              </a:rPr>
              <a:t>不行啊！錯誤的判斷式導致程式拋出 </a:t>
            </a:r>
            <a:r>
              <a:rPr lang="en-US" altLang="zh-TW" dirty="0" err="1">
                <a:solidFill>
                  <a:schemeClr val="bg1"/>
                </a:solidFill>
              </a:rPr>
              <a:t>NameError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zh-TW" altLang="en-US" dirty="0">
                <a:solidFill>
                  <a:schemeClr val="bg1"/>
                </a:solidFill>
              </a:rPr>
              <a:t>或 </a:t>
            </a:r>
            <a:r>
              <a:rPr lang="en-US" altLang="zh-TW" dirty="0" err="1">
                <a:solidFill>
                  <a:schemeClr val="bg1"/>
                </a:solidFill>
              </a:rPr>
              <a:t>TypeError</a:t>
            </a:r>
            <a:r>
              <a:rPr lang="zh-TW" altLang="en-US" dirty="0">
                <a:solidFill>
                  <a:schemeClr val="bg1"/>
                </a:solidFill>
              </a:rPr>
              <a:t>，系統陷入無限重啟！</a:t>
            </a:r>
            <a:r>
              <a:rPr lang="en-US" altLang="zh-TW" dirty="0">
                <a:solidFill>
                  <a:schemeClr val="bg1"/>
                </a:solidFill>
              </a:rPr>
              <a:t>"</a:t>
            </a:r>
            <a:endParaRPr lang="zh-TW" altLang="en-US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                </a:t>
            </a:r>
            <a:r>
              <a:rPr lang="en-US" altLang="zh-TW" dirty="0">
                <a:solidFill>
                  <a:schemeClr val="bg1"/>
                </a:solidFill>
              </a:rPr>
              <a:t>"【</a:t>
            </a:r>
            <a:r>
              <a:rPr lang="zh-TW" altLang="en-US" dirty="0">
                <a:solidFill>
                  <a:schemeClr val="bg1"/>
                </a:solidFill>
              </a:rPr>
              <a:t>系統提示：扣除 </a:t>
            </a:r>
            <a:r>
              <a:rPr lang="en-US" altLang="zh-TW" dirty="0">
                <a:solidFill>
                  <a:schemeClr val="bg1"/>
                </a:solidFill>
              </a:rPr>
              <a:t>15 </a:t>
            </a:r>
            <a:r>
              <a:rPr lang="zh-TW" altLang="en-US" dirty="0">
                <a:solidFill>
                  <a:schemeClr val="bg1"/>
                </a:solidFill>
              </a:rPr>
              <a:t>分！目前分數：</a:t>
            </a:r>
            <a:r>
              <a:rPr lang="en-US" altLang="zh-TW" dirty="0">
                <a:solidFill>
                  <a:schemeClr val="bg1"/>
                </a:solidFill>
              </a:rPr>
              <a:t>[score]】"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        jump ch3_3_input</a:t>
            </a:r>
          </a:p>
        </p:txBody>
      </p:sp>
    </p:spTree>
    <p:extLst>
      <p:ext uri="{BB962C8B-B14F-4D97-AF65-F5344CB8AC3E}">
        <p14:creationId xmlns:p14="http://schemas.microsoft.com/office/powerpoint/2010/main" val="1300104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53112-3207-8D16-2AB0-2E307B4D9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2CFD3B54-9EA5-96CC-BB7C-8C65D2E76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zh-TW" altLang="en-US" dirty="0">
                <a:latin typeface="+mn-ea"/>
              </a:rPr>
              <a:t>劇情優化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60D1D2F-8D71-1D4B-C5C0-31F3860A5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5478792-8590-420A-CB9C-EB4AF7C6C2A2}"/>
              </a:ext>
            </a:extLst>
          </p:cNvPr>
          <p:cNvSpPr txBox="1"/>
          <p:nvPr/>
        </p:nvSpPr>
        <p:spPr>
          <a:xfrm>
            <a:off x="611560" y="915616"/>
            <a:ext cx="8348238" cy="4801314"/>
          </a:xfrm>
          <a:prstGeom prst="rect">
            <a:avLst/>
          </a:prstGeom>
          <a:solidFill>
            <a:srgbClr val="292A37"/>
          </a:solidFill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solidFill>
                  <a:schemeClr val="bg1"/>
                </a:solidFill>
              </a:rPr>
              <a:t>  if score &gt;= 60: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show aria talk: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    right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with move   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aria "</a:t>
            </a:r>
            <a:r>
              <a:rPr lang="zh-TW" altLang="en-US" dirty="0">
                <a:solidFill>
                  <a:schemeClr val="bg1"/>
                </a:solidFill>
              </a:rPr>
              <a:t>最終結算得分</a:t>
            </a:r>
            <a:r>
              <a:rPr lang="en-US" altLang="zh-TW" dirty="0">
                <a:solidFill>
                  <a:schemeClr val="bg1"/>
                </a:solidFill>
              </a:rPr>
              <a:t>:[score] </a:t>
            </a:r>
            <a:r>
              <a:rPr lang="zh-TW" altLang="en-US" dirty="0">
                <a:solidFill>
                  <a:schemeClr val="bg1"/>
                </a:solidFill>
              </a:rPr>
              <a:t>分</a:t>
            </a:r>
            <a:r>
              <a:rPr lang="en-US" altLang="zh-TW" dirty="0">
                <a:solidFill>
                  <a:schemeClr val="bg1"/>
                </a:solidFill>
              </a:rPr>
              <a:t>!</a:t>
            </a:r>
            <a:r>
              <a:rPr lang="zh-TW" altLang="en-US" dirty="0">
                <a:solidFill>
                  <a:schemeClr val="bg1"/>
                </a:solidFill>
              </a:rPr>
              <a:t>你展現了極高水準的</a:t>
            </a:r>
            <a:r>
              <a:rPr lang="en-US" altLang="zh-TW" dirty="0">
                <a:solidFill>
                  <a:schemeClr val="bg1"/>
                </a:solidFill>
              </a:rPr>
              <a:t>『</a:t>
            </a:r>
            <a:r>
              <a:rPr lang="zh-TW" altLang="en-US" dirty="0">
                <a:solidFill>
                  <a:schemeClr val="bg1"/>
                </a:solidFill>
              </a:rPr>
              <a:t>測試驅動思維</a:t>
            </a:r>
            <a:r>
              <a:rPr lang="en-US" altLang="zh-TW" dirty="0">
                <a:solidFill>
                  <a:schemeClr val="bg1"/>
                </a:solidFill>
              </a:rPr>
              <a:t>』</a:t>
            </a:r>
            <a:r>
              <a:rPr lang="zh-TW" altLang="en-US" dirty="0">
                <a:solidFill>
                  <a:schemeClr val="bg1"/>
                </a:solidFill>
              </a:rPr>
              <a:t>與</a:t>
            </a:r>
            <a:r>
              <a:rPr lang="en-US" altLang="zh-TW" dirty="0">
                <a:solidFill>
                  <a:schemeClr val="bg1"/>
                </a:solidFill>
              </a:rPr>
              <a:t>『</a:t>
            </a:r>
            <a:r>
              <a:rPr lang="zh-TW" altLang="en-US" dirty="0">
                <a:solidFill>
                  <a:schemeClr val="bg1"/>
                </a:solidFill>
              </a:rPr>
              <a:t>獨立應用能力</a:t>
            </a:r>
            <a:r>
              <a:rPr lang="en-US" altLang="zh-TW" dirty="0">
                <a:solidFill>
                  <a:schemeClr val="bg1"/>
                </a:solidFill>
              </a:rPr>
              <a:t>』,</a:t>
            </a:r>
            <a:r>
              <a:rPr lang="zh-TW" altLang="en-US" dirty="0">
                <a:solidFill>
                  <a:schemeClr val="bg1"/>
                </a:solidFill>
              </a:rPr>
              <a:t>你是真正的核心架構師</a:t>
            </a:r>
            <a:r>
              <a:rPr lang="en-US" altLang="zh-TW" dirty="0">
                <a:solidFill>
                  <a:schemeClr val="bg1"/>
                </a:solidFill>
              </a:rPr>
              <a:t>!"</a:t>
            </a:r>
            <a:endParaRPr lang="zh-TW" altLang="en-US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        </a:t>
            </a:r>
            <a:r>
              <a:rPr lang="en-US" altLang="zh-TW" dirty="0">
                <a:solidFill>
                  <a:schemeClr val="bg1"/>
                </a:solidFill>
              </a:rPr>
              <a:t>boss "</a:t>
            </a:r>
            <a:r>
              <a:rPr lang="zh-TW" altLang="en-US" dirty="0">
                <a:solidFill>
                  <a:schemeClr val="bg1"/>
                </a:solidFill>
              </a:rPr>
              <a:t>太感謝你了</a:t>
            </a:r>
            <a:r>
              <a:rPr lang="en-US" altLang="zh-TW" dirty="0">
                <a:solidFill>
                  <a:schemeClr val="bg1"/>
                </a:solidFill>
              </a:rPr>
              <a:t>!</a:t>
            </a:r>
            <a:r>
              <a:rPr lang="zh-TW" altLang="en-US" dirty="0">
                <a:solidFill>
                  <a:schemeClr val="bg1"/>
                </a:solidFill>
              </a:rPr>
              <a:t>明天的週一例會</a:t>
            </a:r>
            <a:r>
              <a:rPr lang="en-US" altLang="zh-TW" dirty="0">
                <a:solidFill>
                  <a:schemeClr val="bg1"/>
                </a:solidFill>
              </a:rPr>
              <a:t>,</a:t>
            </a:r>
            <a:r>
              <a:rPr lang="zh-TW" altLang="en-US" dirty="0">
                <a:solidFill>
                  <a:schemeClr val="bg1"/>
                </a:solidFill>
              </a:rPr>
              <a:t>我會正式宣布晉升你為我們的首席資訊長</a:t>
            </a:r>
            <a:r>
              <a:rPr lang="en-US" altLang="zh-TW" dirty="0">
                <a:solidFill>
                  <a:schemeClr val="bg1"/>
                </a:solidFill>
              </a:rPr>
              <a:t>(CIO)!</a:t>
            </a:r>
            <a:r>
              <a:rPr lang="zh-TW" altLang="en-US" dirty="0">
                <a:solidFill>
                  <a:schemeClr val="bg1"/>
                </a:solidFill>
              </a:rPr>
              <a:t>現在</a:t>
            </a:r>
            <a:r>
              <a:rPr lang="en-US" altLang="zh-TW" dirty="0">
                <a:solidFill>
                  <a:schemeClr val="bg1"/>
                </a:solidFill>
              </a:rPr>
              <a:t>,</a:t>
            </a:r>
            <a:r>
              <a:rPr lang="zh-TW" altLang="en-US" dirty="0">
                <a:solidFill>
                  <a:schemeClr val="bg1"/>
                </a:solidFill>
              </a:rPr>
              <a:t>給自己開一罐慶祝的啤酒吧</a:t>
            </a:r>
            <a:r>
              <a:rPr lang="en-US" altLang="zh-TW" dirty="0">
                <a:solidFill>
                  <a:schemeClr val="bg1"/>
                </a:solidFill>
              </a:rPr>
              <a:t>!"</a:t>
            </a:r>
            <a:endParaRPr lang="zh-TW" altLang="en-US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        </a:t>
            </a:r>
            <a:r>
              <a:rPr lang="en-US" altLang="zh-TW" dirty="0">
                <a:solidFill>
                  <a:schemeClr val="bg1"/>
                </a:solidFill>
              </a:rPr>
              <a:t>"【</a:t>
            </a:r>
            <a:r>
              <a:rPr lang="zh-TW" altLang="en-US" dirty="0">
                <a:solidFill>
                  <a:schemeClr val="bg1"/>
                </a:solidFill>
              </a:rPr>
              <a:t>辦公室數據密室逃脫</a:t>
            </a:r>
            <a:r>
              <a:rPr lang="en-US" altLang="zh-TW" dirty="0">
                <a:solidFill>
                  <a:schemeClr val="bg1"/>
                </a:solidFill>
              </a:rPr>
              <a:t>——</a:t>
            </a:r>
            <a:r>
              <a:rPr lang="zh-TW" altLang="en-US" dirty="0">
                <a:solidFill>
                  <a:schemeClr val="bg1"/>
                </a:solidFill>
              </a:rPr>
              <a:t>成功</a:t>
            </a:r>
            <a:r>
              <a:rPr lang="en-US" altLang="zh-TW" dirty="0">
                <a:solidFill>
                  <a:schemeClr val="bg1"/>
                </a:solidFill>
              </a:rPr>
              <a:t>!THE END】"</a:t>
            </a:r>
          </a:p>
          <a:p>
            <a:endParaRPr lang="en-US" altLang="zh-TW" dirty="0">
              <a:solidFill>
                <a:schemeClr val="bg1"/>
              </a:solidFill>
            </a:endParaRPr>
          </a:p>
          <a:p>
            <a:r>
              <a:rPr lang="en-US" altLang="zh-TW" dirty="0">
                <a:solidFill>
                  <a:schemeClr val="bg1"/>
                </a:solidFill>
              </a:rPr>
              <a:t>    else: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show aria talk: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    right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with move   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    aria "</a:t>
            </a:r>
            <a:r>
              <a:rPr lang="zh-TW" altLang="en-US" dirty="0">
                <a:solidFill>
                  <a:schemeClr val="bg1"/>
                </a:solidFill>
              </a:rPr>
              <a:t>最終結算得分</a:t>
            </a:r>
            <a:r>
              <a:rPr lang="en-US" altLang="zh-TW" dirty="0">
                <a:solidFill>
                  <a:schemeClr val="bg1"/>
                </a:solidFill>
              </a:rPr>
              <a:t>:[score] </a:t>
            </a:r>
            <a:r>
              <a:rPr lang="zh-TW" altLang="en-US" dirty="0">
                <a:solidFill>
                  <a:schemeClr val="bg1"/>
                </a:solidFill>
              </a:rPr>
              <a:t>分。分數未達到標準，最終修復宣告失敗</a:t>
            </a:r>
            <a:r>
              <a:rPr lang="en-US" altLang="zh-TW" dirty="0">
                <a:solidFill>
                  <a:schemeClr val="bg1"/>
                </a:solidFill>
              </a:rPr>
              <a:t>……"</a:t>
            </a:r>
            <a:endParaRPr lang="zh-TW" altLang="en-US" dirty="0">
              <a:solidFill>
                <a:schemeClr val="bg1"/>
              </a:solidFill>
            </a:endParaRPr>
          </a:p>
          <a:p>
            <a:r>
              <a:rPr lang="zh-TW" altLang="en-US" dirty="0">
                <a:solidFill>
                  <a:schemeClr val="bg1"/>
                </a:solidFill>
              </a:rPr>
              <a:t>        </a:t>
            </a:r>
            <a:r>
              <a:rPr lang="en-US" altLang="zh-TW" dirty="0">
                <a:solidFill>
                  <a:schemeClr val="bg1"/>
                </a:solidFill>
              </a:rPr>
              <a:t>"【</a:t>
            </a:r>
            <a:r>
              <a:rPr lang="zh-TW" altLang="en-US" dirty="0">
                <a:solidFill>
                  <a:schemeClr val="bg1"/>
                </a:solidFill>
              </a:rPr>
              <a:t>辦公室數據密室逃脫</a:t>
            </a:r>
            <a:r>
              <a:rPr lang="en-US" altLang="zh-TW" dirty="0">
                <a:solidFill>
                  <a:schemeClr val="bg1"/>
                </a:solidFill>
              </a:rPr>
              <a:t>——</a:t>
            </a:r>
            <a:r>
              <a:rPr lang="zh-TW" altLang="en-US" dirty="0">
                <a:solidFill>
                  <a:schemeClr val="bg1"/>
                </a:solidFill>
              </a:rPr>
              <a:t>失敗</a:t>
            </a:r>
            <a:r>
              <a:rPr lang="en-US" altLang="zh-TW" dirty="0">
                <a:solidFill>
                  <a:schemeClr val="bg1"/>
                </a:solidFill>
              </a:rPr>
              <a:t>!THE END】"</a:t>
            </a:r>
          </a:p>
          <a:p>
            <a:r>
              <a:rPr lang="en-US" altLang="zh-TW" dirty="0">
                <a:solidFill>
                  <a:schemeClr val="bg1"/>
                </a:solidFill>
              </a:rPr>
              <a:t>    return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3688EB4-E734-0590-C344-D6BCA9D16126}"/>
              </a:ext>
            </a:extLst>
          </p:cNvPr>
          <p:cNvSpPr txBox="1">
            <a:spLocks/>
          </p:cNvSpPr>
          <p:nvPr/>
        </p:nvSpPr>
        <p:spPr>
          <a:xfrm>
            <a:off x="611560" y="5885791"/>
            <a:ext cx="7772400" cy="720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zh-TW" altLang="en-US" sz="2400" dirty="0"/>
              <a:t>把劇情改成比較合理的版本。</a:t>
            </a:r>
          </a:p>
        </p:txBody>
      </p:sp>
    </p:spTree>
    <p:extLst>
      <p:ext uri="{BB962C8B-B14F-4D97-AF65-F5344CB8AC3E}">
        <p14:creationId xmlns:p14="http://schemas.microsoft.com/office/powerpoint/2010/main" val="1582610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6E5E5-4795-0909-E10C-87D047505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0E35A69E-8C38-786F-57BE-E4E4B087C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 err="1">
                <a:latin typeface="+mn-ea"/>
              </a:rPr>
              <a:t>RenPy</a:t>
            </a:r>
            <a:r>
              <a:rPr lang="zh-TW" altLang="en-US" dirty="0">
                <a:latin typeface="+mn-ea"/>
              </a:rPr>
              <a:t>名詞解釋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1AD5722-64EA-A01B-8AF7-E3276E455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8</a:t>
            </a:fld>
            <a:endParaRPr lang="zh-TW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35C55BA-DDD4-B25F-0E04-465FDEDEA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6225722"/>
              </p:ext>
            </p:extLst>
          </p:nvPr>
        </p:nvGraphicFramePr>
        <p:xfrm>
          <a:off x="621769" y="1122199"/>
          <a:ext cx="8208912" cy="2069048"/>
        </p:xfrm>
        <a:graphic>
          <a:graphicData uri="http://schemas.openxmlformats.org/drawingml/2006/table">
            <a:tbl>
              <a:tblPr/>
              <a:tblGrid>
                <a:gridCol w="1440160">
                  <a:extLst>
                    <a:ext uri="{9D8B030D-6E8A-4147-A177-3AD203B41FA5}">
                      <a16:colId xmlns:a16="http://schemas.microsoft.com/office/drawing/2014/main" val="4044634707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1925657153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3700314352"/>
                    </a:ext>
                  </a:extLst>
                </a:gridCol>
              </a:tblGrid>
              <a:tr h="30738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特性</a:t>
                      </a:r>
                      <a:endParaRPr lang="zh-TW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782" marR="85782" marT="57188" marB="5718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gTTS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(Google TTS)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782" marR="85782" marT="57188" marB="5718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pyttsx3</a:t>
                      </a:r>
                      <a:endParaRPr 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782" marR="85782" marT="57188" marB="5718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485852"/>
                  </a:ext>
                </a:extLst>
              </a:tr>
              <a:tr h="39234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運作原理</a:t>
                      </a:r>
                      <a:endParaRPr lang="zh-TW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782" marR="85782" marT="57188" marB="5718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雲端架構</a:t>
                      </a:r>
                      <a:endParaRPr lang="zh-TW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782" marR="85782" marT="57188" marB="5718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離線</a:t>
                      </a:r>
                      <a:endParaRPr 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782" marR="85782" marT="57188" marB="5718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68847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網路需求</a:t>
                      </a:r>
                      <a:endParaRPr lang="zh-TW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782" marR="85782" marT="57188" marB="5718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zh-TW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必須連網</a:t>
                      </a:r>
                      <a:endParaRPr lang="zh-TW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782" marR="85782" marT="57188" marB="5718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zh-TW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完全離線</a:t>
                      </a:r>
                      <a:endParaRPr lang="zh-TW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782" marR="85782" marT="57188" marB="5718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3969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聲音品質</a:t>
                      </a:r>
                      <a:endParaRPr lang="zh-TW" altLang="en-US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782" marR="85782" marT="57188" marB="5718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擬真度高、聲音自然流暢。</a:t>
                      </a:r>
                    </a:p>
                  </a:txBody>
                  <a:tcPr marL="85782" marR="85782" marT="57188" marB="5718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較有機械感、生硬。</a:t>
                      </a:r>
                    </a:p>
                  </a:txBody>
                  <a:tcPr marL="85782" marR="85782" marT="57188" marB="5718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11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執行速度</a:t>
                      </a:r>
                      <a:endParaRPr lang="zh-TW" altLang="en-US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782" marR="85782" marT="57188" marB="5718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需要等待網路傳輸與下載時間。</a:t>
                      </a:r>
                    </a:p>
                  </a:txBody>
                  <a:tcPr marL="85782" marR="85782" marT="57188" marB="5718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zh-TW" altLang="en-US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毫秒級反應，點擊立刻發聲，速度極快。</a:t>
                      </a:r>
                    </a:p>
                  </a:txBody>
                  <a:tcPr marL="85782" marR="85782" marT="57188" marB="57188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237084"/>
                  </a:ext>
                </a:extLst>
              </a:tr>
            </a:tbl>
          </a:graphicData>
        </a:graphic>
      </p:graphicFrame>
      <p:sp>
        <p:nvSpPr>
          <p:cNvPr id="7" name="標題 1">
            <a:extLst>
              <a:ext uri="{FF2B5EF4-FFF2-40B4-BE49-F238E27FC236}">
                <a16:creationId xmlns:a16="http://schemas.microsoft.com/office/drawing/2014/main" id="{ED848764-6DE4-4B38-5BC9-263C0D193C46}"/>
              </a:ext>
            </a:extLst>
          </p:cNvPr>
          <p:cNvSpPr txBox="1">
            <a:spLocks/>
          </p:cNvSpPr>
          <p:nvPr/>
        </p:nvSpPr>
        <p:spPr>
          <a:xfrm>
            <a:off x="529371" y="3224716"/>
            <a:ext cx="8301310" cy="2940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200" dirty="0"/>
              <a:t>Assert :</a:t>
            </a:r>
            <a:r>
              <a:rPr lang="zh-TW" altLang="en-US" sz="2200" u="sng" dirty="0"/>
              <a:t>是用來做</a:t>
            </a:r>
            <a:r>
              <a:rPr lang="zh-TW" altLang="en-US" sz="2200" b="1" u="sng" dirty="0"/>
              <a:t>自動化測試與內部防線。</a:t>
            </a:r>
            <a:endParaRPr lang="en-US" altLang="zh-TW" sz="2200" b="1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200" dirty="0" err="1"/>
              <a:t>Os.path</a:t>
            </a:r>
            <a:r>
              <a:rPr lang="zh-TW" altLang="en-US" sz="2200" dirty="0"/>
              <a:t> </a:t>
            </a:r>
            <a:r>
              <a:rPr lang="en-US" altLang="zh-TW" sz="2200" dirty="0"/>
              <a:t>:</a:t>
            </a:r>
            <a:r>
              <a:rPr lang="zh-TW" altLang="en-US" sz="2200" dirty="0"/>
              <a:t>來處理</a:t>
            </a:r>
            <a:r>
              <a:rPr lang="zh-TW" altLang="en-US" sz="2200" b="1" dirty="0"/>
              <a:t>檔案路徑、檢查檔案狀態與獲取檔案資訊</a:t>
            </a:r>
            <a:r>
              <a:rPr lang="zh-TW" altLang="en-US" sz="2200" dirty="0"/>
              <a:t>。</a:t>
            </a:r>
            <a:endParaRPr lang="en-US" altLang="zh-TW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200" dirty="0" err="1"/>
              <a:t>getsize</a:t>
            </a:r>
            <a:r>
              <a:rPr lang="en-US" altLang="zh-TW" sz="2200" dirty="0"/>
              <a:t>()</a:t>
            </a:r>
            <a:r>
              <a:rPr lang="zh-TW" altLang="en-US" sz="2200" dirty="0"/>
              <a:t> </a:t>
            </a:r>
            <a:r>
              <a:rPr lang="en-US" altLang="zh-TW" sz="2200" dirty="0"/>
              <a:t>:</a:t>
            </a:r>
            <a:r>
              <a:rPr lang="zh-TW" altLang="en-US" sz="2200" dirty="0"/>
              <a:t>獲取檔案大小。</a:t>
            </a:r>
            <a:endParaRPr lang="en-US" altLang="zh-TW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200" dirty="0"/>
              <a:t>.lower()</a:t>
            </a:r>
            <a:r>
              <a:rPr lang="zh-TW" altLang="en-US" sz="2200" dirty="0"/>
              <a:t> </a:t>
            </a:r>
            <a:r>
              <a:rPr lang="en-US" altLang="zh-TW" sz="2200" dirty="0"/>
              <a:t>:</a:t>
            </a:r>
            <a:r>
              <a:rPr lang="zh-TW" altLang="en-US" sz="2200" dirty="0"/>
              <a:t>將字串中所有的大寫英文字母，全部轉換成小寫字母。</a:t>
            </a:r>
            <a:endParaRPr lang="en-US" altLang="zh-TW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200" dirty="0"/>
              <a:t>Cv2 : </a:t>
            </a:r>
            <a:r>
              <a:rPr lang="zh-TW" altLang="en-US" sz="2200" dirty="0"/>
              <a:t>只要是有關圖片、影片、攝影機鏡頭的讀取、修改、修復、剪裁或人臉辨識，幾乎都是靠它來搞定。</a:t>
            </a:r>
            <a:endParaRPr lang="en-US" altLang="zh-TW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200" dirty="0"/>
              <a:t>threading</a:t>
            </a:r>
            <a:r>
              <a:rPr lang="zh-TW" altLang="en-US" sz="2200" dirty="0"/>
              <a:t>  </a:t>
            </a:r>
            <a:r>
              <a:rPr lang="en-US" altLang="zh-TW" sz="2200" dirty="0"/>
              <a:t>:</a:t>
            </a:r>
            <a:r>
              <a:rPr lang="zh-TW" altLang="en-US" sz="2200" dirty="0"/>
              <a:t> 可以幫你開啟好幾條平行通道，讓多個任務看起來像是同時在執行。</a:t>
            </a:r>
            <a:endParaRPr lang="en-US" altLang="zh-TW" sz="2200" dirty="0"/>
          </a:p>
        </p:txBody>
      </p:sp>
    </p:spTree>
    <p:extLst>
      <p:ext uri="{BB962C8B-B14F-4D97-AF65-F5344CB8AC3E}">
        <p14:creationId xmlns:p14="http://schemas.microsoft.com/office/powerpoint/2010/main" val="1830150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4A769-B7A1-F189-9001-68A016810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6E2484D2-1C2E-7895-9469-BD33540D2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Django ai_chat.html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D1BE10EE-597F-9454-B981-C451AEA7E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871A5071-FEF8-2831-D1E1-5A0A1AD3AA94}"/>
              </a:ext>
            </a:extLst>
          </p:cNvPr>
          <p:cNvSpPr txBox="1">
            <a:spLocks/>
          </p:cNvSpPr>
          <p:nvPr/>
        </p:nvSpPr>
        <p:spPr>
          <a:xfrm>
            <a:off x="529371" y="3224716"/>
            <a:ext cx="8301310" cy="2940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200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DEE7D63F-578A-58FC-310A-0664D51EF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04" y="1124744"/>
            <a:ext cx="6562038" cy="4464496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14A4EFCC-674F-3CE3-6A1C-DE55AD293794}"/>
              </a:ext>
            </a:extLst>
          </p:cNvPr>
          <p:cNvSpPr txBox="1"/>
          <p:nvPr/>
        </p:nvSpPr>
        <p:spPr>
          <a:xfrm>
            <a:off x="7196398" y="1160200"/>
            <a:ext cx="1872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1.</a:t>
            </a:r>
            <a:r>
              <a:rPr lang="zh-TW" altLang="en-US" sz="1400" dirty="0"/>
              <a:t>利用</a:t>
            </a:r>
            <a:r>
              <a:rPr lang="en-US" altLang="zh-TW" sz="1400" dirty="0"/>
              <a:t>a </a:t>
            </a:r>
            <a:r>
              <a:rPr lang="en-US" altLang="zh-TW" sz="1400" dirty="0" err="1"/>
              <a:t>href</a:t>
            </a:r>
            <a:r>
              <a:rPr lang="en-US" altLang="zh-TW" sz="1400" dirty="0"/>
              <a:t> </a:t>
            </a:r>
            <a:r>
              <a:rPr lang="zh-TW" altLang="en-US" sz="1400" dirty="0"/>
              <a:t>建立一個返回首頁的連結。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7F9E6B9-7A5B-EB13-FE91-2D1B19333B24}"/>
              </a:ext>
            </a:extLst>
          </p:cNvPr>
          <p:cNvSpPr txBox="1"/>
          <p:nvPr/>
        </p:nvSpPr>
        <p:spPr>
          <a:xfrm>
            <a:off x="7235563" y="1700834"/>
            <a:ext cx="187220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/>
              <a:t>2.</a:t>
            </a:r>
            <a:r>
              <a:rPr lang="zh-TW" altLang="en-US" sz="1400" dirty="0"/>
              <a:t>利用</a:t>
            </a:r>
            <a:r>
              <a:rPr lang="en-US" altLang="zh-TW" sz="1400" dirty="0"/>
              <a:t>div chat-container </a:t>
            </a:r>
            <a:r>
              <a:rPr lang="zh-TW" altLang="en-US" sz="1400" dirty="0"/>
              <a:t>使對話框位於置中位置。</a:t>
            </a:r>
            <a:endParaRPr lang="en-US" altLang="zh-TW" sz="1400" dirty="0"/>
          </a:p>
          <a:p>
            <a:r>
              <a:rPr lang="en-US" altLang="zh-TW" sz="1400" dirty="0"/>
              <a:t>3.</a:t>
            </a:r>
            <a:r>
              <a:rPr lang="zh-TW" altLang="en-US" sz="1400" dirty="0"/>
              <a:t>先預設一些對話框在畫面中，才不會顯得突兀。</a:t>
            </a:r>
            <a:endParaRPr lang="en-US" altLang="zh-TW" sz="1400" dirty="0"/>
          </a:p>
          <a:p>
            <a:r>
              <a:rPr lang="en-US" altLang="zh-TW" sz="1400" dirty="0"/>
              <a:t>4.Id </a:t>
            </a:r>
            <a:r>
              <a:rPr lang="en-US" altLang="zh-TW" sz="1400" dirty="0" err="1"/>
              <a:t>loadingTimer</a:t>
            </a:r>
            <a:r>
              <a:rPr lang="en-US" altLang="zh-TW" sz="1400" dirty="0"/>
              <a:t> </a:t>
            </a:r>
            <a:r>
              <a:rPr lang="zh-TW" altLang="en-US" sz="1400" dirty="0"/>
              <a:t>用放置</a:t>
            </a:r>
            <a:r>
              <a:rPr lang="en-US" altLang="zh-TW" sz="1400" dirty="0"/>
              <a:t>ai</a:t>
            </a:r>
            <a:r>
              <a:rPr lang="zh-TW" altLang="en-US" sz="1400" dirty="0"/>
              <a:t>計算這個問題所需運作的時間。</a:t>
            </a:r>
            <a:endParaRPr lang="en-US" altLang="zh-TW" sz="1400" dirty="0"/>
          </a:p>
          <a:p>
            <a:r>
              <a:rPr lang="en-US" altLang="zh-TW" sz="1400" dirty="0"/>
              <a:t>5.</a:t>
            </a:r>
            <a:r>
              <a:rPr lang="zh-TW" altLang="en-US" sz="1400" dirty="0"/>
              <a:t>建立 </a:t>
            </a:r>
            <a:r>
              <a:rPr lang="en-US" altLang="zh-TW" sz="1400" dirty="0"/>
              <a:t>form </a:t>
            </a:r>
            <a:r>
              <a:rPr lang="zh-TW" altLang="en-US" sz="1400" dirty="0"/>
              <a:t>作為傳輸，</a:t>
            </a:r>
            <a:endParaRPr lang="en-US" altLang="zh-TW" sz="1400" dirty="0"/>
          </a:p>
          <a:p>
            <a:r>
              <a:rPr lang="en-US" altLang="zh-TW" sz="1400" dirty="0" err="1"/>
              <a:t>Onsubmit</a:t>
            </a:r>
            <a:r>
              <a:rPr lang="en-US" altLang="zh-TW" sz="1400" dirty="0"/>
              <a:t> </a:t>
            </a:r>
            <a:r>
              <a:rPr lang="zh-TW" altLang="en-US" sz="1400" dirty="0"/>
              <a:t>遞交處理</a:t>
            </a:r>
            <a:r>
              <a:rPr lang="en-US" altLang="zh-TW" sz="1400" dirty="0" err="1"/>
              <a:t>js</a:t>
            </a:r>
            <a:r>
              <a:rPr lang="zh-TW" altLang="en-US" sz="1400" dirty="0"/>
              <a:t>函數實現</a:t>
            </a:r>
            <a:r>
              <a:rPr lang="en-US" altLang="zh-TW" sz="1400" dirty="0"/>
              <a:t>async </a:t>
            </a:r>
            <a:r>
              <a:rPr lang="zh-TW" altLang="en-US" sz="1400" dirty="0"/>
              <a:t>傳輸</a:t>
            </a:r>
            <a:endParaRPr lang="en-US" altLang="zh-TW" sz="1400" dirty="0"/>
          </a:p>
          <a:p>
            <a:r>
              <a:rPr lang="en-US" altLang="zh-TW" sz="1400" dirty="0"/>
              <a:t>6. </a:t>
            </a:r>
            <a:r>
              <a:rPr lang="en-US" altLang="zh-TW" sz="1400" dirty="0" err="1"/>
              <a:t>Csrf_token</a:t>
            </a:r>
            <a:r>
              <a:rPr lang="en-US" altLang="zh-TW" sz="1400" dirty="0"/>
              <a:t> </a:t>
            </a:r>
            <a:r>
              <a:rPr lang="zh-TW" altLang="en-US" sz="1400" dirty="0"/>
              <a:t>預防跨站請求</a:t>
            </a:r>
            <a:r>
              <a:rPr lang="zh-TW" altLang="zh-TW" sz="1400" dirty="0"/>
              <a:t>偽造攻擊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41631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B9C8D-F1D2-4328-65DF-183DC8C4A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55396C6-0100-713E-BE59-D4D8D4FC9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Django ai_chat.html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55A98EC7-42AD-0EA1-7AA9-6FED8132E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F468F42B-20E4-248A-A791-19CFD541A67E}"/>
              </a:ext>
            </a:extLst>
          </p:cNvPr>
          <p:cNvSpPr txBox="1">
            <a:spLocks/>
          </p:cNvSpPr>
          <p:nvPr/>
        </p:nvSpPr>
        <p:spPr>
          <a:xfrm>
            <a:off x="529371" y="3224716"/>
            <a:ext cx="8301310" cy="2940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2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CBAF6CC-B439-9813-F939-D9ADA3D4FD16}"/>
              </a:ext>
            </a:extLst>
          </p:cNvPr>
          <p:cNvSpPr txBox="1"/>
          <p:nvPr/>
        </p:nvSpPr>
        <p:spPr>
          <a:xfrm>
            <a:off x="6732240" y="1218818"/>
            <a:ext cx="2252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400" dirty="0"/>
              <a:t>handleFormSubmit(event)</a:t>
            </a:r>
            <a:endParaRPr lang="en-US" altLang="zh-TW" sz="1400" dirty="0"/>
          </a:p>
          <a:p>
            <a:pPr marL="342900" indent="-342900">
              <a:buAutoNum type="arabicPeriod"/>
            </a:pPr>
            <a:r>
              <a:rPr lang="en-US" altLang="zh-TW" sz="1400" dirty="0" err="1"/>
              <a:t>event.preventDefault</a:t>
            </a:r>
            <a:r>
              <a:rPr lang="en-US" altLang="zh-TW" sz="1400" dirty="0"/>
              <a:t>(); </a:t>
            </a:r>
            <a:r>
              <a:rPr lang="zh-TW" altLang="en-US" sz="1400" dirty="0"/>
              <a:t>防止網頁重新整理</a:t>
            </a:r>
            <a:endParaRPr lang="en-US" altLang="zh-TW" sz="1400" dirty="0"/>
          </a:p>
          <a:p>
            <a:pPr marL="342900" indent="-342900">
              <a:buAutoNum type="arabicPeriod"/>
            </a:pPr>
            <a:r>
              <a:rPr lang="zh-TW" altLang="en-US" sz="1400" dirty="0"/>
              <a:t>正在生成中按下按鈕就跑中斷功能</a:t>
            </a:r>
            <a:r>
              <a:rPr lang="en-US" altLang="zh-TW" sz="1400" dirty="0" err="1"/>
              <a:t>stopGeneration</a:t>
            </a:r>
            <a:endParaRPr lang="en-US" altLang="zh-TW" sz="1400" dirty="0"/>
          </a:p>
          <a:p>
            <a:pPr marL="342900" indent="-342900">
              <a:buAutoNum type="arabicPeriod"/>
            </a:pPr>
            <a:endParaRPr lang="en-US" altLang="zh-TW" sz="1400" dirty="0"/>
          </a:p>
          <a:p>
            <a:pPr marL="342900" indent="-342900">
              <a:buAutoNum type="arabicPeriod"/>
            </a:pPr>
            <a:endParaRPr lang="zh-TW" alt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1D1CAE36-6FF1-BB58-62BB-27109E61B639}"/>
                  </a:ext>
                </a:extLst>
              </p14:cNvPr>
              <p14:cNvContentPartPr/>
              <p14:nvPr/>
            </p14:nvContentPartPr>
            <p14:xfrm>
              <a:off x="3451620" y="3123900"/>
              <a:ext cx="360" cy="360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1D1CAE36-6FF1-BB58-62BB-27109E61B63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5500" y="3117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F2A113A9-076E-8954-552F-56D6F00EA4BC}"/>
                  </a:ext>
                </a:extLst>
              </p14:cNvPr>
              <p14:cNvContentPartPr/>
              <p14:nvPr/>
            </p14:nvContentPartPr>
            <p14:xfrm>
              <a:off x="2750700" y="1729620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F2A113A9-076E-8954-552F-56D6F00EA4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4580" y="17235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4D3C209B-B3A8-85BA-49AD-F9AEA344D014}"/>
                  </a:ext>
                </a:extLst>
              </p14:cNvPr>
              <p14:cNvContentPartPr/>
              <p14:nvPr/>
            </p14:nvContentPartPr>
            <p14:xfrm>
              <a:off x="3855540" y="2232540"/>
              <a:ext cx="36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4D3C209B-B3A8-85BA-49AD-F9AEA344D01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9420" y="222642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圖片 10">
            <a:extLst>
              <a:ext uri="{FF2B5EF4-FFF2-40B4-BE49-F238E27FC236}">
                <a16:creationId xmlns:a16="http://schemas.microsoft.com/office/drawing/2014/main" id="{AD040001-8D5A-E16D-0B99-192C166ABC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517" y="946485"/>
            <a:ext cx="3791479" cy="2338499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A604F5CB-A9B5-7F2B-A25F-DFFCA40480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645" y="3515899"/>
            <a:ext cx="5978595" cy="1412622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AABB6384-6422-CAF5-FFC6-F25C14261A01}"/>
              </a:ext>
            </a:extLst>
          </p:cNvPr>
          <p:cNvSpPr txBox="1"/>
          <p:nvPr/>
        </p:nvSpPr>
        <p:spPr>
          <a:xfrm>
            <a:off x="6793727" y="2760730"/>
            <a:ext cx="22521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400" dirty="0"/>
              <a:t>stopGeneration()</a:t>
            </a:r>
            <a:endParaRPr lang="en-US" altLang="zh-TW" sz="1400" dirty="0"/>
          </a:p>
          <a:p>
            <a:pPr marL="342900" indent="-342900">
              <a:buAutoNum type="arabicPeriod"/>
            </a:pPr>
            <a:r>
              <a:rPr lang="en-US" altLang="zh-TW" sz="1400" dirty="0" err="1"/>
              <a:t>abortController</a:t>
            </a:r>
            <a:r>
              <a:rPr lang="en-US" altLang="zh-TW" sz="1400" dirty="0"/>
              <a:t> </a:t>
            </a:r>
            <a:r>
              <a:rPr lang="zh-TW" altLang="en-US" sz="1400" dirty="0"/>
              <a:t>瀏覽器內建中斷連線的工具</a:t>
            </a:r>
            <a:endParaRPr lang="en-US" altLang="zh-TW" sz="1400" dirty="0"/>
          </a:p>
          <a:p>
            <a:pPr marL="342900" indent="-342900">
              <a:buAutoNum type="arabicPeriod"/>
            </a:pPr>
            <a:r>
              <a:rPr lang="en-US" altLang="zh-TW" sz="1400" dirty="0" err="1"/>
              <a:t>isUserAborted</a:t>
            </a:r>
            <a:r>
              <a:rPr lang="zh-TW" altLang="en-US" sz="1400" dirty="0"/>
              <a:t> 告訴系統是</a:t>
            </a:r>
            <a:r>
              <a:rPr lang="en-US" altLang="zh-TW" sz="1400" dirty="0"/>
              <a:t>user</a:t>
            </a:r>
            <a:r>
              <a:rPr lang="zh-TW" altLang="en-US" sz="1400" dirty="0"/>
              <a:t>自己取消的</a:t>
            </a:r>
            <a:endParaRPr lang="en-US" altLang="zh-TW" sz="1400" dirty="0"/>
          </a:p>
          <a:p>
            <a:pPr marL="342900" indent="-342900">
              <a:buAutoNum type="arabicPeriod"/>
            </a:pPr>
            <a:r>
              <a:rPr lang="zh-TW" altLang="zh-TW" sz="1400" dirty="0"/>
              <a:t>abortController.abort()</a:t>
            </a:r>
            <a:r>
              <a:rPr lang="en-US" altLang="zh-TW" sz="1400" dirty="0"/>
              <a:t>;</a:t>
            </a:r>
            <a:r>
              <a:rPr lang="zh-TW" altLang="en-US" sz="1400" dirty="0"/>
              <a:t>切開與後端</a:t>
            </a:r>
            <a:r>
              <a:rPr lang="en-US" altLang="zh-TW" sz="1400" dirty="0"/>
              <a:t>ai</a:t>
            </a:r>
            <a:r>
              <a:rPr lang="zh-TW" altLang="en-US" sz="1400" dirty="0"/>
              <a:t>伺服器的</a:t>
            </a:r>
            <a:r>
              <a:rPr lang="en-US" altLang="zh-TW" sz="1400" dirty="0"/>
              <a:t>fetch</a:t>
            </a:r>
            <a:r>
              <a:rPr lang="zh-TW" altLang="en-US" sz="1400" dirty="0"/>
              <a:t>連線跳到</a:t>
            </a:r>
            <a:r>
              <a:rPr lang="en-US" altLang="zh-TW" sz="1400" dirty="0"/>
              <a:t>catch</a:t>
            </a:r>
            <a:r>
              <a:rPr lang="zh-TW" altLang="en-US" sz="1400" dirty="0"/>
              <a:t>區塊。</a:t>
            </a:r>
            <a:endParaRPr lang="en-US" altLang="zh-TW" sz="1400" dirty="0"/>
          </a:p>
          <a:p>
            <a:pPr marL="342900" indent="-342900">
              <a:buAutoNum type="arabicPeriod"/>
            </a:pP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84514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6B02F-0781-128A-EC30-671D76961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719BC91-B074-BA3C-C4FF-139FFEB34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Django ai_chat.html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31DA4F0-EB80-E158-3C75-BA23C7A65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8337A809-BCDA-D8A9-4769-16B4D47E316D}"/>
              </a:ext>
            </a:extLst>
          </p:cNvPr>
          <p:cNvSpPr txBox="1">
            <a:spLocks/>
          </p:cNvSpPr>
          <p:nvPr/>
        </p:nvSpPr>
        <p:spPr>
          <a:xfrm>
            <a:off x="529371" y="3224716"/>
            <a:ext cx="8301310" cy="2940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2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4AF83FF-3277-880F-9B05-BDE26D011114}"/>
              </a:ext>
            </a:extLst>
          </p:cNvPr>
          <p:cNvSpPr txBox="1"/>
          <p:nvPr/>
        </p:nvSpPr>
        <p:spPr>
          <a:xfrm>
            <a:off x="6732240" y="1218818"/>
            <a:ext cx="22521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400" dirty="0"/>
              <a:t>sendMessage()</a:t>
            </a:r>
            <a:endParaRPr lang="en-US" altLang="zh-TW" sz="1400" dirty="0"/>
          </a:p>
          <a:p>
            <a:pPr marL="342900" indent="-342900">
              <a:buAutoNum type="arabicPeriod"/>
            </a:pPr>
            <a:r>
              <a:rPr lang="en-US" altLang="zh-TW" sz="1400" dirty="0" err="1"/>
              <a:t>inputElement</a:t>
            </a:r>
            <a:r>
              <a:rPr lang="zh-TW" altLang="en-US" sz="1400" dirty="0"/>
              <a:t>找到前面寫的</a:t>
            </a:r>
            <a:r>
              <a:rPr lang="en-US" altLang="zh-TW" sz="1400" dirty="0" err="1"/>
              <a:t>userInput</a:t>
            </a:r>
            <a:r>
              <a:rPr lang="zh-TW" altLang="en-US" sz="1400" dirty="0"/>
              <a:t>輸入框</a:t>
            </a:r>
            <a:endParaRPr lang="en-US" altLang="zh-TW" sz="1400" dirty="0"/>
          </a:p>
          <a:p>
            <a:pPr marL="342900" indent="-342900">
              <a:buAutoNum type="arabicPeriod"/>
            </a:pPr>
            <a:r>
              <a:rPr lang="en-US" altLang="zh-TW" sz="1400" dirty="0" err="1"/>
              <a:t>submitBtn</a:t>
            </a:r>
            <a:r>
              <a:rPr lang="zh-TW" altLang="en-US" sz="1400" dirty="0"/>
              <a:t>定義發送按鈕</a:t>
            </a:r>
            <a:endParaRPr lang="en-US" altLang="zh-TW" sz="1400" dirty="0"/>
          </a:p>
          <a:p>
            <a:pPr marL="342900" indent="-342900">
              <a:buAutoNum type="arabicPeriod"/>
            </a:pPr>
            <a:r>
              <a:rPr lang="en-US" altLang="zh-TW" sz="1400" dirty="0" err="1"/>
              <a:t>messageText</a:t>
            </a:r>
            <a:r>
              <a:rPr lang="zh-TW" altLang="en-US" sz="1400" dirty="0"/>
              <a:t>抓取裡面文字，</a:t>
            </a:r>
            <a:r>
              <a:rPr lang="en-US" altLang="zh-TW" sz="1400" dirty="0"/>
              <a:t>.trim</a:t>
            </a:r>
            <a:r>
              <a:rPr lang="zh-TW" altLang="en-US" sz="1400" dirty="0"/>
              <a:t>將多餘空白刪除</a:t>
            </a:r>
            <a:endParaRPr lang="en-US" altLang="zh-TW" sz="1400" dirty="0"/>
          </a:p>
          <a:p>
            <a:pPr marL="342900" indent="-342900">
              <a:buAutoNum type="arabicPeriod"/>
            </a:pPr>
            <a:r>
              <a:rPr lang="en-US" altLang="zh-TW" sz="1400" dirty="0" err="1"/>
              <a:t>isGenerating</a:t>
            </a:r>
            <a:r>
              <a:rPr lang="zh-TW" altLang="en-US" sz="1400" dirty="0"/>
              <a:t>切換為生成，按鈕文字改為中止，按鈕顏色呈紅色</a:t>
            </a:r>
            <a:endParaRPr lang="en-US" altLang="zh-TW" sz="1400" dirty="0"/>
          </a:p>
          <a:p>
            <a:pPr marL="342900" indent="-342900">
              <a:buAutoNum type="arabicPeriod"/>
            </a:pPr>
            <a:r>
              <a:rPr lang="zh-TW" altLang="en-US" sz="1400" dirty="0"/>
              <a:t>呼叫</a:t>
            </a:r>
            <a:r>
              <a:rPr lang="en-US" altLang="zh-TW" sz="1400" dirty="0" err="1"/>
              <a:t>appendMessage</a:t>
            </a:r>
            <a:r>
              <a:rPr lang="zh-TW" altLang="en-US" sz="1400" dirty="0"/>
              <a:t>秀出文字在畫面</a:t>
            </a:r>
            <a:endParaRPr lang="en-US" altLang="zh-TW" sz="1400" dirty="0"/>
          </a:p>
          <a:p>
            <a:pPr marL="342900" indent="-342900">
              <a:buAutoNum type="arabicPeriod"/>
            </a:pPr>
            <a:r>
              <a:rPr lang="zh-TW" altLang="en-US" sz="1400" dirty="0"/>
              <a:t>清空輸入框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DDF0F490-EB84-2EB7-6458-0D23FDB34C93}"/>
                  </a:ext>
                </a:extLst>
              </p14:cNvPr>
              <p14:cNvContentPartPr/>
              <p14:nvPr/>
            </p14:nvContentPartPr>
            <p14:xfrm>
              <a:off x="3451620" y="3123900"/>
              <a:ext cx="360" cy="360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DDF0F490-EB84-2EB7-6458-0D23FDB34C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5500" y="3117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9091BB78-331C-CBF9-6F3C-864489AF6E77}"/>
                  </a:ext>
                </a:extLst>
              </p14:cNvPr>
              <p14:cNvContentPartPr/>
              <p14:nvPr/>
            </p14:nvContentPartPr>
            <p14:xfrm>
              <a:off x="2750700" y="1729620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9091BB78-331C-CBF9-6F3C-864489AF6E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4580" y="17235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0C599051-E025-5204-E5CF-5F8FF9E44D16}"/>
                  </a:ext>
                </a:extLst>
              </p14:cNvPr>
              <p14:cNvContentPartPr/>
              <p14:nvPr/>
            </p14:nvContentPartPr>
            <p14:xfrm>
              <a:off x="3855540" y="2232540"/>
              <a:ext cx="36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0C599051-E025-5204-E5CF-5F8FF9E44D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9420" y="222642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9" name="圖片 8">
            <a:extLst>
              <a:ext uri="{FF2B5EF4-FFF2-40B4-BE49-F238E27FC236}">
                <a16:creationId xmlns:a16="http://schemas.microsoft.com/office/drawing/2014/main" id="{123EF912-5738-B9C3-7491-B480795B333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560" y="1016072"/>
            <a:ext cx="5301366" cy="342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41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E5BBA-B824-C785-7965-6349544B6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A0A0B4C9-DA63-687E-003E-E92528E40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Django ai_chat.html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63E76CF-2C87-DD23-6187-F94D7D9AE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143EE3C8-F44C-CC41-615B-7336E046AE84}"/>
              </a:ext>
            </a:extLst>
          </p:cNvPr>
          <p:cNvSpPr txBox="1">
            <a:spLocks/>
          </p:cNvSpPr>
          <p:nvPr/>
        </p:nvSpPr>
        <p:spPr>
          <a:xfrm>
            <a:off x="529371" y="3224716"/>
            <a:ext cx="8301310" cy="2940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2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E1245A37-D1CF-DC13-7E27-6B57B6F16EFD}"/>
              </a:ext>
            </a:extLst>
          </p:cNvPr>
          <p:cNvSpPr txBox="1"/>
          <p:nvPr/>
        </p:nvSpPr>
        <p:spPr>
          <a:xfrm>
            <a:off x="6714794" y="1206010"/>
            <a:ext cx="225210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sz="1400" dirty="0"/>
              <a:t>appendMessage(...)</a:t>
            </a:r>
            <a:endParaRPr lang="en-US" altLang="zh-TW" sz="1400" dirty="0"/>
          </a:p>
          <a:p>
            <a:pPr marL="342900" indent="-342900">
              <a:buAutoNum type="arabicPeriod"/>
            </a:pPr>
            <a:r>
              <a:rPr lang="zh-TW" altLang="en-US" sz="1400" dirty="0"/>
              <a:t>取得大聊天框</a:t>
            </a:r>
            <a:r>
              <a:rPr lang="en-US" altLang="zh-TW" sz="1400" dirty="0" err="1"/>
              <a:t>chatbox</a:t>
            </a:r>
            <a:r>
              <a:rPr lang="zh-TW" altLang="en-US" sz="1400" dirty="0"/>
              <a:t>，創造一個全新</a:t>
            </a:r>
            <a:r>
              <a:rPr lang="en-US" altLang="zh-TW" sz="1400" dirty="0"/>
              <a:t>div</a:t>
            </a:r>
            <a:r>
              <a:rPr lang="zh-TW" altLang="en-US" sz="1400" dirty="0"/>
              <a:t>標籤</a:t>
            </a:r>
            <a:endParaRPr lang="en-US" altLang="zh-TW" sz="1400" dirty="0"/>
          </a:p>
          <a:p>
            <a:pPr marL="342900" indent="-342900">
              <a:buAutoNum type="arabicPeriod"/>
            </a:pPr>
            <a:r>
              <a:rPr lang="zh-TW" altLang="en-US" sz="1400" dirty="0"/>
              <a:t>新對話套上</a:t>
            </a:r>
            <a:r>
              <a:rPr lang="en-US" altLang="zh-TW" sz="1400" dirty="0"/>
              <a:t>class</a:t>
            </a:r>
            <a:r>
              <a:rPr lang="zh-TW" altLang="en-US" sz="1400" dirty="0"/>
              <a:t>，將使用者打得字塞入對話框，將對話框放到大聊天框最後面。</a:t>
            </a:r>
            <a:endParaRPr lang="en-US" altLang="zh-TW" sz="1400" dirty="0"/>
          </a:p>
          <a:p>
            <a:pPr marL="342900" indent="-342900">
              <a:buAutoNum type="arabicPeriod"/>
            </a:pPr>
            <a:r>
              <a:rPr lang="zh-TW" altLang="en-US" sz="1400" dirty="0"/>
              <a:t>最後一行，強制設定</a:t>
            </a:r>
            <a:r>
              <a:rPr lang="en-US" altLang="zh-TW" sz="1400" dirty="0" err="1"/>
              <a:t>chatbox</a:t>
            </a:r>
            <a:r>
              <a:rPr lang="zh-TW" altLang="en-US" sz="1400" dirty="0"/>
              <a:t>高度，當新訊息傳入將自動彈到最下面。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DE4CB5C2-348A-581A-3877-129D35115764}"/>
                  </a:ext>
                </a:extLst>
              </p14:cNvPr>
              <p14:cNvContentPartPr/>
              <p14:nvPr/>
            </p14:nvContentPartPr>
            <p14:xfrm>
              <a:off x="3451620" y="3123900"/>
              <a:ext cx="360" cy="360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DE4CB5C2-348A-581A-3877-129D351157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5500" y="3117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2A1717E0-E1DA-D39F-750D-A9B5853B8092}"/>
                  </a:ext>
                </a:extLst>
              </p14:cNvPr>
              <p14:cNvContentPartPr/>
              <p14:nvPr/>
            </p14:nvContentPartPr>
            <p14:xfrm>
              <a:off x="2750700" y="1729620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2A1717E0-E1DA-D39F-750D-A9B5853B80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4580" y="17235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63E406DF-D8A7-8940-DAB3-929D4CF90F03}"/>
                  </a:ext>
                </a:extLst>
              </p14:cNvPr>
              <p14:cNvContentPartPr/>
              <p14:nvPr/>
            </p14:nvContentPartPr>
            <p14:xfrm>
              <a:off x="3855540" y="2232540"/>
              <a:ext cx="36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63E406DF-D8A7-8940-DAB3-929D4CF90F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9420" y="222642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圖片 9">
            <a:extLst>
              <a:ext uri="{FF2B5EF4-FFF2-40B4-BE49-F238E27FC236}">
                <a16:creationId xmlns:a16="http://schemas.microsoft.com/office/drawing/2014/main" id="{16E3EC09-3A11-B9B4-F462-B2F0457D88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640" y="1695202"/>
            <a:ext cx="5744377" cy="206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9368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78AED-98F5-122B-9705-50A2E6D44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F07F5781-E10F-E230-61A5-16DD33D10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260648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Django ai_chat.html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8023462-6BC4-00DF-27A3-01700BBFD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26EEC28A-1357-1725-317A-DE8A7C939128}"/>
              </a:ext>
            </a:extLst>
          </p:cNvPr>
          <p:cNvSpPr txBox="1">
            <a:spLocks/>
          </p:cNvSpPr>
          <p:nvPr/>
        </p:nvSpPr>
        <p:spPr>
          <a:xfrm>
            <a:off x="529371" y="3224716"/>
            <a:ext cx="8301310" cy="2940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F7D99921-4D53-7A2A-64CF-019D0DCE9D18}"/>
                  </a:ext>
                </a:extLst>
              </p14:cNvPr>
              <p14:cNvContentPartPr/>
              <p14:nvPr/>
            </p14:nvContentPartPr>
            <p14:xfrm>
              <a:off x="3451620" y="3123900"/>
              <a:ext cx="360" cy="360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F7D99921-4D53-7A2A-64CF-019D0DCE9D1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5500" y="3117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C5802853-E570-EC8B-160C-7092DE626F2B}"/>
                  </a:ext>
                </a:extLst>
              </p14:cNvPr>
              <p14:cNvContentPartPr/>
              <p14:nvPr/>
            </p14:nvContentPartPr>
            <p14:xfrm>
              <a:off x="2750700" y="1729620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C5802853-E570-EC8B-160C-7092DE626F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4580" y="17235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9B591F07-B390-46C4-4848-B4B849E34E31}"/>
                  </a:ext>
                </a:extLst>
              </p14:cNvPr>
              <p14:cNvContentPartPr/>
              <p14:nvPr/>
            </p14:nvContentPartPr>
            <p14:xfrm>
              <a:off x="3855540" y="2232540"/>
              <a:ext cx="36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9B591F07-B390-46C4-4848-B4B849E34E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9420" y="222642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06D8AF63-1A63-5F1A-52A4-22EBEC368CD8}"/>
              </a:ext>
            </a:extLst>
          </p:cNvPr>
          <p:cNvSpPr txBox="1"/>
          <p:nvPr/>
        </p:nvSpPr>
        <p:spPr>
          <a:xfrm>
            <a:off x="827584" y="1351584"/>
            <a:ext cx="78488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/>
              <a:t>計時器</a:t>
            </a:r>
            <a:r>
              <a:rPr lang="en-US" altLang="zh-TW" sz="2000" dirty="0"/>
              <a:t>:</a:t>
            </a:r>
          </a:p>
          <a:p>
            <a:r>
              <a:rPr lang="en-US" altLang="zh-TW" sz="2000" dirty="0"/>
              <a:t>1.</a:t>
            </a:r>
            <a:r>
              <a:rPr lang="zh-TW" altLang="en-US" sz="2000" dirty="0"/>
              <a:t>先將元素初始化，設定</a:t>
            </a:r>
            <a:r>
              <a:rPr lang="en-US" altLang="zh-TW" sz="2000" dirty="0" err="1"/>
              <a:t>timeInterval</a:t>
            </a:r>
            <a:r>
              <a:rPr lang="zh-TW" altLang="en-US" sz="2000" dirty="0"/>
              <a:t> 每秒跑一次更新畫面上的秒數。</a:t>
            </a:r>
            <a:endParaRPr lang="en-US" altLang="zh-TW" sz="2000" dirty="0"/>
          </a:p>
          <a:p>
            <a:r>
              <a:rPr lang="en-US" altLang="zh-TW" sz="2000" dirty="0"/>
              <a:t>2.</a:t>
            </a:r>
            <a:r>
              <a:rPr lang="zh-TW" altLang="en-US" sz="2000" dirty="0"/>
              <a:t>新增</a:t>
            </a:r>
            <a:r>
              <a:rPr lang="en-US" altLang="zh-TW" sz="2000" dirty="0" err="1"/>
              <a:t>abortController</a:t>
            </a:r>
            <a:r>
              <a:rPr lang="zh-TW" altLang="en-US" sz="2000" dirty="0"/>
              <a:t> 建立控制中斷機關並設定</a:t>
            </a:r>
            <a:r>
              <a:rPr lang="en-US" altLang="zh-TW" sz="2000" dirty="0"/>
              <a:t>signal</a:t>
            </a:r>
            <a:r>
              <a:rPr lang="zh-TW" altLang="en-US" sz="2000" dirty="0"/>
              <a:t>控制</a:t>
            </a:r>
            <a:r>
              <a:rPr lang="en-US" altLang="zh-TW" sz="2000" dirty="0"/>
              <a:t>fetch</a:t>
            </a:r>
            <a:r>
              <a:rPr lang="zh-TW" altLang="en-US" sz="2000" dirty="0"/>
              <a:t>請求，</a:t>
            </a:r>
            <a:r>
              <a:rPr lang="en-US" altLang="zh-TW" sz="2000" dirty="0"/>
              <a:t>fetch</a:t>
            </a:r>
            <a:r>
              <a:rPr lang="zh-TW" altLang="en-US" sz="2000" dirty="0"/>
              <a:t>聯絡後端傳送</a:t>
            </a:r>
            <a:r>
              <a:rPr lang="en-US" altLang="zh-TW" sz="2000" dirty="0" err="1"/>
              <a:t>header:json</a:t>
            </a:r>
            <a:r>
              <a:rPr lang="zh-TW" altLang="en-US" sz="2000" dirty="0"/>
              <a:t>格式以及</a:t>
            </a:r>
            <a:r>
              <a:rPr lang="en-US" altLang="zh-TW" sz="2000" dirty="0" err="1"/>
              <a:t>csrf_token</a:t>
            </a:r>
            <a:r>
              <a:rPr lang="zh-TW" altLang="en-US" sz="2000" dirty="0"/>
              <a:t>和</a:t>
            </a:r>
            <a:r>
              <a:rPr lang="en-US" altLang="zh-TW" sz="2000" dirty="0"/>
              <a:t>body:</a:t>
            </a:r>
            <a:r>
              <a:rPr lang="zh-TW" altLang="en-US" sz="2000" dirty="0"/>
              <a:t>利用</a:t>
            </a:r>
            <a:r>
              <a:rPr lang="en-US" altLang="zh-TW" sz="2000" dirty="0"/>
              <a:t>stringify</a:t>
            </a:r>
            <a:r>
              <a:rPr lang="zh-TW" altLang="en-US" sz="2000" dirty="0"/>
              <a:t>壓縮成</a:t>
            </a:r>
            <a:r>
              <a:rPr lang="en-US" altLang="zh-TW" sz="2000" dirty="0" err="1"/>
              <a:t>json</a:t>
            </a:r>
            <a:r>
              <a:rPr lang="zh-TW" altLang="en-US" sz="2000" dirty="0"/>
              <a:t>字串，和</a:t>
            </a:r>
            <a:r>
              <a:rPr lang="en-US" altLang="zh-TW" sz="2000" dirty="0"/>
              <a:t>signal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r>
              <a:rPr lang="en-US" altLang="zh-TW" sz="2000" dirty="0"/>
              <a:t>3.</a:t>
            </a:r>
            <a:r>
              <a:rPr lang="zh-TW" altLang="en-US" sz="2000" dirty="0"/>
              <a:t>利用</a:t>
            </a:r>
            <a:r>
              <a:rPr lang="en-US" altLang="zh-TW" sz="2000" dirty="0"/>
              <a:t>try catch finally</a:t>
            </a:r>
            <a:r>
              <a:rPr lang="zh-TW" altLang="en-US" sz="2000" dirty="0"/>
              <a:t>結構</a:t>
            </a:r>
            <a:endParaRPr lang="en-US" altLang="zh-TW" sz="2000" dirty="0"/>
          </a:p>
          <a:p>
            <a:r>
              <a:rPr lang="en-US" altLang="zh-TW" sz="2000" dirty="0"/>
              <a:t>Try: If</a:t>
            </a:r>
            <a:r>
              <a:rPr lang="zh-TW" altLang="en-US" sz="2000" dirty="0"/>
              <a:t>判斷，解析後端傳來的</a:t>
            </a:r>
            <a:r>
              <a:rPr lang="en-US" altLang="zh-TW" sz="2000" dirty="0"/>
              <a:t>ai</a:t>
            </a:r>
            <a:r>
              <a:rPr lang="zh-TW" altLang="en-US" sz="2000" dirty="0"/>
              <a:t> </a:t>
            </a:r>
            <a:r>
              <a:rPr lang="en-US" altLang="zh-TW" sz="2000" dirty="0"/>
              <a:t>response</a:t>
            </a:r>
            <a:r>
              <a:rPr lang="zh-TW" altLang="en-US" sz="2000" dirty="0"/>
              <a:t>訊息，確認</a:t>
            </a:r>
            <a:r>
              <a:rPr lang="en-US" altLang="zh-TW" sz="2000" dirty="0"/>
              <a:t>http</a:t>
            </a:r>
            <a:r>
              <a:rPr lang="zh-TW" altLang="en-US" sz="2000" dirty="0"/>
              <a:t>狀態碼是否位於</a:t>
            </a:r>
            <a:r>
              <a:rPr lang="en-US" altLang="zh-TW" sz="2000" dirty="0"/>
              <a:t>200~299</a:t>
            </a:r>
            <a:r>
              <a:rPr lang="zh-TW" altLang="en-US" sz="2000" dirty="0"/>
              <a:t>之間，</a:t>
            </a:r>
            <a:r>
              <a:rPr lang="en-US" altLang="zh-TW" sz="2000" dirty="0" err="1"/>
              <a:t>data.reply</a:t>
            </a:r>
            <a:r>
              <a:rPr lang="zh-TW" altLang="en-US" sz="2000" dirty="0"/>
              <a:t>確認裡頭是否有</a:t>
            </a:r>
            <a:r>
              <a:rPr lang="en-US" altLang="zh-TW" sz="2000" dirty="0"/>
              <a:t>ai</a:t>
            </a:r>
            <a:r>
              <a:rPr lang="zh-TW" altLang="en-US" sz="2000" dirty="0"/>
              <a:t>回答好的內容。</a:t>
            </a:r>
            <a:endParaRPr lang="en-US" altLang="zh-TW" sz="2000" dirty="0"/>
          </a:p>
          <a:p>
            <a:r>
              <a:rPr lang="en-US" altLang="zh-TW" sz="2000" dirty="0"/>
              <a:t>4.</a:t>
            </a:r>
            <a:r>
              <a:rPr lang="zh-TW" altLang="en-US" sz="2000" dirty="0"/>
              <a:t> </a:t>
            </a:r>
            <a:r>
              <a:rPr lang="en-US" altLang="zh-TW" sz="2000" dirty="0"/>
              <a:t>catch</a:t>
            </a:r>
            <a:r>
              <a:rPr lang="zh-TW" altLang="en-US" sz="2000" dirty="0"/>
              <a:t>裡頭放</a:t>
            </a:r>
            <a:r>
              <a:rPr lang="en-US" altLang="zh-TW" sz="2000" dirty="0"/>
              <a:t>if else</a:t>
            </a:r>
            <a:r>
              <a:rPr lang="zh-TW" altLang="en-US" sz="2000" dirty="0"/>
              <a:t>判斷是由使用者中止回答還是連線失敗。</a:t>
            </a:r>
            <a:endParaRPr lang="en-US" altLang="zh-TW" sz="2000" dirty="0"/>
          </a:p>
          <a:p>
            <a:r>
              <a:rPr lang="en-US" altLang="zh-TW" sz="2000" dirty="0"/>
              <a:t>5.Finally </a:t>
            </a:r>
            <a:r>
              <a:rPr lang="zh-TW" altLang="en-US" sz="2000" dirty="0"/>
              <a:t>最後強制執行</a:t>
            </a:r>
            <a:r>
              <a:rPr lang="en-US" altLang="zh-TW" sz="2000" dirty="0" err="1"/>
              <a:t>resetStatus</a:t>
            </a:r>
            <a:r>
              <a:rPr lang="zh-TW" altLang="en-US" sz="2000" dirty="0"/>
              <a:t>函式。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403121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9705A-5FB3-16F4-691B-FFD6231CE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52EC4B11-5BA6-A49A-9925-163F4B9B1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53440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Django views.py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6643F6F-7CBB-7F89-FF8E-2EA49392F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2FCA59C4-F33E-8BB2-8EA1-6812A1741CE7}"/>
              </a:ext>
            </a:extLst>
          </p:cNvPr>
          <p:cNvSpPr txBox="1">
            <a:spLocks/>
          </p:cNvSpPr>
          <p:nvPr/>
        </p:nvSpPr>
        <p:spPr>
          <a:xfrm>
            <a:off x="1475656" y="3706765"/>
            <a:ext cx="8301310" cy="2940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3D93FD07-AC93-5F70-F8C4-B5F90B37FB65}"/>
                  </a:ext>
                </a:extLst>
              </p14:cNvPr>
              <p14:cNvContentPartPr/>
              <p14:nvPr/>
            </p14:nvContentPartPr>
            <p14:xfrm>
              <a:off x="3451620" y="3123900"/>
              <a:ext cx="360" cy="360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3D93FD07-AC93-5F70-F8C4-B5F90B37FB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5500" y="3117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BF9DDA82-7DC1-A2EB-2462-21600AB8CF78}"/>
                  </a:ext>
                </a:extLst>
              </p14:cNvPr>
              <p14:cNvContentPartPr/>
              <p14:nvPr/>
            </p14:nvContentPartPr>
            <p14:xfrm>
              <a:off x="2750700" y="1729620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BF9DDA82-7DC1-A2EB-2462-21600AB8CF7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4580" y="17235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2DAB873C-434B-B639-FD6B-A7ABDD7C6F6E}"/>
                  </a:ext>
                </a:extLst>
              </p14:cNvPr>
              <p14:cNvContentPartPr/>
              <p14:nvPr/>
            </p14:nvContentPartPr>
            <p14:xfrm>
              <a:off x="3855540" y="2232540"/>
              <a:ext cx="36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2DAB873C-434B-B639-FD6B-A7ABDD7C6F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9420" y="222642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4585CB66-DEA3-2093-0359-198F278EA593}"/>
              </a:ext>
            </a:extLst>
          </p:cNvPr>
          <p:cNvSpPr txBox="1"/>
          <p:nvPr/>
        </p:nvSpPr>
        <p:spPr>
          <a:xfrm>
            <a:off x="6984464" y="768987"/>
            <a:ext cx="21602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client=genai.Client(api_key=</a:t>
            </a:r>
            <a:r>
              <a:rPr lang="en-US" altLang="zh-TW" dirty="0"/>
              <a:t>“”); “”</a:t>
            </a:r>
            <a:r>
              <a:rPr lang="zh-TW" altLang="en-US" dirty="0"/>
              <a:t>裡頭放置</a:t>
            </a:r>
            <a:r>
              <a:rPr lang="en-US" altLang="zh-TW" dirty="0" err="1"/>
              <a:t>api</a:t>
            </a:r>
            <a:r>
              <a:rPr lang="en-US" altLang="zh-TW" dirty="0"/>
              <a:t> key</a:t>
            </a:r>
          </a:p>
          <a:p>
            <a:pPr marL="342900" indent="-342900">
              <a:buAutoNum type="arabicPeriod"/>
            </a:pPr>
            <a:r>
              <a:rPr lang="zh-TW" altLang="zh-TW" dirty="0"/>
              <a:t>request.method == “POST</a:t>
            </a:r>
            <a:r>
              <a:rPr lang="en-US" altLang="zh-TW" dirty="0"/>
              <a:t>”</a:t>
            </a:r>
            <a:r>
              <a:rPr lang="zh-TW" altLang="en-US" dirty="0"/>
              <a:t>，</a:t>
            </a:r>
            <a:r>
              <a:rPr lang="en-US" altLang="zh-TW" dirty="0"/>
              <a:t>POST</a:t>
            </a:r>
            <a:r>
              <a:rPr lang="zh-TW" altLang="en-US" dirty="0"/>
              <a:t>進來才處理。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en-US" altLang="zh-TW" dirty="0"/>
              <a:t>Except </a:t>
            </a:r>
            <a:r>
              <a:rPr lang="zh-TW" altLang="en-US" dirty="0"/>
              <a:t>處理一些意外情況。</a:t>
            </a:r>
            <a:endParaRPr lang="zh-TW" altLang="zh-TW" dirty="0"/>
          </a:p>
          <a:p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F111884C-6D5F-E80B-3FB3-F120CFD10A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456" y="773571"/>
            <a:ext cx="6359837" cy="587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440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A5B92-7D74-8ED4-40CC-4AFE45325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7A90ECAC-8292-7098-EB8D-A9BBAB49C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53440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Django home.html 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1A7926F-D223-D4A1-38A1-FD3B288D2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FD7E14DA-F048-4F72-8586-86018CBD3F53}"/>
              </a:ext>
            </a:extLst>
          </p:cNvPr>
          <p:cNvSpPr txBox="1">
            <a:spLocks/>
          </p:cNvSpPr>
          <p:nvPr/>
        </p:nvSpPr>
        <p:spPr>
          <a:xfrm>
            <a:off x="1475656" y="3706765"/>
            <a:ext cx="8301310" cy="2940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E7BEADA1-A4F9-9B2C-28EA-DFC5BCB6D407}"/>
                  </a:ext>
                </a:extLst>
              </p14:cNvPr>
              <p14:cNvContentPartPr/>
              <p14:nvPr/>
            </p14:nvContentPartPr>
            <p14:xfrm>
              <a:off x="3451620" y="3123900"/>
              <a:ext cx="360" cy="360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E7BEADA1-A4F9-9B2C-28EA-DFC5BCB6D40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5500" y="3117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EF3F791C-B8E9-C3C6-7630-57803317A94A}"/>
                  </a:ext>
                </a:extLst>
              </p14:cNvPr>
              <p14:cNvContentPartPr/>
              <p14:nvPr/>
            </p14:nvContentPartPr>
            <p14:xfrm>
              <a:off x="2750700" y="1729620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EF3F791C-B8E9-C3C6-7630-57803317A9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4580" y="17235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01F291FF-541F-8E2E-72F1-881AE0F21F94}"/>
                  </a:ext>
                </a:extLst>
              </p14:cNvPr>
              <p14:cNvContentPartPr/>
              <p14:nvPr/>
            </p14:nvContentPartPr>
            <p14:xfrm>
              <a:off x="3855540" y="2232540"/>
              <a:ext cx="36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01F291FF-541F-8E2E-72F1-881AE0F21F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9420" y="222642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12630B24-0264-7B7E-D8E0-D4CF014AFA25}"/>
              </a:ext>
            </a:extLst>
          </p:cNvPr>
          <p:cNvSpPr txBox="1"/>
          <p:nvPr/>
        </p:nvSpPr>
        <p:spPr>
          <a:xfrm>
            <a:off x="683567" y="716598"/>
            <a:ext cx="76182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建立類 </a:t>
            </a:r>
            <a:r>
              <a:rPr lang="en-US" altLang="zh-TW" dirty="0" err="1"/>
              <a:t>jupyer</a:t>
            </a:r>
            <a:r>
              <a:rPr lang="en-US" altLang="zh-TW" dirty="0"/>
              <a:t> notebook</a:t>
            </a:r>
            <a:r>
              <a:rPr lang="zh-TW" altLang="en-US" dirty="0"/>
              <a:t>使用技術</a:t>
            </a:r>
            <a:endParaRPr lang="en-US" altLang="zh-TW" dirty="0"/>
          </a:p>
          <a:p>
            <a:pPr marL="342900" indent="-342900">
              <a:buAutoNum type="arabicPeriod"/>
            </a:pPr>
            <a:r>
              <a:rPr lang="zh-TW" altLang="zh-TW" dirty="0"/>
              <a:t>CodeMirror 5</a:t>
            </a:r>
            <a:endParaRPr lang="en-US" altLang="zh-TW" dirty="0"/>
          </a:p>
          <a:p>
            <a:r>
              <a:rPr lang="zh-TW" altLang="zh-TW" dirty="0"/>
              <a:t>程式碼編輯器函式庫，提供語法高亮、行號、自動補括號等功能。動態從 CDN 載入，</a:t>
            </a:r>
            <a:r>
              <a:rPr lang="en-US" altLang="zh-TW" dirty="0"/>
              <a:t> </a:t>
            </a:r>
            <a:endParaRPr lang="zh-TW" altLang="en-US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A99A4CCE-6875-CDBA-040A-D2335E50E2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576" y="1930730"/>
            <a:ext cx="7200800" cy="2067053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15CB294A-B95D-C9FA-0B69-670A3F8E14AD}"/>
              </a:ext>
            </a:extLst>
          </p:cNvPr>
          <p:cNvSpPr txBox="1"/>
          <p:nvPr/>
        </p:nvSpPr>
        <p:spPr>
          <a:xfrm>
            <a:off x="755576" y="4149080"/>
            <a:ext cx="63489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2. </a:t>
            </a:r>
            <a:r>
              <a:rPr lang="zh-TW" altLang="zh-TW" dirty="0"/>
              <a:t>Pyodide</a:t>
            </a:r>
            <a:endParaRPr lang="en-US" altLang="zh-TW" dirty="0"/>
          </a:p>
          <a:p>
            <a:r>
              <a:rPr lang="zh-TW" altLang="en-US" dirty="0"/>
              <a:t>瀏覽器執行</a:t>
            </a:r>
            <a:r>
              <a:rPr lang="en-US" altLang="zh-TW" dirty="0"/>
              <a:t>python</a:t>
            </a:r>
            <a:r>
              <a:rPr lang="zh-TW" altLang="en-US" dirty="0"/>
              <a:t>程式的一種技術，使用者可以直接在瀏覽器執行程式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8926F5E5-D6E9-43A7-D846-DEA0970B1E74}"/>
              </a:ext>
            </a:extLst>
          </p:cNvPr>
          <p:cNvSpPr txBox="1"/>
          <p:nvPr/>
        </p:nvSpPr>
        <p:spPr>
          <a:xfrm>
            <a:off x="742360" y="5252848"/>
            <a:ext cx="4536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3. .</a:t>
            </a:r>
            <a:r>
              <a:rPr lang="en-US" altLang="zh-TW" dirty="0" err="1"/>
              <a:t>ipynb</a:t>
            </a:r>
            <a:r>
              <a:rPr lang="zh-TW" altLang="en-US" dirty="0"/>
              <a:t>組裝</a:t>
            </a:r>
            <a:endParaRPr lang="en-US" altLang="zh-TW" dirty="0"/>
          </a:p>
          <a:p>
            <a:r>
              <a:rPr lang="zh-TW" altLang="en-US" dirty="0"/>
              <a:t>前端利用</a:t>
            </a:r>
            <a:r>
              <a:rPr lang="zh-TW" altLang="zh-TW" dirty="0"/>
              <a:t>JavaScript </a:t>
            </a:r>
            <a:r>
              <a:rPr lang="zh-TW" altLang="en-US" dirty="0"/>
              <a:t>組成符合規格的樣式</a:t>
            </a:r>
          </a:p>
        </p:txBody>
      </p:sp>
    </p:spTree>
    <p:extLst>
      <p:ext uri="{BB962C8B-B14F-4D97-AF65-F5344CB8AC3E}">
        <p14:creationId xmlns:p14="http://schemas.microsoft.com/office/powerpoint/2010/main" val="1337317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90361-9279-81D1-2F72-82970B70A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5609975C-7D45-9712-F04C-5F8D56F49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53440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Django home.html 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5A8216E-9AC4-D081-D8C8-6F7E9FAA3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DF54BEFC-418F-DE37-EE8F-8334391A6BC1}"/>
              </a:ext>
            </a:extLst>
          </p:cNvPr>
          <p:cNvSpPr txBox="1">
            <a:spLocks/>
          </p:cNvSpPr>
          <p:nvPr/>
        </p:nvSpPr>
        <p:spPr>
          <a:xfrm>
            <a:off x="1475656" y="3706765"/>
            <a:ext cx="8301310" cy="2940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03D1A1E6-FDC6-60DF-0EA1-B2377275F7C3}"/>
                  </a:ext>
                </a:extLst>
              </p14:cNvPr>
              <p14:cNvContentPartPr/>
              <p14:nvPr/>
            </p14:nvContentPartPr>
            <p14:xfrm>
              <a:off x="3451620" y="3123900"/>
              <a:ext cx="360" cy="360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03D1A1E6-FDC6-60DF-0EA1-B2377275F7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5500" y="3117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6042B4D7-3C29-6E8A-7A43-018131F0F55F}"/>
                  </a:ext>
                </a:extLst>
              </p14:cNvPr>
              <p14:cNvContentPartPr/>
              <p14:nvPr/>
            </p14:nvContentPartPr>
            <p14:xfrm>
              <a:off x="2750700" y="1729620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6042B4D7-3C29-6E8A-7A43-018131F0F5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4580" y="17235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C0546144-DC0F-C234-F089-FBDB00F646A0}"/>
                  </a:ext>
                </a:extLst>
              </p14:cNvPr>
              <p14:cNvContentPartPr/>
              <p14:nvPr/>
            </p14:nvContentPartPr>
            <p14:xfrm>
              <a:off x="3855540" y="2232540"/>
              <a:ext cx="36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C0546144-DC0F-C234-F089-FBDB00F646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9420" y="222642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2C5638A7-C569-0D46-2D3C-E46614C4047C}"/>
              </a:ext>
            </a:extLst>
          </p:cNvPr>
          <p:cNvSpPr txBox="1"/>
          <p:nvPr/>
        </p:nvSpPr>
        <p:spPr>
          <a:xfrm>
            <a:off x="827584" y="679530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/>
              <a:t>Js</a:t>
            </a:r>
            <a:r>
              <a:rPr lang="zh-TW" altLang="en-US" dirty="0"/>
              <a:t>格式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4F5DD321-CCB0-788D-AAEA-182ED253C7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568" y="1124051"/>
            <a:ext cx="5248171" cy="235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335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E6CF9-1A50-51E6-E51E-5ABA2EC08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FB798E6A-D863-BB30-6A26-2E371D6B2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53440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Django home.html 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4C01B38-313A-D857-3901-593827BB8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7A752930-9424-6858-EFF3-2AF50C80E1F3}"/>
              </a:ext>
            </a:extLst>
          </p:cNvPr>
          <p:cNvSpPr txBox="1">
            <a:spLocks/>
          </p:cNvSpPr>
          <p:nvPr/>
        </p:nvSpPr>
        <p:spPr>
          <a:xfrm>
            <a:off x="1475656" y="3706765"/>
            <a:ext cx="8301310" cy="2940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34E54D10-F4FF-BF46-DAE5-FB821C9FF757}"/>
                  </a:ext>
                </a:extLst>
              </p14:cNvPr>
              <p14:cNvContentPartPr/>
              <p14:nvPr/>
            </p14:nvContentPartPr>
            <p14:xfrm>
              <a:off x="3451620" y="3123900"/>
              <a:ext cx="360" cy="360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34E54D10-F4FF-BF46-DAE5-FB821C9FF7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5500" y="3117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3A328B44-A49B-E257-81B6-96ECCAFD3436}"/>
                  </a:ext>
                </a:extLst>
              </p14:cNvPr>
              <p14:cNvContentPartPr/>
              <p14:nvPr/>
            </p14:nvContentPartPr>
            <p14:xfrm>
              <a:off x="2750700" y="1729620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3A328B44-A49B-E257-81B6-96ECCAFD343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4580" y="17235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D74DE6D9-D7D6-D5B2-3D0E-0EF1E50D40B1}"/>
                  </a:ext>
                </a:extLst>
              </p14:cNvPr>
              <p14:cNvContentPartPr/>
              <p14:nvPr/>
            </p14:nvContentPartPr>
            <p14:xfrm>
              <a:off x="3855540" y="2232540"/>
              <a:ext cx="36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D74DE6D9-D7D6-D5B2-3D0E-0EF1E50D40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9420" y="222642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圖片 10">
            <a:extLst>
              <a:ext uri="{FF2B5EF4-FFF2-40B4-BE49-F238E27FC236}">
                <a16:creationId xmlns:a16="http://schemas.microsoft.com/office/drawing/2014/main" id="{F53A9C76-0F5E-6610-711E-9D32971E94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771" y="720880"/>
            <a:ext cx="8301310" cy="3669867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6AB50F40-E957-001C-3B1F-E639134B5FDB}"/>
              </a:ext>
            </a:extLst>
          </p:cNvPr>
          <p:cNvSpPr txBox="1"/>
          <p:nvPr/>
        </p:nvSpPr>
        <p:spPr>
          <a:xfrm>
            <a:off x="579696" y="4497333"/>
            <a:ext cx="8456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功能確保</a:t>
            </a:r>
            <a:r>
              <a:rPr lang="en-US" altLang="zh-TW" dirty="0" err="1"/>
              <a:t>Pyodide</a:t>
            </a:r>
            <a:r>
              <a:rPr lang="zh-TW" altLang="en-US" dirty="0"/>
              <a:t>只被載入一次，</a:t>
            </a:r>
            <a:r>
              <a:rPr lang="zh-TW" altLang="zh-TW" dirty="0"/>
              <a:t>避免重複初始化浪費時間。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使用非同步避免，網頁載入這個導致卡住</a:t>
            </a:r>
            <a:endParaRPr lang="en-US" altLang="zh-TW" dirty="0"/>
          </a:p>
          <a:p>
            <a:r>
              <a:rPr lang="en-US" altLang="zh-TW" dirty="0"/>
              <a:t>3. Await new Promise(…):</a:t>
            </a:r>
            <a:r>
              <a:rPr lang="zh-TW" altLang="en-US" dirty="0"/>
              <a:t>檢查 </a:t>
            </a:r>
            <a:r>
              <a:rPr lang="en-US" altLang="zh-TW" dirty="0" err="1"/>
              <a:t>loadPyodide</a:t>
            </a:r>
            <a:r>
              <a:rPr lang="en-US" altLang="zh-TW" dirty="0"/>
              <a:t> </a:t>
            </a:r>
            <a:r>
              <a:rPr lang="zh-TW" altLang="en-US" dirty="0"/>
              <a:t>函數是否已存在於瀏覽器。若不存在，就動態建立一個 </a:t>
            </a:r>
            <a:r>
              <a:rPr lang="en-US" altLang="zh-TW" dirty="0"/>
              <a:t>&lt;script&gt; </a:t>
            </a:r>
            <a:r>
              <a:rPr lang="zh-TW" altLang="en-US" dirty="0"/>
              <a:t>標籤，從</a:t>
            </a:r>
            <a:r>
              <a:rPr lang="en-US" altLang="zh-TW" dirty="0"/>
              <a:t>CDN</a:t>
            </a:r>
            <a:r>
              <a:rPr lang="zh-TW" altLang="en-US" dirty="0"/>
              <a:t>下載</a:t>
            </a:r>
            <a:r>
              <a:rPr lang="en-US" altLang="zh-TW" dirty="0" err="1"/>
              <a:t>Pyodide</a:t>
            </a:r>
            <a:r>
              <a:rPr lang="zh-TW" altLang="en-US" dirty="0"/>
              <a:t>的主程式，等下載完成才繼續執行</a:t>
            </a:r>
            <a:endParaRPr lang="en-US" altLang="zh-TW" dirty="0"/>
          </a:p>
          <a:p>
            <a:r>
              <a:rPr lang="en-US" altLang="zh-TW" dirty="0"/>
              <a:t>4.LoadPyodide </a:t>
            </a:r>
            <a:r>
              <a:rPr lang="zh-TW" altLang="en-US" dirty="0"/>
              <a:t>啟動</a:t>
            </a:r>
            <a:r>
              <a:rPr lang="en-US" altLang="zh-TW" dirty="0" err="1"/>
              <a:t>pyodide</a:t>
            </a:r>
            <a:r>
              <a:rPr lang="en-US" altLang="zh-TW" dirty="0"/>
              <a:t> </a:t>
            </a:r>
            <a:r>
              <a:rPr lang="zh-TW" altLang="en-US" dirty="0"/>
              <a:t>告訴她去哪裡下載套件</a:t>
            </a:r>
            <a:endParaRPr lang="en-US" altLang="zh-TW" dirty="0"/>
          </a:p>
          <a:p>
            <a:r>
              <a:rPr lang="en-US" altLang="zh-TW" dirty="0"/>
              <a:t>5.</a:t>
            </a:r>
            <a:r>
              <a:rPr lang="zh-TW" altLang="en-US" dirty="0"/>
              <a:t>標記初始化，</a:t>
            </a:r>
            <a:r>
              <a:rPr lang="en-US" altLang="zh-TW" dirty="0"/>
              <a:t>if(</a:t>
            </a:r>
            <a:r>
              <a:rPr lang="en-US" altLang="zh-TW" dirty="0" err="1"/>
              <a:t>el</a:t>
            </a:r>
            <a:r>
              <a:rPr lang="en-US" altLang="zh-TW" dirty="0"/>
              <a:t>)</a:t>
            </a:r>
            <a:r>
              <a:rPr lang="zh-TW" altLang="en-US" dirty="0"/>
              <a:t>適用來防呆</a:t>
            </a:r>
            <a:r>
              <a:rPr lang="zh-TW" altLang="zh-TW" dirty="0"/>
              <a:t>避免使用者已切換到其他tab導致元素不存在而報錯。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739669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492E8-FC1D-1618-280F-BA435BC74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83B5105B-2A35-98CF-20B6-49EC7259F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53440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Django home.html 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68A3B272-B9B0-979D-9045-AE03F09D3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9484C5EA-756F-D8CE-E101-D097963101A4}"/>
              </a:ext>
            </a:extLst>
          </p:cNvPr>
          <p:cNvSpPr txBox="1">
            <a:spLocks/>
          </p:cNvSpPr>
          <p:nvPr/>
        </p:nvSpPr>
        <p:spPr>
          <a:xfrm>
            <a:off x="1475656" y="3706765"/>
            <a:ext cx="8301310" cy="2940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97CEF8D2-5189-8378-A0F6-D7876DA9BF3B}"/>
                  </a:ext>
                </a:extLst>
              </p14:cNvPr>
              <p14:cNvContentPartPr/>
              <p14:nvPr/>
            </p14:nvContentPartPr>
            <p14:xfrm>
              <a:off x="3451620" y="3123900"/>
              <a:ext cx="360" cy="360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97CEF8D2-5189-8378-A0F6-D7876DA9BF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5500" y="3117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F18F2C71-EFDC-48E5-6061-B522C0010704}"/>
                  </a:ext>
                </a:extLst>
              </p14:cNvPr>
              <p14:cNvContentPartPr/>
              <p14:nvPr/>
            </p14:nvContentPartPr>
            <p14:xfrm>
              <a:off x="2750700" y="1729620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F18F2C71-EFDC-48E5-6061-B522C001070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4580" y="17235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41D9F55B-1AA6-2DE8-AA7F-44C854C36CD4}"/>
                  </a:ext>
                </a:extLst>
              </p14:cNvPr>
              <p14:cNvContentPartPr/>
              <p14:nvPr/>
            </p14:nvContentPartPr>
            <p14:xfrm>
              <a:off x="3855540" y="2232540"/>
              <a:ext cx="36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41D9F55B-1AA6-2DE8-AA7F-44C854C36C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9420" y="222642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0ACB95DD-E9EE-C3EB-6E3A-ACD7936577CF}"/>
              </a:ext>
            </a:extLst>
          </p:cNvPr>
          <p:cNvSpPr txBox="1"/>
          <p:nvPr/>
        </p:nvSpPr>
        <p:spPr>
          <a:xfrm>
            <a:off x="579696" y="4765411"/>
            <a:ext cx="85643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功能 動態新增一個</a:t>
            </a:r>
            <a:r>
              <a:rPr lang="en-US" altLang="zh-TW" dirty="0"/>
              <a:t>cell</a:t>
            </a:r>
            <a:r>
              <a:rPr lang="zh-TW" altLang="en-US" dirty="0"/>
              <a:t>，接受預設程式碼沒有就預設空字串。</a:t>
            </a:r>
            <a:endParaRPr lang="en-US" altLang="zh-TW" dirty="0"/>
          </a:p>
          <a:p>
            <a:r>
              <a:rPr lang="en-US" altLang="zh-TW" dirty="0"/>
              <a:t>2. </a:t>
            </a:r>
            <a:r>
              <a:rPr lang="en-US" altLang="zh-TW" dirty="0" err="1"/>
              <a:t>cellSeq</a:t>
            </a:r>
            <a:r>
              <a:rPr lang="en-US" altLang="zh-TW" dirty="0"/>
              <a:t>++:</a:t>
            </a:r>
            <a:r>
              <a:rPr lang="zh-TW" altLang="zh-TW" dirty="0"/>
              <a:t>每新增一個 Cell 就把序號加一，產生唯一的 i</a:t>
            </a:r>
            <a:r>
              <a:rPr lang="en-US" altLang="zh-TW" dirty="0"/>
              <a:t>d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zh-TW" dirty="0"/>
              <a:t>用 JavaScript 在記憶體中建立一個 &lt;div&gt;，設定 CSS class 和 data 屬性，此時還沒有出現在畫面上。</a:t>
            </a:r>
            <a:endParaRPr lang="en-US" altLang="zh-TW" dirty="0"/>
          </a:p>
          <a:p>
            <a:endParaRPr lang="en-US" altLang="zh-TW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B5C4DC3-BEB0-8089-20BA-242A209895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564" y="696885"/>
            <a:ext cx="7848872" cy="380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079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B7138-6A17-C8E5-BE6A-0E6DCA00E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76ED075B-06FD-9EBF-499C-7D296FEC4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53440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Django home.html 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38CD601-D7CD-BD48-45CA-3050E21B4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556E9161-D5DA-DE34-65E6-FEE56AE73E05}"/>
              </a:ext>
            </a:extLst>
          </p:cNvPr>
          <p:cNvSpPr txBox="1">
            <a:spLocks/>
          </p:cNvSpPr>
          <p:nvPr/>
        </p:nvSpPr>
        <p:spPr>
          <a:xfrm>
            <a:off x="1475656" y="3706765"/>
            <a:ext cx="8301310" cy="2940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EBC29D4E-5BF7-C1C0-B0CD-D30D3BF4CAEA}"/>
                  </a:ext>
                </a:extLst>
              </p14:cNvPr>
              <p14:cNvContentPartPr/>
              <p14:nvPr/>
            </p14:nvContentPartPr>
            <p14:xfrm>
              <a:off x="3451620" y="3123900"/>
              <a:ext cx="360" cy="360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EBC29D4E-5BF7-C1C0-B0CD-D30D3BF4CA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5500" y="3117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ECDCC123-67E0-7CA1-67AB-15D2AC45F405}"/>
                  </a:ext>
                </a:extLst>
              </p14:cNvPr>
              <p14:cNvContentPartPr/>
              <p14:nvPr/>
            </p14:nvContentPartPr>
            <p14:xfrm>
              <a:off x="2750700" y="1729620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ECDCC123-67E0-7CA1-67AB-15D2AC45F40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4580" y="17235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797B64C4-5EB7-C7D6-D5BA-715C253FE899}"/>
                  </a:ext>
                </a:extLst>
              </p14:cNvPr>
              <p14:cNvContentPartPr/>
              <p14:nvPr/>
            </p14:nvContentPartPr>
            <p14:xfrm>
              <a:off x="3855540" y="2232540"/>
              <a:ext cx="36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797B64C4-5EB7-C7D6-D5BA-715C253FE8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9420" y="222642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E4151411-8BB8-CB5E-0952-E86307AB917B}"/>
              </a:ext>
            </a:extLst>
          </p:cNvPr>
          <p:cNvSpPr txBox="1"/>
          <p:nvPr/>
        </p:nvSpPr>
        <p:spPr>
          <a:xfrm>
            <a:off x="579696" y="4765411"/>
            <a:ext cx="85643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4.</a:t>
            </a:r>
            <a:r>
              <a:rPr lang="zh-TW" altLang="zh-TW" dirty="0"/>
              <a:t>用 template literal 一次塞入整個 Cell的 HTML 結構，分為三個區域：</a:t>
            </a:r>
            <a:endParaRPr lang="en-US" altLang="zh-TW" dirty="0"/>
          </a:p>
          <a:p>
            <a:r>
              <a:rPr lang="zh-TW" altLang="zh-TW" dirty="0"/>
              <a:t>左側欄nb-cell-gutter</a:t>
            </a:r>
            <a:r>
              <a:rPr lang="zh-TW" altLang="en-US" dirty="0"/>
              <a:t>，</a:t>
            </a:r>
            <a:r>
              <a:rPr lang="zh-TW" altLang="zh-TW" dirty="0"/>
              <a:t>主體nb-cell-body</a:t>
            </a:r>
            <a:r>
              <a:rPr lang="zh-TW" altLang="en-US" dirty="0"/>
              <a:t>，</a:t>
            </a:r>
            <a:r>
              <a:rPr lang="zh-TW" altLang="zh-TW" dirty="0"/>
              <a:t>右上角nb-del-btn</a:t>
            </a:r>
            <a:r>
              <a:rPr lang="zh-TW" altLang="en-US" dirty="0"/>
              <a:t>。</a:t>
            </a:r>
            <a:endParaRPr lang="en-US" altLang="zh-TW" dirty="0"/>
          </a:p>
          <a:p>
            <a:r>
              <a:rPr lang="en-US" altLang="zh-TW" dirty="0"/>
              <a:t>5. </a:t>
            </a:r>
            <a:r>
              <a:rPr lang="zh-TW" altLang="zh-TW" dirty="0"/>
              <a:t>document.getElementById("nbCells").appendChild(cellEl);</a:t>
            </a:r>
            <a:endParaRPr lang="en-US" altLang="zh-TW" dirty="0"/>
          </a:p>
          <a:p>
            <a:r>
              <a:rPr lang="zh-TW" altLang="zh-TW" dirty="0"/>
              <a:t>把剛建立好的Cell插入到畫面上的nbCells 容器裡，使用者才看得到。</a:t>
            </a:r>
            <a:endParaRPr lang="en-US" altLang="zh-TW" dirty="0"/>
          </a:p>
          <a:p>
            <a:endParaRPr lang="en-US" altLang="zh-TW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DE7F71F-3A7D-176D-255E-252CB280BE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564" y="696885"/>
            <a:ext cx="7848872" cy="380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431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8CD37-5C3C-1ACA-843B-C86801B7D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21F96B10-A741-5B0E-2A7A-00D286F4A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53440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Django home.html 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C7FDD43-8825-E7A4-67B3-7FA670AD4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5D6610A6-D40C-7A5F-A084-C6BB5AF8D9C6}"/>
              </a:ext>
            </a:extLst>
          </p:cNvPr>
          <p:cNvSpPr txBox="1">
            <a:spLocks/>
          </p:cNvSpPr>
          <p:nvPr/>
        </p:nvSpPr>
        <p:spPr>
          <a:xfrm>
            <a:off x="1475656" y="3706765"/>
            <a:ext cx="8301310" cy="2940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515D1966-BE84-4F46-81F7-BD94F0FD7C8A}"/>
                  </a:ext>
                </a:extLst>
              </p14:cNvPr>
              <p14:cNvContentPartPr/>
              <p14:nvPr/>
            </p14:nvContentPartPr>
            <p14:xfrm>
              <a:off x="3451620" y="3123900"/>
              <a:ext cx="360" cy="360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515D1966-BE84-4F46-81F7-BD94F0FD7C8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5500" y="3117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618FE861-3C8D-3BB2-4DD1-A285FA7522A2}"/>
                  </a:ext>
                </a:extLst>
              </p14:cNvPr>
              <p14:cNvContentPartPr/>
              <p14:nvPr/>
            </p14:nvContentPartPr>
            <p14:xfrm>
              <a:off x="2750700" y="1729620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618FE861-3C8D-3BB2-4DD1-A285FA7522A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4580" y="17235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3955945A-44D5-29B4-3946-7F00BDFAF4FB}"/>
                  </a:ext>
                </a:extLst>
              </p14:cNvPr>
              <p14:cNvContentPartPr/>
              <p14:nvPr/>
            </p14:nvContentPartPr>
            <p14:xfrm>
              <a:off x="3855540" y="2232540"/>
              <a:ext cx="36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3955945A-44D5-29B4-3946-7F00BDFAF4F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9420" y="222642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圖片 9">
            <a:extLst>
              <a:ext uri="{FF2B5EF4-FFF2-40B4-BE49-F238E27FC236}">
                <a16:creationId xmlns:a16="http://schemas.microsoft.com/office/drawing/2014/main" id="{057EA6E6-0E58-18EC-173C-6BF1EAB351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216" y="697216"/>
            <a:ext cx="8099319" cy="3955919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AE3F8579-0AB2-D84D-D0F6-C495EA6942D7}"/>
              </a:ext>
            </a:extLst>
          </p:cNvPr>
          <p:cNvSpPr txBox="1"/>
          <p:nvPr/>
        </p:nvSpPr>
        <p:spPr>
          <a:xfrm>
            <a:off x="709216" y="4770595"/>
            <a:ext cx="80993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功能 把 </a:t>
            </a:r>
            <a:r>
              <a:rPr lang="en-US" altLang="zh-TW" dirty="0" err="1"/>
              <a:t>CodeMirror</a:t>
            </a:r>
            <a:r>
              <a:rPr lang="en-US" altLang="zh-TW" dirty="0"/>
              <a:t> </a:t>
            </a:r>
            <a:r>
              <a:rPr lang="zh-TW" altLang="en-US" dirty="0"/>
              <a:t>編輯器嵌入剛建立的</a:t>
            </a:r>
            <a:r>
              <a:rPr lang="en-US" altLang="zh-TW" dirty="0"/>
              <a:t>Cell</a:t>
            </a:r>
            <a:r>
              <a:rPr lang="zh-TW" altLang="en-US" dirty="0"/>
              <a:t>裡，並處理</a:t>
            </a:r>
            <a:r>
              <a:rPr lang="en-US" altLang="zh-TW" dirty="0"/>
              <a:t>Cell</a:t>
            </a:r>
            <a:r>
              <a:rPr lang="zh-TW" altLang="en-US" dirty="0"/>
              <a:t>的互動行為。</a:t>
            </a:r>
            <a:endParaRPr lang="en-US" altLang="zh-TW" dirty="0"/>
          </a:p>
          <a:p>
            <a:r>
              <a:rPr lang="en-US" altLang="zh-TW" dirty="0"/>
              <a:t>2.Editor </a:t>
            </a:r>
            <a:r>
              <a:rPr lang="zh-TW" altLang="zh-TW" dirty="0"/>
              <a:t>把CodeMirror編輯器插入到 editor-${id} 這個空 div 裡，設定各種編輯器行為。</a:t>
            </a:r>
            <a:r>
              <a:rPr lang="en-US" altLang="zh-TW" dirty="0" err="1"/>
              <a:t>extraKeys</a:t>
            </a:r>
            <a:r>
              <a:rPr lang="zh-TW" altLang="en-US" dirty="0"/>
              <a:t>快捷鍵設定如</a:t>
            </a:r>
            <a:r>
              <a:rPr lang="en-US" altLang="zh-TW" dirty="0"/>
              <a:t>tab</a:t>
            </a:r>
            <a:r>
              <a:rPr lang="zh-TW" altLang="en-US" dirty="0"/>
              <a:t>縮排</a:t>
            </a:r>
            <a:r>
              <a:rPr lang="en-US" altLang="zh-TW" dirty="0"/>
              <a:t>shift-enter</a:t>
            </a:r>
            <a:r>
              <a:rPr lang="zh-TW" altLang="en-US" dirty="0"/>
              <a:t>執行</a:t>
            </a:r>
            <a:r>
              <a:rPr lang="en-US" altLang="zh-TW" dirty="0"/>
              <a:t>cell</a:t>
            </a:r>
            <a:r>
              <a:rPr lang="zh-TW" altLang="en-US" dirty="0"/>
              <a:t>等等。</a:t>
            </a:r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當使用者點進某個 </a:t>
            </a:r>
            <a:r>
              <a:rPr lang="en-US" altLang="zh-TW" dirty="0"/>
              <a:t>Cell </a:t>
            </a:r>
            <a:r>
              <a:rPr lang="zh-TW" altLang="en-US" dirty="0"/>
              <a:t>時，先把所有 </a:t>
            </a:r>
            <a:r>
              <a:rPr lang="en-US" altLang="zh-TW" dirty="0"/>
              <a:t>Cell </a:t>
            </a:r>
            <a:r>
              <a:rPr lang="zh-TW" altLang="en-US" dirty="0"/>
              <a:t>的藍色左邊框移除，再只對目前這個 </a:t>
            </a:r>
            <a:r>
              <a:rPr lang="en-US" altLang="zh-TW" dirty="0"/>
              <a:t>Cell </a:t>
            </a:r>
            <a:r>
              <a:rPr lang="zh-TW" altLang="en-US" dirty="0"/>
              <a:t>加上藍色左邊框，視覺上標示目前在編輯哪一格。</a:t>
            </a:r>
            <a:endParaRPr lang="en-US" altLang="zh-TW" dirty="0"/>
          </a:p>
          <a:p>
            <a:r>
              <a:rPr lang="en-US" altLang="zh-TW" dirty="0"/>
              <a:t>4.</a:t>
            </a:r>
            <a:r>
              <a:rPr lang="zh-TW" altLang="en-US" dirty="0"/>
              <a:t>把</a:t>
            </a:r>
            <a:r>
              <a:rPr lang="en-US" altLang="zh-TW" dirty="0"/>
              <a:t>cell</a:t>
            </a:r>
            <a:r>
              <a:rPr lang="zh-TW" altLang="en-US" dirty="0"/>
              <a:t>四大元素存入</a:t>
            </a:r>
            <a:r>
              <a:rPr lang="en-US" altLang="zh-TW" dirty="0"/>
              <a:t>map</a:t>
            </a:r>
            <a:r>
              <a:rPr lang="zh-TW" altLang="en-US" dirty="0"/>
              <a:t>裡，可以使用執行或提交可用</a:t>
            </a:r>
            <a:r>
              <a:rPr lang="en-US" altLang="zh-TW" dirty="0"/>
              <a:t>id</a:t>
            </a:r>
            <a:r>
              <a:rPr lang="zh-TW" altLang="en-US" dirty="0"/>
              <a:t>取出。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350154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90AC5-2F59-6152-3078-EAD670720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AD00CAED-2B37-9C94-F57A-E769F9612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53440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Django home.html 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48929B0-7C37-3EAF-0DDF-387BD314F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61023F54-0D31-716D-4968-14E717487F9A}"/>
              </a:ext>
            </a:extLst>
          </p:cNvPr>
          <p:cNvSpPr txBox="1">
            <a:spLocks/>
          </p:cNvSpPr>
          <p:nvPr/>
        </p:nvSpPr>
        <p:spPr>
          <a:xfrm>
            <a:off x="1475656" y="3706765"/>
            <a:ext cx="8301310" cy="2940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1BF77075-ACE5-C21A-ABF3-33A063214B83}"/>
                  </a:ext>
                </a:extLst>
              </p14:cNvPr>
              <p14:cNvContentPartPr/>
              <p14:nvPr/>
            </p14:nvContentPartPr>
            <p14:xfrm>
              <a:off x="3451620" y="3123900"/>
              <a:ext cx="360" cy="360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1BF77075-ACE5-C21A-ABF3-33A063214B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5500" y="3117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032F6ADD-F6F0-681A-3A6B-D95B19C7BB3A}"/>
                  </a:ext>
                </a:extLst>
              </p14:cNvPr>
              <p14:cNvContentPartPr/>
              <p14:nvPr/>
            </p14:nvContentPartPr>
            <p14:xfrm>
              <a:off x="2750700" y="1729620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032F6ADD-F6F0-681A-3A6B-D95B19C7BB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4580" y="17235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8C821C91-803B-A102-505E-A13DCE482A33}"/>
                  </a:ext>
                </a:extLst>
              </p14:cNvPr>
              <p14:cNvContentPartPr/>
              <p14:nvPr/>
            </p14:nvContentPartPr>
            <p14:xfrm>
              <a:off x="3855540" y="2232540"/>
              <a:ext cx="36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8C821C91-803B-A102-505E-A13DCE482A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9420" y="222642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5BCB2E70-7CC4-076F-E0ED-AD3D15AFCD76}"/>
              </a:ext>
            </a:extLst>
          </p:cNvPr>
          <p:cNvSpPr txBox="1"/>
          <p:nvPr/>
        </p:nvSpPr>
        <p:spPr>
          <a:xfrm>
            <a:off x="709216" y="4976212"/>
            <a:ext cx="80993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如果</a:t>
            </a:r>
            <a:r>
              <a:rPr lang="en-US" altLang="zh-TW" dirty="0" err="1"/>
              <a:t>codemirror</a:t>
            </a:r>
            <a:r>
              <a:rPr lang="zh-TW" altLang="en-US" dirty="0"/>
              <a:t>已經載入就直接掛載，否則先下載在掛載，避免重複下載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刪除</a:t>
            </a:r>
            <a:r>
              <a:rPr lang="en-US" altLang="zh-TW" dirty="0"/>
              <a:t>cell </a:t>
            </a:r>
            <a:r>
              <a:rPr lang="zh-TW" altLang="en-US" dirty="0"/>
              <a:t>點擊</a:t>
            </a:r>
            <a:r>
              <a:rPr lang="en-US" altLang="zh-TW" dirty="0"/>
              <a:t>x</a:t>
            </a:r>
            <a:r>
              <a:rPr lang="zh-TW" altLang="en-US" dirty="0"/>
              <a:t>按鈕時刪除此</a:t>
            </a:r>
            <a:r>
              <a:rPr lang="en-US" altLang="zh-TW" dirty="0"/>
              <a:t>cell</a:t>
            </a:r>
            <a:r>
              <a:rPr lang="zh-TW" altLang="en-US" dirty="0"/>
              <a:t> 但至少保留一個，避免</a:t>
            </a:r>
            <a:r>
              <a:rPr lang="en-US" altLang="zh-TW" dirty="0"/>
              <a:t>notebook</a:t>
            </a:r>
            <a:r>
              <a:rPr lang="zh-TW" altLang="en-US" dirty="0"/>
              <a:t>變成空白。</a:t>
            </a:r>
            <a:endParaRPr lang="en-US" altLang="zh-TW" dirty="0"/>
          </a:p>
          <a:p>
            <a:endParaRPr lang="en-US" altLang="zh-TW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D70C3BC9-0E5E-658F-C5FC-31CDCC5A11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9216" y="776988"/>
            <a:ext cx="8301310" cy="3816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91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F0E6F-83CD-0F6E-5701-7D2D38CEC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6C4CB9B3-F189-AFA9-8C31-B2EC5A830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53440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Django home.html 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363E10D0-9DB4-0CE9-664C-7C89AB90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524BCDF0-9850-4EFD-554B-36EBCED18C59}"/>
              </a:ext>
            </a:extLst>
          </p:cNvPr>
          <p:cNvSpPr txBox="1">
            <a:spLocks/>
          </p:cNvSpPr>
          <p:nvPr/>
        </p:nvSpPr>
        <p:spPr>
          <a:xfrm>
            <a:off x="1475656" y="3706765"/>
            <a:ext cx="8301310" cy="2940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2088ABCF-4059-4F42-735C-98FC3BDE5F09}"/>
                  </a:ext>
                </a:extLst>
              </p14:cNvPr>
              <p14:cNvContentPartPr/>
              <p14:nvPr/>
            </p14:nvContentPartPr>
            <p14:xfrm>
              <a:off x="3451620" y="3123900"/>
              <a:ext cx="360" cy="360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2088ABCF-4059-4F42-735C-98FC3BDE5F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5500" y="3117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58AC5B7A-7095-0C37-DF22-9977B53DC421}"/>
                  </a:ext>
                </a:extLst>
              </p14:cNvPr>
              <p14:cNvContentPartPr/>
              <p14:nvPr/>
            </p14:nvContentPartPr>
            <p14:xfrm>
              <a:off x="2750700" y="1729620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58AC5B7A-7095-0C37-DF22-9977B53DC4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4580" y="17235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13AC9BF5-B1A3-C8C1-8472-99927CFDD06D}"/>
                  </a:ext>
                </a:extLst>
              </p14:cNvPr>
              <p14:cNvContentPartPr/>
              <p14:nvPr/>
            </p14:nvContentPartPr>
            <p14:xfrm>
              <a:off x="3855540" y="2232540"/>
              <a:ext cx="36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13AC9BF5-B1A3-C8C1-8472-99927CFDD0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9420" y="222642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15DB5870-B774-5B03-8ACD-0A614C8527BE}"/>
              </a:ext>
            </a:extLst>
          </p:cNvPr>
          <p:cNvSpPr txBox="1"/>
          <p:nvPr/>
        </p:nvSpPr>
        <p:spPr>
          <a:xfrm>
            <a:off x="522340" y="4919011"/>
            <a:ext cx="80993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1.</a:t>
            </a:r>
            <a:r>
              <a:rPr lang="zh-TW" altLang="en-US" dirty="0"/>
              <a:t>功能從 </a:t>
            </a:r>
            <a:r>
              <a:rPr lang="en-US" altLang="zh-TW" dirty="0"/>
              <a:t>CDN </a:t>
            </a:r>
            <a:r>
              <a:rPr lang="zh-TW" altLang="en-US" dirty="0"/>
              <a:t>動態下載 </a:t>
            </a:r>
            <a:r>
              <a:rPr lang="en-US" altLang="zh-TW" dirty="0" err="1"/>
              <a:t>CodeMirror</a:t>
            </a:r>
            <a:r>
              <a:rPr lang="en-US" altLang="zh-TW" dirty="0"/>
              <a:t> </a:t>
            </a:r>
            <a:r>
              <a:rPr lang="zh-TW" altLang="en-US" dirty="0"/>
              <a:t>所需的所有檔案，並確保按照正確順序載入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套用</a:t>
            </a:r>
            <a:r>
              <a:rPr lang="en-US" altLang="zh-TW" dirty="0" err="1"/>
              <a:t>css</a:t>
            </a:r>
            <a:r>
              <a:rPr lang="zh-TW" altLang="en-US" dirty="0"/>
              <a:t>格式</a:t>
            </a:r>
            <a:endParaRPr lang="en-US" altLang="zh-TW" dirty="0"/>
          </a:p>
          <a:p>
            <a:r>
              <a:rPr lang="en-US" altLang="zh-TW" dirty="0"/>
              <a:t>3.js.src</a:t>
            </a:r>
            <a:r>
              <a:rPr lang="zh-TW" altLang="en-US" dirty="0"/>
              <a:t>先載入核心提供</a:t>
            </a:r>
            <a:r>
              <a:rPr lang="en-US" altLang="zh-TW" dirty="0" err="1"/>
              <a:t>codeMirror</a:t>
            </a:r>
            <a:r>
              <a:rPr lang="en-US" altLang="zh-TW" dirty="0"/>
              <a:t>()</a:t>
            </a:r>
            <a:r>
              <a:rPr lang="zh-TW" altLang="en-US" dirty="0"/>
              <a:t>函數，用</a:t>
            </a:r>
            <a:r>
              <a:rPr lang="en-US" altLang="zh-TW" dirty="0"/>
              <a:t>onload</a:t>
            </a:r>
            <a:r>
              <a:rPr lang="zh-TW" altLang="en-US" dirty="0"/>
              <a:t>回呼巢狀確保順序正確，前一個載完才載下一個</a:t>
            </a:r>
            <a:endParaRPr lang="en-US" altLang="zh-TW" dirty="0"/>
          </a:p>
          <a:p>
            <a:r>
              <a:rPr lang="en-US" altLang="zh-TW" dirty="0" err="1"/>
              <a:t>Py.src</a:t>
            </a:r>
            <a:r>
              <a:rPr lang="en-US" altLang="zh-TW" dirty="0"/>
              <a:t> </a:t>
            </a:r>
            <a:r>
              <a:rPr lang="zh-TW" altLang="en-US" dirty="0"/>
              <a:t>核心載完才載入</a:t>
            </a:r>
            <a:r>
              <a:rPr lang="en-US" altLang="zh-TW" dirty="0"/>
              <a:t>python</a:t>
            </a:r>
            <a:r>
              <a:rPr lang="zh-TW" altLang="en-US" dirty="0"/>
              <a:t>語法，</a:t>
            </a:r>
            <a:r>
              <a:rPr lang="en-US" altLang="zh-TW" dirty="0" err="1"/>
              <a:t>ab.src</a:t>
            </a:r>
            <a:r>
              <a:rPr lang="zh-TW" altLang="en-US" dirty="0"/>
              <a:t>最後載外掛輸入</a:t>
            </a:r>
            <a:r>
              <a:rPr lang="en-US" altLang="zh-TW" dirty="0"/>
              <a:t>(</a:t>
            </a:r>
            <a:r>
              <a:rPr lang="zh-TW" altLang="en-US" dirty="0"/>
              <a:t>自動補</a:t>
            </a:r>
            <a:r>
              <a:rPr lang="en-US" altLang="zh-TW" dirty="0"/>
              <a:t>)</a:t>
            </a:r>
            <a:r>
              <a:rPr lang="zh-TW" altLang="en-US" dirty="0"/>
              <a:t>的外掛，完成後通知外部</a:t>
            </a:r>
            <a:endParaRPr lang="en-US" altLang="zh-TW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151D6ED5-3AC9-79B3-CB3E-0FCDC9D7DC8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763" y="2285624"/>
            <a:ext cx="7488472" cy="2442713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55155AAC-9AE9-A160-3513-F7CAB15776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84" y="818353"/>
            <a:ext cx="6801799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847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156B9-C1F8-AD9B-4A52-6BE6AD69E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D4D69919-1C49-381F-2F7E-7399952D6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53440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Django home.html 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4174F1A2-4418-8418-2AF8-AFF9773F5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29D4BF41-CB7E-7DEB-58DF-1511432BF843}"/>
              </a:ext>
            </a:extLst>
          </p:cNvPr>
          <p:cNvSpPr txBox="1">
            <a:spLocks/>
          </p:cNvSpPr>
          <p:nvPr/>
        </p:nvSpPr>
        <p:spPr>
          <a:xfrm>
            <a:off x="1475656" y="3706765"/>
            <a:ext cx="8301310" cy="2940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9FD5F3BE-FD98-EDFE-83BD-64010B0FE10F}"/>
                  </a:ext>
                </a:extLst>
              </p14:cNvPr>
              <p14:cNvContentPartPr/>
              <p14:nvPr/>
            </p14:nvContentPartPr>
            <p14:xfrm>
              <a:off x="3451620" y="3123900"/>
              <a:ext cx="360" cy="360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9FD5F3BE-FD98-EDFE-83BD-64010B0FE1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5500" y="3117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39574EC7-076B-86DB-BE5B-B305EC050FA7}"/>
                  </a:ext>
                </a:extLst>
              </p14:cNvPr>
              <p14:cNvContentPartPr/>
              <p14:nvPr/>
            </p14:nvContentPartPr>
            <p14:xfrm>
              <a:off x="2750700" y="1729620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39574EC7-076B-86DB-BE5B-B305EC050F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4580" y="17235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C6A2CD5B-42B1-4478-3FCD-88016003A8A6}"/>
                  </a:ext>
                </a:extLst>
              </p14:cNvPr>
              <p14:cNvContentPartPr/>
              <p14:nvPr/>
            </p14:nvContentPartPr>
            <p14:xfrm>
              <a:off x="3855540" y="2232540"/>
              <a:ext cx="36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C6A2CD5B-42B1-4478-3FCD-88016003A8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9420" y="222642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3C95AD86-370A-1A0A-EE0A-06693DFF9ED9}"/>
              </a:ext>
            </a:extLst>
          </p:cNvPr>
          <p:cNvSpPr txBox="1"/>
          <p:nvPr/>
        </p:nvSpPr>
        <p:spPr>
          <a:xfrm>
            <a:off x="678136" y="713776"/>
            <a:ext cx="2067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建立</a:t>
            </a:r>
            <a:r>
              <a:rPr lang="en-US" altLang="zh-TW" dirty="0" err="1"/>
              <a:t>runcell</a:t>
            </a:r>
            <a:r>
              <a:rPr lang="en-US" altLang="zh-TW" dirty="0"/>
              <a:t> </a:t>
            </a:r>
            <a:r>
              <a:rPr lang="zh-TW" altLang="en-US" dirty="0"/>
              <a:t>函數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9366A4A-ABD7-66B5-E541-12915D49E1ED}"/>
              </a:ext>
            </a:extLst>
          </p:cNvPr>
          <p:cNvSpPr txBox="1"/>
          <p:nvPr/>
        </p:nvSpPr>
        <p:spPr>
          <a:xfrm>
            <a:off x="674961" y="1147115"/>
            <a:ext cx="779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功能 </a:t>
            </a:r>
            <a:r>
              <a:rPr lang="zh-TW" altLang="zh-TW" dirty="0"/>
              <a:t>執行單一 Cell 的 Python 程式碼，並將結果或錯誤顯示在 Cell 下方。</a:t>
            </a:r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459041CE-FCCC-AB54-B51B-D343D698E8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576" y="1932174"/>
            <a:ext cx="6582694" cy="924054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9059AA4A-2A08-ED71-2CD7-53BFF8067B95}"/>
              </a:ext>
            </a:extLst>
          </p:cNvPr>
          <p:cNvSpPr txBox="1"/>
          <p:nvPr/>
        </p:nvSpPr>
        <p:spPr>
          <a:xfrm>
            <a:off x="674961" y="1557186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取出</a:t>
            </a:r>
            <a:r>
              <a:rPr lang="en-US" altLang="zh-TW" dirty="0"/>
              <a:t>cell </a:t>
            </a:r>
            <a:r>
              <a:rPr lang="zh-TW" altLang="en-US" dirty="0"/>
              <a:t>資訊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A159D5B-764E-2B3A-98D1-6A345AB6526D}"/>
              </a:ext>
            </a:extLst>
          </p:cNvPr>
          <p:cNvSpPr txBox="1"/>
          <p:nvPr/>
        </p:nvSpPr>
        <p:spPr>
          <a:xfrm>
            <a:off x="755576" y="2972995"/>
            <a:ext cx="80993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從Map裡取出這個Cell的四個元素，讀取編輯器內的程式碼，如果是空的就直接結束不執行。</a:t>
            </a: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A63B11F6-A058-B083-F7A8-A5F8152658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576" y="3619326"/>
            <a:ext cx="6233307" cy="1216979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91607D36-FFAC-E10D-D6A7-DFA481A2676C}"/>
              </a:ext>
            </a:extLst>
          </p:cNvPr>
          <p:cNvSpPr txBox="1"/>
          <p:nvPr/>
        </p:nvSpPr>
        <p:spPr>
          <a:xfrm>
            <a:off x="729687" y="4908851"/>
            <a:ext cx="8125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先確保Python環境已啟動，然後掃描程式碼裡的import語句，自動下載需要的套件，例如程式碼有import numpy就自動安裝numpy。</a:t>
            </a:r>
          </a:p>
        </p:txBody>
      </p:sp>
    </p:spTree>
    <p:extLst>
      <p:ext uri="{BB962C8B-B14F-4D97-AF65-F5344CB8AC3E}">
        <p14:creationId xmlns:p14="http://schemas.microsoft.com/office/powerpoint/2010/main" val="1005046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B9DF0-CCC5-2B88-D236-066008166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C95D8F4C-6224-C71B-F8BB-14CD411BC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53440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Django home.html 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1877FE5-1AD6-D7A1-9F73-26EBEFDB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24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9A0B5BC6-73BA-68B4-E732-D313197D46EF}"/>
              </a:ext>
            </a:extLst>
          </p:cNvPr>
          <p:cNvSpPr txBox="1">
            <a:spLocks/>
          </p:cNvSpPr>
          <p:nvPr/>
        </p:nvSpPr>
        <p:spPr>
          <a:xfrm>
            <a:off x="1475656" y="3706765"/>
            <a:ext cx="8301310" cy="2940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F43762E3-6EB2-54C5-98B8-C81A8268D351}"/>
                  </a:ext>
                </a:extLst>
              </p14:cNvPr>
              <p14:cNvContentPartPr/>
              <p14:nvPr/>
            </p14:nvContentPartPr>
            <p14:xfrm>
              <a:off x="3451620" y="3123900"/>
              <a:ext cx="360" cy="360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F43762E3-6EB2-54C5-98B8-C81A8268D3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5500" y="3117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3A1D9864-7B2A-BD9B-7E37-56F9689F87D4}"/>
                  </a:ext>
                </a:extLst>
              </p14:cNvPr>
              <p14:cNvContentPartPr/>
              <p14:nvPr/>
            </p14:nvContentPartPr>
            <p14:xfrm>
              <a:off x="2750700" y="1729620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3A1D9864-7B2A-BD9B-7E37-56F9689F87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4580" y="17235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3E409762-B15E-8315-B3D1-8EB4E0F585BA}"/>
                  </a:ext>
                </a:extLst>
              </p14:cNvPr>
              <p14:cNvContentPartPr/>
              <p14:nvPr/>
            </p14:nvContentPartPr>
            <p14:xfrm>
              <a:off x="3855540" y="2232540"/>
              <a:ext cx="36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3E409762-B15E-8315-B3D1-8EB4E0F585B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9420" y="222642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8EC08DD4-0EE7-887F-BBF2-4B2B2539EEB5}"/>
              </a:ext>
            </a:extLst>
          </p:cNvPr>
          <p:cNvSpPr txBox="1"/>
          <p:nvPr/>
        </p:nvSpPr>
        <p:spPr>
          <a:xfrm>
            <a:off x="678136" y="713776"/>
            <a:ext cx="2067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建立</a:t>
            </a:r>
            <a:r>
              <a:rPr lang="en-US" altLang="zh-TW" dirty="0" err="1"/>
              <a:t>runcell</a:t>
            </a:r>
            <a:r>
              <a:rPr lang="en-US" altLang="zh-TW" dirty="0"/>
              <a:t> </a:t>
            </a:r>
            <a:r>
              <a:rPr lang="zh-TW" altLang="en-US" dirty="0"/>
              <a:t>函數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B1540713-B6C4-2705-3806-4DDA0B01C5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8062" y="1557878"/>
            <a:ext cx="6134956" cy="1238423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98A2F843-9AD7-19A8-61AA-80C828FD60CC}"/>
              </a:ext>
            </a:extLst>
          </p:cNvPr>
          <p:cNvSpPr txBox="1"/>
          <p:nvPr/>
        </p:nvSpPr>
        <p:spPr>
          <a:xfrm>
            <a:off x="755576" y="1143172"/>
            <a:ext cx="18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視覺回饋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ACF985E0-972E-27C6-0BB0-AB78068EC3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8166" y="2954579"/>
            <a:ext cx="5832648" cy="1844280"/>
          </a:xfrm>
          <a:prstGeom prst="rect">
            <a:avLst/>
          </a:prstGeom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0E60BE91-9DE1-B7FF-9CF0-981103E80B3E}"/>
              </a:ext>
            </a:extLst>
          </p:cNvPr>
          <p:cNvSpPr txBox="1"/>
          <p:nvPr/>
        </p:nvSpPr>
        <p:spPr>
          <a:xfrm>
            <a:off x="788062" y="5028658"/>
            <a:ext cx="8208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捕捉</a:t>
            </a:r>
            <a:r>
              <a:rPr lang="en-US" altLang="zh-TW" dirty="0" err="1"/>
              <a:t>stdout</a:t>
            </a:r>
            <a:r>
              <a:rPr lang="zh-TW" altLang="en-US" dirty="0"/>
              <a:t>，</a:t>
            </a:r>
            <a:r>
              <a:rPr lang="en-US" altLang="zh-TW" dirty="0"/>
              <a:t>Python</a:t>
            </a:r>
            <a:r>
              <a:rPr lang="zh-TW" altLang="en-US" dirty="0"/>
              <a:t>的</a:t>
            </a:r>
            <a:r>
              <a:rPr lang="en-US" altLang="zh-TW" dirty="0"/>
              <a:t>print()</a:t>
            </a:r>
            <a:r>
              <a:rPr lang="zh-TW" altLang="en-US" dirty="0"/>
              <a:t>預設輸出到終端機，但瀏覽器沒有終端機，所以用</a:t>
            </a:r>
            <a:r>
              <a:rPr lang="en-US" altLang="zh-TW" dirty="0" err="1"/>
              <a:t>StringIO</a:t>
            </a:r>
            <a:r>
              <a:rPr lang="zh-TW" altLang="en-US" dirty="0"/>
              <a:t>建立一個虛擬緩衝區來收集輸出。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77906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80805-62AF-975C-E302-F56B5B1BA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589602DC-1416-AD16-CEEB-18AFE2B36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53440"/>
            <a:ext cx="7848872" cy="654968"/>
          </a:xfrm>
        </p:spPr>
        <p:txBody>
          <a:bodyPr>
            <a:normAutofit fontScale="90000"/>
          </a:bodyPr>
          <a:lstStyle/>
          <a:p>
            <a:r>
              <a:rPr lang="en-US" altLang="zh-TW" dirty="0"/>
              <a:t>Django home.html 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462750A-B69E-6E0F-20D9-4FF0DE3DF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25</a:t>
            </a:fld>
            <a:endParaRPr lang="zh-TW" altLang="en-US"/>
          </a:p>
        </p:txBody>
      </p:sp>
      <p:sp>
        <p:nvSpPr>
          <p:cNvPr id="7" name="標題 1">
            <a:extLst>
              <a:ext uri="{FF2B5EF4-FFF2-40B4-BE49-F238E27FC236}">
                <a16:creationId xmlns:a16="http://schemas.microsoft.com/office/drawing/2014/main" id="{96B1F543-23EA-F635-6FCA-88C92C3D3BDC}"/>
              </a:ext>
            </a:extLst>
          </p:cNvPr>
          <p:cNvSpPr txBox="1">
            <a:spLocks/>
          </p:cNvSpPr>
          <p:nvPr/>
        </p:nvSpPr>
        <p:spPr>
          <a:xfrm>
            <a:off x="1475656" y="3706765"/>
            <a:ext cx="8301310" cy="2940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6858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04F8970E-4AFC-4B2C-C5EB-2B2E75952F0A}"/>
                  </a:ext>
                </a:extLst>
              </p14:cNvPr>
              <p14:cNvContentPartPr/>
              <p14:nvPr/>
            </p14:nvContentPartPr>
            <p14:xfrm>
              <a:off x="3451620" y="3123900"/>
              <a:ext cx="360" cy="360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04F8970E-4AFC-4B2C-C5EB-2B2E75952F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5500" y="3117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6340493B-CD27-FB8C-6748-7BA117A604A9}"/>
                  </a:ext>
                </a:extLst>
              </p14:cNvPr>
              <p14:cNvContentPartPr/>
              <p14:nvPr/>
            </p14:nvContentPartPr>
            <p14:xfrm>
              <a:off x="2750700" y="1729620"/>
              <a:ext cx="360" cy="3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6340493B-CD27-FB8C-6748-7BA117A604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4580" y="172350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683EA7F0-9D00-DC9E-3841-D3340ACB2CFE}"/>
                  </a:ext>
                </a:extLst>
              </p14:cNvPr>
              <p14:cNvContentPartPr/>
              <p14:nvPr/>
            </p14:nvContentPartPr>
            <p14:xfrm>
              <a:off x="3855540" y="2232540"/>
              <a:ext cx="360" cy="360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683EA7F0-9D00-DC9E-3841-D3340ACB2C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9420" y="222642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文字方塊 7">
            <a:extLst>
              <a:ext uri="{FF2B5EF4-FFF2-40B4-BE49-F238E27FC236}">
                <a16:creationId xmlns:a16="http://schemas.microsoft.com/office/drawing/2014/main" id="{AF23B822-9DF5-F670-F86C-560E77BF3056}"/>
              </a:ext>
            </a:extLst>
          </p:cNvPr>
          <p:cNvSpPr txBox="1"/>
          <p:nvPr/>
        </p:nvSpPr>
        <p:spPr>
          <a:xfrm>
            <a:off x="678136" y="713776"/>
            <a:ext cx="2067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建立</a:t>
            </a:r>
            <a:r>
              <a:rPr lang="en-US" altLang="zh-TW" dirty="0" err="1"/>
              <a:t>runcell</a:t>
            </a:r>
            <a:r>
              <a:rPr lang="en-US" altLang="zh-TW" dirty="0"/>
              <a:t> </a:t>
            </a:r>
            <a:r>
              <a:rPr lang="zh-TW" altLang="en-US" dirty="0"/>
              <a:t>函數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68E6F31-61D0-B98F-C27F-45267D72CA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221" y="1142804"/>
            <a:ext cx="7690211" cy="1515139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CF868C36-1B40-278C-0C8F-C024039BBDC4}"/>
              </a:ext>
            </a:extLst>
          </p:cNvPr>
          <p:cNvSpPr txBox="1"/>
          <p:nvPr/>
        </p:nvSpPr>
        <p:spPr>
          <a:xfrm>
            <a:off x="827584" y="2852936"/>
            <a:ext cx="80648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finally</a:t>
            </a:r>
            <a:r>
              <a:rPr lang="zh-TW" altLang="en-US" dirty="0"/>
              <a:t>確保不管執行成功或失敗，都會把</a:t>
            </a:r>
            <a:r>
              <a:rPr lang="en-US" altLang="zh-TW" dirty="0" err="1"/>
              <a:t>stdout</a:t>
            </a:r>
            <a:r>
              <a:rPr lang="zh-TW" altLang="en-US" dirty="0"/>
              <a:t>還原回正常狀態，避免影響後續執行。</a:t>
            </a:r>
            <a:endParaRPr lang="en-US" altLang="zh-TW" dirty="0"/>
          </a:p>
          <a:p>
            <a:r>
              <a:rPr lang="en-US" altLang="zh-TW" dirty="0"/>
              <a:t>Const </a:t>
            </a:r>
            <a:r>
              <a:rPr lang="en-US" altLang="zh-TW" dirty="0" err="1"/>
              <a:t>stdout</a:t>
            </a:r>
            <a:r>
              <a:rPr lang="en-US" altLang="zh-TW" dirty="0"/>
              <a:t> = </a:t>
            </a:r>
            <a:r>
              <a:rPr lang="en-US" altLang="zh-TW" dirty="0" err="1"/>
              <a:t>pyodide.runPython</a:t>
            </a:r>
            <a:r>
              <a:rPr lang="en-US" altLang="zh-TW" dirty="0"/>
              <a:t>(“_</a:t>
            </a:r>
            <a:r>
              <a:rPr lang="en-US" altLang="zh-TW" dirty="0" err="1"/>
              <a:t>buf.getvalue</a:t>
            </a:r>
            <a:r>
              <a:rPr lang="en-US" altLang="zh-TW" dirty="0"/>
              <a:t>()”);</a:t>
            </a:r>
            <a:r>
              <a:rPr lang="zh-TW" altLang="en-US" dirty="0"/>
              <a:t>從緩衝區讀出</a:t>
            </a:r>
            <a:r>
              <a:rPr lang="en-US" altLang="zh-TW" dirty="0"/>
              <a:t>print()</a:t>
            </a:r>
            <a:r>
              <a:rPr lang="zh-TW" altLang="en-US" dirty="0"/>
              <a:t>內容</a:t>
            </a:r>
          </a:p>
          <a:p>
            <a:endParaRPr lang="zh-TW" altLang="en-US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F253B221-6B6A-DEBD-0E18-286D5A1A003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84" y="3747679"/>
            <a:ext cx="6100095" cy="2314322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E88D67B7-FD72-633C-5107-A6660EDA789F}"/>
              </a:ext>
            </a:extLst>
          </p:cNvPr>
          <p:cNvSpPr txBox="1"/>
          <p:nvPr/>
        </p:nvSpPr>
        <p:spPr>
          <a:xfrm>
            <a:off x="709377" y="6197793"/>
            <a:ext cx="8301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執行序號加一，合併 print() 的輸出和最後一行的回傳值，顯示為綠色文字。</a:t>
            </a:r>
          </a:p>
        </p:txBody>
      </p:sp>
    </p:spTree>
    <p:extLst>
      <p:ext uri="{BB962C8B-B14F-4D97-AF65-F5344CB8AC3E}">
        <p14:creationId xmlns:p14="http://schemas.microsoft.com/office/powerpoint/2010/main" val="7621129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564904"/>
            <a:ext cx="7772400" cy="1470025"/>
          </a:xfrm>
        </p:spPr>
        <p:txBody>
          <a:bodyPr/>
          <a:lstStyle/>
          <a:p>
            <a:r>
              <a:rPr lang="en-US" altLang="zh-TW" dirty="0"/>
              <a:t>END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3933819"/>
      </p:ext>
    </p:extLst>
  </p:cSld>
  <p:clrMapOvr>
    <a:masterClrMapping/>
  </p:clrMapOvr>
</p:sld>
</file>

<file path=ppt/theme/theme1.xml><?xml version="1.0" encoding="utf-8"?>
<a:theme xmlns:a="http://schemas.openxmlformats.org/drawingml/2006/main" name="裁剪">
  <a:themeElements>
    <a:clrScheme name="裁剪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裁剪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裁剪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TM10001105[[fn=裁剪]]</Template>
  <TotalTime>7709</TotalTime>
  <Words>2404</Words>
  <Application>Microsoft Office PowerPoint</Application>
  <PresentationFormat>如螢幕大小 (4:3)</PresentationFormat>
  <Paragraphs>238</Paragraphs>
  <Slides>26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1" baseType="lpstr">
      <vt:lpstr>Google Sans Text</vt:lpstr>
      <vt:lpstr>Aptos</vt:lpstr>
      <vt:lpstr>Arial</vt:lpstr>
      <vt:lpstr>Franklin Gothic Book</vt:lpstr>
      <vt:lpstr>裁剪</vt:lpstr>
      <vt:lpstr>第十五週</vt:lpstr>
      <vt:lpstr>目錄</vt:lpstr>
      <vt:lpstr>RenPy 增加扣分機制</vt:lpstr>
      <vt:lpstr>RenPy 章節最後</vt:lpstr>
      <vt:lpstr>RenPy輸入答案</vt:lpstr>
      <vt:lpstr>RenPy輸入答案</vt:lpstr>
      <vt:lpstr>RenPy劇情優化</vt:lpstr>
      <vt:lpstr>RenPy名詞解釋</vt:lpstr>
      <vt:lpstr>Django ai_chat.html</vt:lpstr>
      <vt:lpstr>Django ai_chat.html</vt:lpstr>
      <vt:lpstr>Django ai_chat.html</vt:lpstr>
      <vt:lpstr>Django ai_chat.html</vt:lpstr>
      <vt:lpstr>Django ai_chat.html</vt:lpstr>
      <vt:lpstr>Django views.py</vt:lpstr>
      <vt:lpstr>Django home.html </vt:lpstr>
      <vt:lpstr>Django home.html </vt:lpstr>
      <vt:lpstr>Django home.html </vt:lpstr>
      <vt:lpstr>Django home.html </vt:lpstr>
      <vt:lpstr>Django home.html </vt:lpstr>
      <vt:lpstr>Django home.html </vt:lpstr>
      <vt:lpstr>Django home.html </vt:lpstr>
      <vt:lpstr>Django home.html </vt:lpstr>
      <vt:lpstr>Django home.html </vt:lpstr>
      <vt:lpstr>Django home.html </vt:lpstr>
      <vt:lpstr>Django home.html 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Ren’Py內部語法</dc:title>
  <dc:creator>甘</dc:creator>
  <cp:lastModifiedBy>Admin</cp:lastModifiedBy>
  <cp:revision>155</cp:revision>
  <dcterms:created xsi:type="dcterms:W3CDTF">2026-03-01T17:53:11Z</dcterms:created>
  <dcterms:modified xsi:type="dcterms:W3CDTF">2026-06-01T07:43:53Z</dcterms:modified>
</cp:coreProperties>
</file>