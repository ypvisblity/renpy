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65" r:id="rId3"/>
    <p:sldId id="297" r:id="rId4"/>
    <p:sldId id="298" r:id="rId5"/>
    <p:sldId id="305" r:id="rId6"/>
    <p:sldId id="300" r:id="rId7"/>
    <p:sldId id="306" r:id="rId8"/>
    <p:sldId id="301" r:id="rId9"/>
    <p:sldId id="302" r:id="rId10"/>
    <p:sldId id="303" r:id="rId11"/>
    <p:sldId id="308" r:id="rId12"/>
    <p:sldId id="309" r:id="rId13"/>
    <p:sldId id="310" r:id="rId14"/>
    <p:sldId id="311" r:id="rId15"/>
    <p:sldId id="313" r:id="rId16"/>
    <p:sldId id="312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3" r:id="rId26"/>
    <p:sldId id="324" r:id="rId27"/>
    <p:sldId id="325" r:id="rId28"/>
    <p:sldId id="326" r:id="rId29"/>
    <p:sldId id="267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BB95DC8-3C02-44AB-B1ED-631A26AB7D99}">
          <p14:sldIdLst>
            <p14:sldId id="256"/>
            <p14:sldId id="265"/>
            <p14:sldId id="297"/>
            <p14:sldId id="298"/>
            <p14:sldId id="305"/>
            <p14:sldId id="300"/>
            <p14:sldId id="306"/>
            <p14:sldId id="301"/>
            <p14:sldId id="302"/>
            <p14:sldId id="303"/>
          </p14:sldIdLst>
        </p14:section>
        <p14:section name="未命名的章節" id="{F44A88FC-5764-4BC3-ABBF-5EAB90BC7E1E}">
          <p14:sldIdLst>
            <p14:sldId id="308"/>
            <p14:sldId id="309"/>
            <p14:sldId id="310"/>
            <p14:sldId id="311"/>
            <p14:sldId id="313"/>
            <p14:sldId id="312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3"/>
            <p14:sldId id="324"/>
            <p14:sldId id="325"/>
            <p14:sldId id="326"/>
          </p14:sldIdLst>
        </p14:section>
        <p14:section name="未命名" id="{AB201B5D-527D-45AB-B57D-ED06D7FF839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0" autoAdjust="0"/>
    <p:restoredTop sz="95829" autoAdjust="0"/>
  </p:normalViewPr>
  <p:slideViewPr>
    <p:cSldViewPr>
      <p:cViewPr varScale="1">
        <p:scale>
          <a:sx n="78" d="100"/>
          <a:sy n="78" d="100"/>
        </p:scale>
        <p:origin x="186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11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9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10137-1A81-4E0D-9032-609E98C676AE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C839D-53C0-477E-9499-3CBD2E0855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48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39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8F80F-7529-86C4-ACAC-1A55466C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2B103F-D4AA-6023-CFE3-F38091839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6FE24C-D9AD-086B-B8DF-EA66CFE32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A9F38E-D4DA-2377-B3CD-060C8CA99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778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1087-73CF-D879-0D6A-32C82359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A9430A-9DF5-6F29-62C2-9EDEF1F95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CFABCE-47BD-A955-0AB1-89D1C4DDC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FED068-4B78-DBFC-2719-8D7F6A008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6558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A73C-27D3-8390-B932-05C9D416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CA2BE6-DC90-D567-FC9B-B82719744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CF3E771-ED41-78FA-DCB7-21DA9B6E9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D16B95-6C4A-F207-4E24-20BBF545C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555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D40A-4B2B-C1B9-C786-CF621510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8C47FB-0526-6329-F844-D1ECA637F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AAD22C-5C2C-3DFA-B2D5-50A347D5B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F792B6-47BF-53C6-F576-5EDE4073D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689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E7E3-6D34-EB92-1B19-AE85964F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8915DF6-B590-BC75-EAC9-C9E2C29B8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EE4A18-16C2-3339-5150-2CE880CFC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94484C-8C66-39DC-E34F-5B1BFF210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090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86A6-CAD3-013B-CB90-C9230BA4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454F93-78E9-4A77-A0F8-D2925D7A3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7EF0DF-7155-DC50-BEA8-1BF5F5EFC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C5E0EC-CE6C-776B-65E1-C28270726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765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9789-0EF6-4FDB-FF3D-CCD04745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629E9B-B536-42E4-D2E6-E4F8A78F6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9CDBE7-5FF9-01E5-CFD9-5D5B58281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DD9224-390F-626A-84D2-30CD6BA22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42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87AD-1EC6-2BEC-A779-F9F0FAFF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F978C95-B918-FF6E-A8CC-B924036A6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015B0E2-CE6E-8537-B609-545D574A0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BEECDF-BB48-4872-83B5-CC2D82BB1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78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41DA-D818-E7B4-7038-B85BD96E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2BDF1C5-8840-6862-06BF-4CE36AE9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29D584-CD84-ACCF-1B3E-8D77F917E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59B864-2E67-734C-3A0F-AAE09E8A1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775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63B55-7DA9-177E-DFD5-1B1EFACE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D5E3773-B3C0-1255-9917-91E34CB52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622612-A448-4407-4FEE-996BDD8F1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1C1671-B3F8-04EE-A3E2-1CE253F78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1495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9319-E989-A0DA-8064-BAA3B1C4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FB62B1-A677-4808-5902-E0C71AA98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DEAEE7A-9593-9E1A-AAA2-861B0F036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A315-24D8-4B59-60CF-072AAEE75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4344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EDCCA-1762-50D9-AC3F-AA8E61656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7D53BAC-B762-DD0E-84BA-92C292925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4542A3-A4A9-BDF6-D85E-D3F72B8DB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5D39D9-7275-84A7-188F-20893826F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860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CF60-5C48-0955-2317-14DFAEC2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504296A-3951-A7AA-0BD2-A8A52EE35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A4843F-C259-6EA4-E71E-E115C127F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B59E-84FF-2535-DAE3-E6E329240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4679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37EB7-8ACE-68F6-C80A-D4C45F38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6BDDFE-3093-80FC-D5EF-E610517EA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A03AD8-A0CA-8B76-488D-CCB08EBC6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174D30-037A-246E-2D74-09E3FBEE3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5866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03C1-8740-0EFC-5909-751DA947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6C2E3C9-260E-6335-9F58-B9DAD5D0D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173D3A-E6F7-46BB-9C68-32792E7CE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43C281-36E8-921A-7F2C-774A2408E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127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DAAF9-56AB-FB88-3211-801062E9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76AEBC-26B1-110A-1550-A7E40A794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03634D-34F5-D21C-EA45-5B3441E27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EDBFB0-1F86-0E52-888C-92792BFF3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970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AFA0-91DC-ED2E-3A58-6C9355F3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EBBD3C7-92F9-E920-9C98-C2B7E0337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9CA3DD7-73C5-4862-E3C7-DB76B59F4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6B8A01-F571-418F-3717-6598B3087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637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0D442-0B8B-5702-A72B-4379A2B6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852DF9-9EBC-2FEA-A9B2-B4BD9D37B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74BCEB-A8C2-72A3-CF48-ACE5B72BB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F80959-4B53-4094-A419-A91670C1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377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A29149-C5EC-49F5-B776-734C8347F9B8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6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1866-9651-4908-B57D-19F66F0CB226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6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6B79E9-7AAB-4684-B228-C54A80412DF5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80313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ED6E-AB36-46F9-B3E7-BAEC20D2097B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18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0E48-F43F-4A80-B766-141B04CC0EF6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3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353DF-7321-47E7-9181-A5F37F0EA25E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46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6700A-E63E-433A-BB48-9AACA55EC76A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6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4BBD1A-C821-4C1E-B76C-29EF781C868F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568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B7CC28-8F5B-4A97-8B55-03B21E511C09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216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B6F8-1FD1-49D9-9A91-8C76D5C4DDDA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19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B52-2634-497B-A0D7-869663A1893C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0FDC957E-D632-4B34-80D9-1804E7FA74AE}" type="datetime1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0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zh-TW" altLang="en-US" dirty="0"/>
              <a:t>第十一週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72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12EFF-453D-AFCC-EA00-9AC9F10B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F9B01E-4D7A-0768-08F3-29B7EC22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文獻</a:t>
            </a:r>
            <a:endParaRPr lang="en-US" altLang="zh-TW" dirty="0"/>
          </a:p>
          <a:p>
            <a:r>
              <a:rPr lang="en-US" altLang="zh-TW" dirty="0" err="1"/>
              <a:t>django</a:t>
            </a:r>
            <a:r>
              <a:rPr lang="en-US" altLang="zh-TW" dirty="0"/>
              <a:t> – part7 </a:t>
            </a:r>
            <a:r>
              <a:rPr lang="zh-TW" altLang="en-US" dirty="0"/>
              <a:t>自訂管理員表單</a:t>
            </a:r>
            <a:r>
              <a:rPr lang="en-US" altLang="zh-TW" dirty="0"/>
              <a:t>-----</a:t>
            </a:r>
            <a:r>
              <a:rPr lang="zh-TW" altLang="en-US" dirty="0"/>
              <a:t> </a:t>
            </a:r>
            <a:r>
              <a:rPr lang="en-US" altLang="zh-TW" dirty="0"/>
              <a:t>3~10</a:t>
            </a:r>
          </a:p>
          <a:p>
            <a:r>
              <a:rPr lang="en-US" altLang="zh-TW" dirty="0" err="1"/>
              <a:t>Renpy</a:t>
            </a:r>
            <a:r>
              <a:rPr lang="en-US" altLang="zh-TW" dirty="0"/>
              <a:t> </a:t>
            </a:r>
            <a:r>
              <a:rPr lang="zh-TW" altLang="en-US" dirty="0"/>
              <a:t>一二章劇情</a:t>
            </a:r>
            <a:r>
              <a:rPr lang="en-US" altLang="zh-TW" dirty="0"/>
              <a:t>-----</a:t>
            </a:r>
            <a:r>
              <a:rPr lang="zh-TW" altLang="en-US" dirty="0"/>
              <a:t> </a:t>
            </a:r>
            <a:r>
              <a:rPr lang="en-US" altLang="zh-TW" dirty="0"/>
              <a:t>11~</a:t>
            </a:r>
          </a:p>
          <a:p>
            <a:endParaRPr lang="en-US" altLang="zh-TW" dirty="0">
              <a:hlinkClick r:id="" action="ppaction://noaction"/>
            </a:endParaRPr>
          </a:p>
        </p:txBody>
      </p:sp>
    </p:spTree>
    <p:extLst>
      <p:ext uri="{BB962C8B-B14F-4D97-AF65-F5344CB8AC3E}">
        <p14:creationId xmlns:p14="http://schemas.microsoft.com/office/powerpoint/2010/main" val="171170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7E72-8652-ADA8-1736-CAD1C997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AD6A764-2441-B42A-3F39-B762F42B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3D50A42-8AB2-E25E-E65A-BDD50AED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A60898B-7597-B179-D4DD-63166A3FB33A}"/>
              </a:ext>
            </a:extLst>
          </p:cNvPr>
          <p:cNvSpPr txBox="1"/>
          <p:nvPr/>
        </p:nvSpPr>
        <p:spPr>
          <a:xfrm>
            <a:off x="827584" y="915616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/>
              <a:t>透過</a:t>
            </a:r>
            <a:r>
              <a:rPr lang="en-US" altLang="zh-TW" dirty="0"/>
              <a:t>Question</a:t>
            </a:r>
            <a:r>
              <a:rPr lang="zh-TW" altLang="en-US" dirty="0"/>
              <a:t>向 </a:t>
            </a:r>
            <a:r>
              <a:rPr lang="en-US" altLang="zh-TW" dirty="0"/>
              <a:t>Django </a:t>
            </a:r>
            <a:r>
              <a:rPr lang="zh-TW" altLang="en-US" dirty="0"/>
              <a:t>註冊模型</a:t>
            </a:r>
            <a:r>
              <a:rPr lang="en-US" altLang="zh-TW" dirty="0" err="1"/>
              <a:t>admin.site.register</a:t>
            </a:r>
            <a:r>
              <a:rPr lang="en-US" altLang="zh-TW" dirty="0"/>
              <a:t>(Question)</a:t>
            </a:r>
            <a:r>
              <a:rPr lang="zh-TW" altLang="en-US" dirty="0"/>
              <a:t>，</a:t>
            </a:r>
            <a:r>
              <a:rPr lang="en-US" altLang="zh-TW" dirty="0"/>
              <a:t>Django </a:t>
            </a:r>
            <a:r>
              <a:rPr lang="zh-TW" altLang="en-US" dirty="0"/>
              <a:t>可以建立一個預設的表單表示。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1C745B-4E41-39C7-E049-5841F53E1146}"/>
              </a:ext>
            </a:extLst>
          </p:cNvPr>
          <p:cNvSpPr txBox="1"/>
          <p:nvPr/>
        </p:nvSpPr>
        <p:spPr>
          <a:xfrm>
            <a:off x="827584" y="1699954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讓我們透過重新排列編輯表單中的欄位順序來看看效果。將該</a:t>
            </a:r>
            <a:r>
              <a:rPr lang="en-US" altLang="zh-TW" dirty="0" err="1"/>
              <a:t>admin.site.register</a:t>
            </a:r>
            <a:r>
              <a:rPr lang="en-US" altLang="zh-TW" dirty="0"/>
              <a:t>(Question)</a:t>
            </a:r>
            <a:r>
              <a:rPr lang="zh-TW" altLang="en-US" dirty="0"/>
              <a:t>行替換為：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246878B-9222-63C6-FBC2-D035835D8087}"/>
              </a:ext>
            </a:extLst>
          </p:cNvPr>
          <p:cNvSpPr txBox="1"/>
          <p:nvPr/>
        </p:nvSpPr>
        <p:spPr>
          <a:xfrm>
            <a:off x="899592" y="2890072"/>
            <a:ext cx="8056512" cy="2308324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FFFFFF"/>
                </a:solidFill>
              </a:rPr>
              <a:t>from </a:t>
            </a:r>
            <a:r>
              <a:rPr lang="en-US" altLang="zh-TW" dirty="0" err="1">
                <a:solidFill>
                  <a:srgbClr val="FFFFFF"/>
                </a:solidFill>
              </a:rPr>
              <a:t>django.contrib</a:t>
            </a:r>
            <a:r>
              <a:rPr lang="en-US" altLang="zh-TW" dirty="0">
                <a:solidFill>
                  <a:srgbClr val="FFFFFF"/>
                </a:solidFill>
              </a:rPr>
              <a:t> import admin</a:t>
            </a:r>
          </a:p>
          <a:p>
            <a:endParaRPr lang="en-US" altLang="zh-TW" dirty="0">
              <a:solidFill>
                <a:srgbClr val="FFFFFF"/>
              </a:solidFill>
            </a:endParaRPr>
          </a:p>
          <a:p>
            <a:r>
              <a:rPr lang="en-US" altLang="zh-TW" dirty="0">
                <a:solidFill>
                  <a:srgbClr val="FFFFFF"/>
                </a:solidFill>
              </a:rPr>
              <a:t>from .models import Question</a:t>
            </a:r>
          </a:p>
          <a:p>
            <a:endParaRPr lang="en-US" altLang="zh-TW" dirty="0">
              <a:solidFill>
                <a:srgbClr val="FFFFFF"/>
              </a:solidFill>
            </a:endParaRPr>
          </a:p>
          <a:p>
            <a:r>
              <a:rPr lang="en-US" altLang="zh-TW" dirty="0">
                <a:solidFill>
                  <a:srgbClr val="FFFFFF"/>
                </a:solidFill>
              </a:rPr>
              <a:t>class </a:t>
            </a:r>
            <a:r>
              <a:rPr lang="en-US" altLang="zh-TW" dirty="0" err="1">
                <a:solidFill>
                  <a:srgbClr val="FFFFFF"/>
                </a:solidFill>
              </a:rPr>
              <a:t>QuestionAdmin</a:t>
            </a:r>
            <a:r>
              <a:rPr lang="en-US" altLang="zh-TW" dirty="0">
                <a:solidFill>
                  <a:srgbClr val="FFFFFF"/>
                </a:solidFill>
              </a:rPr>
              <a:t>(</a:t>
            </a:r>
            <a:r>
              <a:rPr lang="en-US" altLang="zh-TW" dirty="0" err="1">
                <a:solidFill>
                  <a:srgbClr val="FFFFFF"/>
                </a:solidFill>
              </a:rPr>
              <a:t>admin.ModelAdmin</a:t>
            </a:r>
            <a:r>
              <a:rPr lang="en-US" altLang="zh-TW" dirty="0">
                <a:solidFill>
                  <a:srgbClr val="FFFFFF"/>
                </a:solidFill>
              </a:rPr>
              <a:t>):</a:t>
            </a:r>
          </a:p>
          <a:p>
            <a:r>
              <a:rPr lang="en-US" altLang="zh-TW" dirty="0">
                <a:solidFill>
                  <a:srgbClr val="FFFFFF"/>
                </a:solidFill>
              </a:rPr>
              <a:t>    fields = ["</a:t>
            </a:r>
            <a:r>
              <a:rPr lang="en-US" altLang="zh-TW" dirty="0" err="1">
                <a:solidFill>
                  <a:srgbClr val="FFFFFF"/>
                </a:solidFill>
              </a:rPr>
              <a:t>pub_date</a:t>
            </a:r>
            <a:r>
              <a:rPr lang="en-US" altLang="zh-TW" dirty="0">
                <a:solidFill>
                  <a:srgbClr val="FFFFFF"/>
                </a:solidFill>
              </a:rPr>
              <a:t>", "</a:t>
            </a:r>
            <a:r>
              <a:rPr lang="en-US" altLang="zh-TW" dirty="0" err="1">
                <a:solidFill>
                  <a:srgbClr val="FFFFFF"/>
                </a:solidFill>
              </a:rPr>
              <a:t>question_text</a:t>
            </a:r>
            <a:r>
              <a:rPr lang="en-US" altLang="zh-TW" dirty="0">
                <a:solidFill>
                  <a:srgbClr val="FFFFFF"/>
                </a:solidFill>
              </a:rPr>
              <a:t>"]</a:t>
            </a:r>
          </a:p>
          <a:p>
            <a:endParaRPr lang="en-US" altLang="zh-TW" dirty="0">
              <a:solidFill>
                <a:srgbClr val="FFFFFF"/>
              </a:solidFill>
            </a:endParaRPr>
          </a:p>
          <a:p>
            <a:r>
              <a:rPr lang="en-US" altLang="zh-TW" dirty="0" err="1">
                <a:solidFill>
                  <a:srgbClr val="FFFFFF"/>
                </a:solidFill>
              </a:rPr>
              <a:t>admin.site.register</a:t>
            </a:r>
            <a:r>
              <a:rPr lang="en-US" altLang="zh-TW" dirty="0">
                <a:solidFill>
                  <a:srgbClr val="FFFFFF"/>
                </a:solidFill>
              </a:rPr>
              <a:t>(Question, </a:t>
            </a:r>
            <a:r>
              <a:rPr lang="en-US" altLang="zh-TW" dirty="0" err="1">
                <a:solidFill>
                  <a:srgbClr val="FFFFFF"/>
                </a:solidFill>
              </a:rPr>
              <a:t>QuestionAdmin</a:t>
            </a:r>
            <a:r>
              <a:rPr lang="en-US" altLang="zh-TW" dirty="0">
                <a:solidFill>
                  <a:srgbClr val="FFFFFF"/>
                </a:solidFill>
              </a:rPr>
              <a:t>)</a:t>
            </a:r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5B1ABA9B-B76A-AF13-4D73-53503A747135}"/>
              </a:ext>
            </a:extLst>
          </p:cNvPr>
          <p:cNvSpPr txBox="1"/>
          <p:nvPr/>
        </p:nvSpPr>
        <p:spPr>
          <a:xfrm>
            <a:off x="899592" y="2613073"/>
            <a:ext cx="648072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200" b="1" dirty="0">
                <a:solidFill>
                  <a:srgbClr val="FFFFFF"/>
                </a:solidFill>
              </a:rPr>
              <a:t>內容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F2CDB39-783F-37F5-2D8E-A93746FFC5D9}"/>
              </a:ext>
            </a:extLst>
          </p:cNvPr>
          <p:cNvSpPr txBox="1"/>
          <p:nvPr/>
        </p:nvSpPr>
        <p:spPr>
          <a:xfrm>
            <a:off x="827584" y="6228020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上述變更使得「發布日期」位於「問題」欄位之前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AA081AC-66E3-3294-D141-876ABB172551}"/>
              </a:ext>
            </a:extLst>
          </p:cNvPr>
          <p:cNvSpPr txBox="1"/>
          <p:nvPr/>
        </p:nvSpPr>
        <p:spPr>
          <a:xfrm>
            <a:off x="899592" y="5314901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/>
              <a:t>您將遵循以下模式</a:t>
            </a:r>
            <a:r>
              <a:rPr lang="en-US" altLang="zh-TW" dirty="0"/>
              <a:t>——</a:t>
            </a:r>
            <a:r>
              <a:rPr lang="zh-TW" altLang="en-US" dirty="0"/>
              <a:t>創建一個模型管理類，然後將其作為第二個參數傳遞給</a:t>
            </a:r>
            <a:r>
              <a:rPr lang="en-US" altLang="zh-TW" dirty="0" err="1"/>
              <a:t>admin.site.register</a:t>
            </a:r>
            <a:r>
              <a:rPr lang="en-US" altLang="zh-TW" dirty="0"/>
              <a:t>()——</a:t>
            </a:r>
            <a:r>
              <a:rPr lang="zh-TW" altLang="en-US" dirty="0"/>
              <a:t>每當您需要更改模型的管理選項時。</a:t>
            </a:r>
          </a:p>
        </p:txBody>
      </p:sp>
    </p:spTree>
    <p:extLst>
      <p:ext uri="{BB962C8B-B14F-4D97-AF65-F5344CB8AC3E}">
        <p14:creationId xmlns:p14="http://schemas.microsoft.com/office/powerpoint/2010/main" val="193702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425C-471C-EE84-E9AA-EBB38E0F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D52D9E83-D935-DCBA-7150-FA8C156A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DF0B9D1-961A-BB0B-19BF-DB45B3FA342E}"/>
              </a:ext>
            </a:extLst>
          </p:cNvPr>
          <p:cNvSpPr txBox="1">
            <a:spLocks/>
          </p:cNvSpPr>
          <p:nvPr/>
        </p:nvSpPr>
        <p:spPr>
          <a:xfrm>
            <a:off x="755576" y="97613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新增相關對象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BA89005-94A6-2102-116E-A868F08E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E309A4-CE86-4F21-AFDB-2A29B945F960}"/>
              </a:ext>
            </a:extLst>
          </p:cNvPr>
          <p:cNvSpPr txBox="1"/>
          <p:nvPr/>
        </p:nvSpPr>
        <p:spPr>
          <a:xfrm>
            <a:off x="806064" y="1459765"/>
            <a:ext cx="8128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好的，我們有了問題管理頁面，但是一個問題</a:t>
            </a:r>
            <a:r>
              <a:rPr lang="en-US" altLang="zh-TW" dirty="0"/>
              <a:t>Question</a:t>
            </a:r>
            <a:r>
              <a:rPr lang="zh-TW" altLang="en-US" dirty="0"/>
              <a:t>有多個 </a:t>
            </a:r>
            <a:r>
              <a:rPr lang="en-US" altLang="zh-TW" dirty="0"/>
              <a:t>Choice</a:t>
            </a:r>
            <a:r>
              <a:rPr lang="zh-TW" altLang="en-US" dirty="0"/>
              <a:t>選項，而管理頁面沒有顯示選項。</a:t>
            </a:r>
          </a:p>
          <a:p>
            <a:r>
              <a:rPr lang="zh-TW" altLang="en-US" dirty="0"/>
              <a:t>然而，解決這個問題有兩種方法。第一種方法是</a:t>
            </a:r>
            <a:r>
              <a:rPr lang="en-US" altLang="zh-TW" dirty="0"/>
              <a:t>Choice </a:t>
            </a:r>
            <a:r>
              <a:rPr lang="zh-TW" altLang="en-US" dirty="0"/>
              <a:t>像我們之前那樣向管理員註冊</a:t>
            </a:r>
            <a:r>
              <a:rPr lang="en-US" altLang="zh-TW" dirty="0"/>
              <a:t>Question</a:t>
            </a:r>
            <a:r>
              <a:rPr lang="zh-TW" altLang="en-US" dirty="0"/>
              <a:t>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01736D-1882-DB1A-035D-F5B37C594BE2}"/>
              </a:ext>
            </a:extLst>
          </p:cNvPr>
          <p:cNvSpPr txBox="1"/>
          <p:nvPr/>
        </p:nvSpPr>
        <p:spPr>
          <a:xfrm>
            <a:off x="806064" y="2995573"/>
            <a:ext cx="8337936" cy="138499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from </a:t>
            </a:r>
            <a:r>
              <a:rPr lang="en-US" altLang="zh-TW" sz="1400" dirty="0" err="1">
                <a:solidFill>
                  <a:srgbClr val="FFFFFF"/>
                </a:solidFill>
              </a:rPr>
              <a:t>django.contrib</a:t>
            </a:r>
            <a:r>
              <a:rPr lang="en-US" altLang="zh-TW" sz="1400" dirty="0">
                <a:solidFill>
                  <a:srgbClr val="FFFFFF"/>
                </a:solidFill>
              </a:rPr>
              <a:t> import admin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from .models import Choice, Question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# ...</a:t>
            </a:r>
          </a:p>
          <a:p>
            <a:r>
              <a:rPr lang="en-US" altLang="zh-TW" sz="1400" dirty="0" err="1">
                <a:solidFill>
                  <a:srgbClr val="FFFFFF"/>
                </a:solidFill>
              </a:rPr>
              <a:t>admin.site.register</a:t>
            </a:r>
            <a:r>
              <a:rPr lang="en-US" altLang="zh-TW" sz="1400" dirty="0">
                <a:solidFill>
                  <a:srgbClr val="FFFFFF"/>
                </a:solidFill>
              </a:rPr>
              <a:t>(Choice)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FA238AAD-8A74-468E-3491-ED2489E48C3E}"/>
              </a:ext>
            </a:extLst>
          </p:cNvPr>
          <p:cNvSpPr txBox="1"/>
          <p:nvPr/>
        </p:nvSpPr>
        <p:spPr>
          <a:xfrm>
            <a:off x="806064" y="2718574"/>
            <a:ext cx="117364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admin.py</a:t>
            </a:r>
            <a:r>
              <a:rPr lang="zh-TW" altLang="en-US" sz="1200" b="1" dirty="0">
                <a:solidFill>
                  <a:srgbClr val="FFFFFF"/>
                </a:solidFill>
              </a:rPr>
              <a:t> 內容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3F3FCB-E49F-8314-BE91-22168A0260EC}"/>
              </a:ext>
            </a:extLst>
          </p:cNvPr>
          <p:cNvSpPr txBox="1"/>
          <p:nvPr/>
        </p:nvSpPr>
        <p:spPr>
          <a:xfrm>
            <a:off x="755576" y="4589860"/>
            <a:ext cx="8128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在這種表單中，「問題」欄位是一個下拉框，其中包含資料庫中的所有問題。 </a:t>
            </a:r>
            <a:r>
              <a:rPr lang="en-US" altLang="zh-TW" dirty="0"/>
              <a:t>Django </a:t>
            </a:r>
            <a:r>
              <a:rPr lang="zh-TW" altLang="en-US" dirty="0"/>
              <a:t>知道</a:t>
            </a:r>
            <a:r>
              <a:rPr lang="en-US" altLang="zh-TW" dirty="0" err="1"/>
              <a:t>ForeignKey</a:t>
            </a:r>
            <a:r>
              <a:rPr lang="zh-TW" altLang="en-US" dirty="0"/>
              <a:t>在管理後台中應該將其表示為</a:t>
            </a:r>
            <a:r>
              <a:rPr lang="en-US" altLang="zh-TW" dirty="0"/>
              <a:t>&lt;select&gt;</a:t>
            </a:r>
            <a:r>
              <a:rPr lang="zh-TW" altLang="en-US" dirty="0"/>
              <a:t>下拉方塊。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任何與</a:t>
            </a:r>
            <a:r>
              <a:rPr lang="en-US" altLang="zh-TW" b="1" dirty="0" err="1"/>
              <a:t>ForeignKey</a:t>
            </a:r>
            <a:r>
              <a:rPr lang="zh-TW" altLang="en-US" dirty="0"/>
              <a:t>其他物件存在關聯的物件都會自動獲得此功能。點擊「新增另一個問題」後，會彈出一個包含「新增問題」表單的視窗。如果您在該視窗中新增問題並點擊“儲存”，</a:t>
            </a:r>
            <a:r>
              <a:rPr lang="en-US" altLang="zh-TW" dirty="0"/>
              <a:t>Django </a:t>
            </a:r>
            <a:r>
              <a:rPr lang="zh-TW" altLang="en-US" dirty="0"/>
              <a:t>會將問題儲存到資料庫，並將其動態新增至您正在查看的“新增選項”表單中，作為已選選項。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3515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369A-4DEB-6A31-4C7E-B3EF02CF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160BB1F-573D-0F18-FB05-CB29E7A9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46F229-5410-4821-E3B5-42FF50B2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408CC3E-89E5-78B1-9677-CB357A67D99B}"/>
              </a:ext>
            </a:extLst>
          </p:cNvPr>
          <p:cNvSpPr txBox="1"/>
          <p:nvPr/>
        </p:nvSpPr>
        <p:spPr>
          <a:xfrm>
            <a:off x="910772" y="1007949"/>
            <a:ext cx="8128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但實際上，這種向系統中添加物件的方式效率很低</a:t>
            </a:r>
            <a:r>
              <a:rPr lang="en-US" altLang="zh-TW" dirty="0"/>
              <a:t>Choice</a:t>
            </a:r>
            <a:r>
              <a:rPr lang="zh-TW" altLang="en-US" dirty="0"/>
              <a:t>。如果能在建立物件時直接新增多個選項就更好了 </a:t>
            </a:r>
            <a:r>
              <a:rPr lang="en-US" altLang="zh-TW" dirty="0"/>
              <a:t>Question</a:t>
            </a:r>
            <a:r>
              <a:rPr lang="zh-TW" altLang="en-US" dirty="0"/>
              <a:t>。我們來實現這一點吧。</a:t>
            </a:r>
          </a:p>
          <a:p>
            <a:endParaRPr lang="zh-TW" altLang="en-US" dirty="0"/>
          </a:p>
          <a:p>
            <a:r>
              <a:rPr lang="zh-TW" altLang="en-US" dirty="0"/>
              <a:t>移除</a:t>
            </a:r>
            <a:r>
              <a:rPr lang="en-US" altLang="zh-TW" dirty="0"/>
              <a:t>register()</a:t>
            </a:r>
            <a:r>
              <a:rPr lang="zh-TW" altLang="en-US" dirty="0"/>
              <a:t>對</a:t>
            </a:r>
            <a:r>
              <a:rPr lang="en-US" altLang="zh-TW" dirty="0"/>
              <a:t>Choice</a:t>
            </a:r>
            <a:r>
              <a:rPr lang="zh-TW" altLang="en-US" dirty="0"/>
              <a:t>模型的呼叫。然後，將</a:t>
            </a:r>
            <a:r>
              <a:rPr lang="en-US" altLang="zh-TW" dirty="0"/>
              <a:t>Question </a:t>
            </a:r>
            <a:r>
              <a:rPr lang="zh-TW" altLang="en-US" dirty="0"/>
              <a:t>註冊碼修改為：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4C09C5-753B-3D96-3786-6B41DF03CD46}"/>
              </a:ext>
            </a:extLst>
          </p:cNvPr>
          <p:cNvSpPr txBox="1"/>
          <p:nvPr/>
        </p:nvSpPr>
        <p:spPr>
          <a:xfrm>
            <a:off x="844044" y="2581270"/>
            <a:ext cx="8337936" cy="3539430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from </a:t>
            </a:r>
            <a:r>
              <a:rPr lang="en-US" altLang="zh-TW" sz="1400" dirty="0" err="1">
                <a:solidFill>
                  <a:srgbClr val="FFFFFF"/>
                </a:solidFill>
              </a:rPr>
              <a:t>django.contrib</a:t>
            </a:r>
            <a:r>
              <a:rPr lang="en-US" altLang="zh-TW" sz="1400" dirty="0">
                <a:solidFill>
                  <a:srgbClr val="FFFFFF"/>
                </a:solidFill>
              </a:rPr>
              <a:t> import admin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from .models import Choice, Question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class </a:t>
            </a:r>
            <a:r>
              <a:rPr lang="en-US" altLang="zh-TW" sz="1400" dirty="0" err="1">
                <a:solidFill>
                  <a:srgbClr val="FFFFFF"/>
                </a:solidFill>
              </a:rPr>
              <a:t>ChoiceInline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admin.StackedInline</a:t>
            </a:r>
            <a:r>
              <a:rPr lang="en-US" altLang="zh-TW" sz="1400" dirty="0">
                <a:solidFill>
                  <a:srgbClr val="FFFFFF"/>
                </a:solidFill>
              </a:rPr>
              <a:t>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model = Choice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extra = 3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class </a:t>
            </a:r>
            <a:r>
              <a:rPr lang="en-US" altLang="zh-TW" sz="1400" dirty="0" err="1">
                <a:solidFill>
                  <a:srgbClr val="FFFFFF"/>
                </a:solidFill>
              </a:rPr>
              <a:t>QuestionAdmin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admin.ModelAdmin</a:t>
            </a:r>
            <a:r>
              <a:rPr lang="en-US" altLang="zh-TW" sz="1400" dirty="0">
                <a:solidFill>
                  <a:srgbClr val="FFFFFF"/>
                </a:solidFill>
              </a:rPr>
              <a:t>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</a:t>
            </a:r>
            <a:r>
              <a:rPr lang="en-US" altLang="zh-TW" sz="1400" dirty="0" err="1">
                <a:solidFill>
                  <a:srgbClr val="FFFFFF"/>
                </a:solidFill>
              </a:rPr>
              <a:t>fieldsets</a:t>
            </a:r>
            <a:r>
              <a:rPr lang="en-US" altLang="zh-TW" sz="1400" dirty="0">
                <a:solidFill>
                  <a:srgbClr val="FFFFFF"/>
                </a:solidFill>
              </a:rPr>
              <a:t> = [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(None, {"fields": ["</a:t>
            </a:r>
            <a:r>
              <a:rPr lang="en-US" altLang="zh-TW" sz="1400" dirty="0" err="1">
                <a:solidFill>
                  <a:srgbClr val="FFFFFF"/>
                </a:solidFill>
              </a:rPr>
              <a:t>question_text</a:t>
            </a:r>
            <a:r>
              <a:rPr lang="en-US" altLang="zh-TW" sz="1400" dirty="0">
                <a:solidFill>
                  <a:srgbClr val="FFFFFF"/>
                </a:solidFill>
              </a:rPr>
              <a:t>"]}),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("Date information", {"fields": ["</a:t>
            </a:r>
            <a:r>
              <a:rPr lang="en-US" altLang="zh-TW" sz="1400" dirty="0" err="1">
                <a:solidFill>
                  <a:srgbClr val="FFFFFF"/>
                </a:solidFill>
              </a:rPr>
              <a:t>pub_date</a:t>
            </a:r>
            <a:r>
              <a:rPr lang="en-US" altLang="zh-TW" sz="1400" dirty="0">
                <a:solidFill>
                  <a:srgbClr val="FFFFFF"/>
                </a:solidFill>
              </a:rPr>
              <a:t>"], "classes": ["collapse"]}),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]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</a:t>
            </a:r>
            <a:r>
              <a:rPr lang="en-US" altLang="zh-TW" sz="1400" dirty="0" err="1">
                <a:solidFill>
                  <a:srgbClr val="FFFFFF"/>
                </a:solidFill>
              </a:rPr>
              <a:t>inlines</a:t>
            </a:r>
            <a:r>
              <a:rPr lang="en-US" altLang="zh-TW" sz="1400" dirty="0">
                <a:solidFill>
                  <a:srgbClr val="FFFFFF"/>
                </a:solidFill>
              </a:rPr>
              <a:t> = [</a:t>
            </a:r>
            <a:r>
              <a:rPr lang="en-US" altLang="zh-TW" sz="1400" dirty="0" err="1">
                <a:solidFill>
                  <a:srgbClr val="FFFFFF"/>
                </a:solidFill>
              </a:rPr>
              <a:t>ChoiceInline</a:t>
            </a:r>
            <a:r>
              <a:rPr lang="en-US" altLang="zh-TW" sz="1400" dirty="0">
                <a:solidFill>
                  <a:srgbClr val="FFFFFF"/>
                </a:solidFill>
              </a:rPr>
              <a:t>]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 err="1">
                <a:solidFill>
                  <a:srgbClr val="FFFFFF"/>
                </a:solidFill>
              </a:rPr>
              <a:t>admin.site.register</a:t>
            </a:r>
            <a:r>
              <a:rPr lang="en-US" altLang="zh-TW" sz="1400" dirty="0">
                <a:solidFill>
                  <a:srgbClr val="FFFFFF"/>
                </a:solidFill>
              </a:rPr>
              <a:t>(Question, </a:t>
            </a:r>
            <a:r>
              <a:rPr lang="en-US" altLang="zh-TW" sz="1400" dirty="0" err="1">
                <a:solidFill>
                  <a:srgbClr val="FFFFFF"/>
                </a:solidFill>
              </a:rPr>
              <a:t>QuestionAdmin</a:t>
            </a:r>
            <a:r>
              <a:rPr lang="en-US" altLang="zh-TW" sz="1400" dirty="0">
                <a:solidFill>
                  <a:srgbClr val="FFFFFF"/>
                </a:solidFill>
              </a:rPr>
              <a:t>)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23789627-0720-39C9-43DC-9B0D4573F071}"/>
              </a:ext>
            </a:extLst>
          </p:cNvPr>
          <p:cNvSpPr txBox="1"/>
          <p:nvPr/>
        </p:nvSpPr>
        <p:spPr>
          <a:xfrm>
            <a:off x="844044" y="2304271"/>
            <a:ext cx="117364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admin.py</a:t>
            </a:r>
            <a:r>
              <a:rPr lang="zh-TW" altLang="en-US" sz="1200" b="1" dirty="0">
                <a:solidFill>
                  <a:srgbClr val="FFFFFF"/>
                </a:solidFill>
              </a:rPr>
              <a:t> 內容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4EEDABB-3010-113D-49B3-1FB861315E6A}"/>
              </a:ext>
            </a:extLst>
          </p:cNvPr>
          <p:cNvSpPr txBox="1"/>
          <p:nvPr/>
        </p:nvSpPr>
        <p:spPr>
          <a:xfrm>
            <a:off x="833881" y="6309026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這告訴 </a:t>
            </a:r>
            <a:r>
              <a:rPr lang="en-US" altLang="zh-TW" dirty="0"/>
              <a:t>Django</a:t>
            </a:r>
            <a:r>
              <a:rPr lang="zh-TW" altLang="en-US" dirty="0"/>
              <a:t>：“</a:t>
            </a:r>
            <a:r>
              <a:rPr lang="en-US" altLang="zh-TW" b="1" dirty="0"/>
              <a:t>Choice</a:t>
            </a:r>
            <a:r>
              <a:rPr lang="zh-TW" altLang="en-US" dirty="0"/>
              <a:t>物件在管理頁面進行編輯</a:t>
            </a:r>
            <a:r>
              <a:rPr lang="en-US" altLang="zh-TW" b="1" dirty="0"/>
              <a:t>Question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09568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3E9F-0E24-7C4A-9A35-AA378A2B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E551241-2249-DA16-29B0-B9D6A742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FA0A4E5-D9C4-FF62-0DC4-66F2BA95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CF1E73-ED48-7DFD-3C66-843023E845BD}"/>
              </a:ext>
            </a:extLst>
          </p:cNvPr>
          <p:cNvSpPr txBox="1"/>
          <p:nvPr/>
        </p:nvSpPr>
        <p:spPr>
          <a:xfrm>
            <a:off x="753200" y="1358608"/>
            <a:ext cx="8128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它的工作原理如下：有三個用於相關選擇的槽位</a:t>
            </a:r>
            <a:r>
              <a:rPr lang="en-US" altLang="zh-TW" dirty="0"/>
              <a:t>——</a:t>
            </a:r>
            <a:r>
              <a:rPr lang="zh-TW" altLang="en-US" dirty="0"/>
              <a:t>由</a:t>
            </a:r>
            <a:r>
              <a:rPr lang="en-US" altLang="zh-TW" dirty="0"/>
              <a:t>…</a:t>
            </a:r>
            <a:r>
              <a:rPr lang="zh-TW" altLang="en-US" dirty="0"/>
              <a:t>指定</a:t>
            </a:r>
            <a:r>
              <a:rPr lang="en-US" altLang="zh-TW" dirty="0"/>
              <a:t>extra——</a:t>
            </a:r>
            <a:r>
              <a:rPr lang="zh-TW" altLang="en-US" dirty="0"/>
              <a:t>每次您返回到已創建對象的“更改”頁面時，您都會獲得另外三個額外的槽位。</a:t>
            </a:r>
          </a:p>
          <a:p>
            <a:endParaRPr lang="en-US" altLang="zh-TW" dirty="0"/>
          </a:p>
          <a:p>
            <a:r>
              <a:rPr lang="zh-TW" altLang="en-US" dirty="0"/>
              <a:t>在三個現有選項的末尾，您會找到「新增另一個選項」連結。點擊該鏈接，即可新增一個新的選項。如果您想要移除已新增的選項，可以點選該選項右上角的「</a:t>
            </a:r>
            <a:r>
              <a:rPr lang="en-US" altLang="zh-TW" dirty="0"/>
              <a:t>X</a:t>
            </a:r>
            <a:r>
              <a:rPr lang="zh-TW" altLang="en-US" dirty="0"/>
              <a:t>」。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1A049E-0E46-DD22-CD7A-5B95443E45CB}"/>
              </a:ext>
            </a:extLst>
          </p:cNvPr>
          <p:cNvSpPr txBox="1"/>
          <p:nvPr/>
        </p:nvSpPr>
        <p:spPr>
          <a:xfrm>
            <a:off x="781166" y="4530398"/>
            <a:ext cx="8337936" cy="523220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class </a:t>
            </a:r>
            <a:r>
              <a:rPr lang="en-US" altLang="zh-TW" sz="1400" dirty="0" err="1">
                <a:solidFill>
                  <a:srgbClr val="FFFFFF"/>
                </a:solidFill>
              </a:rPr>
              <a:t>ChoiceInline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admin.TabularInline</a:t>
            </a:r>
            <a:r>
              <a:rPr lang="en-US" altLang="zh-TW" sz="1400" dirty="0">
                <a:solidFill>
                  <a:srgbClr val="FFFFFF"/>
                </a:solidFill>
              </a:rPr>
              <a:t>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...</a:t>
            </a: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2BFC2DC-A2DE-6771-B8AA-3F631FB1E03D}"/>
              </a:ext>
            </a:extLst>
          </p:cNvPr>
          <p:cNvSpPr txBox="1"/>
          <p:nvPr/>
        </p:nvSpPr>
        <p:spPr>
          <a:xfrm>
            <a:off x="781166" y="4253399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admin.py</a:t>
            </a:r>
            <a:endParaRPr lang="zh-TW" altLang="en-US" sz="1200" b="1" dirty="0">
              <a:solidFill>
                <a:srgbClr val="FFFF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546C1AC-34AC-4385-E641-9B3B2789BCA0}"/>
              </a:ext>
            </a:extLst>
          </p:cNvPr>
          <p:cNvSpPr txBox="1"/>
          <p:nvPr/>
        </p:nvSpPr>
        <p:spPr>
          <a:xfrm>
            <a:off x="722432" y="3270269"/>
            <a:ext cx="8128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顯示所有用於輸入相關物件的欄位會佔用大量螢幕空間</a:t>
            </a:r>
            <a:r>
              <a:rPr lang="en-US" altLang="zh-TW" b="1" dirty="0"/>
              <a:t>Choice</a:t>
            </a:r>
            <a:r>
              <a:rPr lang="zh-TW" altLang="en-US" dirty="0"/>
              <a:t>。因此，</a:t>
            </a:r>
            <a:r>
              <a:rPr lang="en-US" altLang="zh-TW" dirty="0"/>
              <a:t>Django </a:t>
            </a:r>
            <a:r>
              <a:rPr lang="zh-TW" altLang="en-US" dirty="0"/>
              <a:t>提供了一種表格形式來顯示內聯相關物件。若要使用這種方法，請將聲明變更為 </a:t>
            </a:r>
            <a:r>
              <a:rPr lang="en-US" altLang="zh-TW" b="1" dirty="0" err="1"/>
              <a:t>ChoiceInline</a:t>
            </a:r>
            <a:r>
              <a:rPr lang="zh-TW" altLang="en-US" dirty="0"/>
              <a:t>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43CA1DD-CF20-C09B-6637-8859EC45A84B}"/>
              </a:ext>
            </a:extLst>
          </p:cNvPr>
          <p:cNvSpPr txBox="1"/>
          <p:nvPr/>
        </p:nvSpPr>
        <p:spPr>
          <a:xfrm>
            <a:off x="745573" y="5394186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這樣一來</a:t>
            </a:r>
            <a:r>
              <a:rPr lang="en-US" altLang="zh-TW" b="1" dirty="0" err="1"/>
              <a:t>TabularInline</a:t>
            </a:r>
            <a:r>
              <a:rPr lang="zh-TW" altLang="en-US" dirty="0"/>
              <a:t>（而不是</a:t>
            </a:r>
            <a:r>
              <a:rPr lang="en-US" altLang="zh-TW" b="1" dirty="0" err="1"/>
              <a:t>StackedInline</a:t>
            </a:r>
            <a:r>
              <a:rPr lang="zh-TW" altLang="en-US" dirty="0"/>
              <a:t>），相關物件將以更緊湊的表格格式顯示。</a:t>
            </a:r>
          </a:p>
        </p:txBody>
      </p:sp>
    </p:spTree>
    <p:extLst>
      <p:ext uri="{BB962C8B-B14F-4D97-AF65-F5344CB8AC3E}">
        <p14:creationId xmlns:p14="http://schemas.microsoft.com/office/powerpoint/2010/main" val="148883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15AA9-0D1D-192C-1513-C409FC25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B589FA8-BF70-7562-603B-9E46F8E5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91E47E0-29FD-310D-EB75-3E6B829B9AB6}"/>
              </a:ext>
            </a:extLst>
          </p:cNvPr>
          <p:cNvSpPr txBox="1">
            <a:spLocks/>
          </p:cNvSpPr>
          <p:nvPr/>
        </p:nvSpPr>
        <p:spPr>
          <a:xfrm>
            <a:off x="722432" y="90066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自訂管理員更改清單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21ED49E-40B6-7893-AD26-F74749E8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D930525-127C-2908-43CE-DA6A8F6D5E69}"/>
              </a:ext>
            </a:extLst>
          </p:cNvPr>
          <p:cNvSpPr txBox="1"/>
          <p:nvPr/>
        </p:nvSpPr>
        <p:spPr>
          <a:xfrm>
            <a:off x="753200" y="1358608"/>
            <a:ext cx="8128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預設情況下，</a:t>
            </a:r>
            <a:r>
              <a:rPr lang="en-US" altLang="zh-TW" dirty="0"/>
              <a:t>Django </a:t>
            </a:r>
            <a:r>
              <a:rPr lang="zh-TW" altLang="en-US" dirty="0"/>
              <a:t>會顯示</a:t>
            </a:r>
            <a:r>
              <a:rPr lang="en-US" altLang="zh-TW" dirty="0"/>
              <a:t>str()</a:t>
            </a:r>
            <a:r>
              <a:rPr lang="zh-TW" altLang="en-US" dirty="0"/>
              <a:t>每個物件的屬性。但有時，如果我們能夠顯示單個字段，會更有幫助。為此，可以使用 </a:t>
            </a:r>
            <a:r>
              <a:rPr lang="en-US" altLang="zh-TW" dirty="0" err="1"/>
              <a:t>list_displayadmin</a:t>
            </a:r>
            <a:r>
              <a:rPr lang="en-US" altLang="zh-TW" dirty="0"/>
              <a:t> </a:t>
            </a:r>
            <a:r>
              <a:rPr lang="zh-TW" altLang="en-US" dirty="0"/>
              <a:t>選項，該選項是一個欄位名稱元組，用於在物件的變更清單頁面上以列的形式顯示這些欄位：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AD43C03-A27B-B82C-933B-EB4EE563925C}"/>
              </a:ext>
            </a:extLst>
          </p:cNvPr>
          <p:cNvSpPr txBox="1"/>
          <p:nvPr/>
        </p:nvSpPr>
        <p:spPr>
          <a:xfrm>
            <a:off x="782836" y="2591729"/>
            <a:ext cx="8337936" cy="738664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class </a:t>
            </a:r>
            <a:r>
              <a:rPr lang="en-US" altLang="zh-TW" sz="1400" dirty="0" err="1">
                <a:solidFill>
                  <a:srgbClr val="FFFFFF"/>
                </a:solidFill>
              </a:rPr>
              <a:t>QuestionAdmin</a:t>
            </a:r>
            <a:r>
              <a:rPr lang="en-US" altLang="zh-TW" sz="1400" dirty="0">
                <a:solidFill>
                  <a:srgbClr val="FFFFFF"/>
                </a:solidFill>
              </a:rPr>
              <a:t>(</a:t>
            </a:r>
            <a:r>
              <a:rPr lang="en-US" altLang="zh-TW" sz="1400" dirty="0" err="1">
                <a:solidFill>
                  <a:srgbClr val="FFFFFF"/>
                </a:solidFill>
              </a:rPr>
              <a:t>admin.ModelAdmin</a:t>
            </a:r>
            <a:r>
              <a:rPr lang="en-US" altLang="zh-TW" sz="1400" dirty="0">
                <a:solidFill>
                  <a:srgbClr val="FFFFFF"/>
                </a:solidFill>
              </a:rPr>
              <a:t>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# ...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</a:t>
            </a:r>
            <a:r>
              <a:rPr lang="en-US" altLang="zh-TW" sz="1400" dirty="0" err="1">
                <a:solidFill>
                  <a:srgbClr val="FFFFFF"/>
                </a:solidFill>
              </a:rPr>
              <a:t>list_display</a:t>
            </a:r>
            <a:r>
              <a:rPr lang="en-US" altLang="zh-TW" sz="1400" dirty="0">
                <a:solidFill>
                  <a:srgbClr val="FFFFFF"/>
                </a:solidFill>
              </a:rPr>
              <a:t> = ["</a:t>
            </a:r>
            <a:r>
              <a:rPr lang="en-US" altLang="zh-TW" sz="1400" dirty="0" err="1">
                <a:solidFill>
                  <a:srgbClr val="FFFFFF"/>
                </a:solidFill>
              </a:rPr>
              <a:t>question_text</a:t>
            </a:r>
            <a:r>
              <a:rPr lang="en-US" altLang="zh-TW" sz="1400" dirty="0">
                <a:solidFill>
                  <a:srgbClr val="FFFFFF"/>
                </a:solidFill>
              </a:rPr>
              <a:t>", "</a:t>
            </a:r>
            <a:r>
              <a:rPr lang="en-US" altLang="zh-TW" sz="1400" dirty="0" err="1">
                <a:solidFill>
                  <a:srgbClr val="FFFFFF"/>
                </a:solidFill>
              </a:rPr>
              <a:t>pub_date</a:t>
            </a:r>
            <a:r>
              <a:rPr lang="en-US" altLang="zh-TW" sz="1400" dirty="0">
                <a:solidFill>
                  <a:srgbClr val="FFFFFF"/>
                </a:solidFill>
              </a:rPr>
              <a:t>"]</a:t>
            </a: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BFEA861E-E37B-08AB-AFEB-160320D941DD}"/>
              </a:ext>
            </a:extLst>
          </p:cNvPr>
          <p:cNvSpPr txBox="1"/>
          <p:nvPr/>
        </p:nvSpPr>
        <p:spPr>
          <a:xfrm>
            <a:off x="782836" y="2314730"/>
            <a:ext cx="1065128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admin.py</a:t>
            </a:r>
            <a:endParaRPr lang="zh-TW" altLang="en-US" sz="1200" b="1" dirty="0">
              <a:solidFill>
                <a:srgbClr val="FFFF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333C3A4-58EF-5E43-5134-72415F29254D}"/>
              </a:ext>
            </a:extLst>
          </p:cNvPr>
          <p:cNvSpPr txBox="1"/>
          <p:nvPr/>
        </p:nvSpPr>
        <p:spPr>
          <a:xfrm>
            <a:off x="722432" y="3595203"/>
            <a:ext cx="8128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您可以點擊列標題按這些值排序</a:t>
            </a:r>
            <a:r>
              <a:rPr lang="en-US" altLang="zh-TW" dirty="0"/>
              <a:t>——</a:t>
            </a:r>
            <a:r>
              <a:rPr lang="zh-TW" altLang="en-US" dirty="0"/>
              <a:t>但標題行除外</a:t>
            </a:r>
            <a:r>
              <a:rPr lang="en-US" altLang="zh-TW" b="1" dirty="0" err="1"/>
              <a:t>was_published_recently</a:t>
            </a:r>
            <a:r>
              <a:rPr lang="zh-TW" altLang="en-US" dirty="0"/>
              <a:t>，因為不支援按任意方法的輸出排序。另請注意， </a:t>
            </a:r>
            <a:r>
              <a:rPr lang="en-US" altLang="zh-TW" b="1" dirty="0" err="1"/>
              <a:t>was_published_recently</a:t>
            </a:r>
            <a:r>
              <a:rPr lang="zh-TW" altLang="en-US" dirty="0"/>
              <a:t>預設情況下，列標題是方法名稱（下劃線替換為空格），並且每一行都包含輸出的字串表示形式。</a:t>
            </a:r>
          </a:p>
        </p:txBody>
      </p:sp>
    </p:spTree>
    <p:extLst>
      <p:ext uri="{BB962C8B-B14F-4D97-AF65-F5344CB8AC3E}">
        <p14:creationId xmlns:p14="http://schemas.microsoft.com/office/powerpoint/2010/main" val="113978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BBFB-9A4C-B0DC-0A69-77E2377E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BCF5F37-B234-0D05-B843-A170F352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3BD22DA-FF4E-D605-157F-161764B9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FD6FCE9-CDC5-056F-E49E-65479F5B00F7}"/>
              </a:ext>
            </a:extLst>
          </p:cNvPr>
          <p:cNvSpPr txBox="1"/>
          <p:nvPr/>
        </p:nvSpPr>
        <p:spPr>
          <a:xfrm>
            <a:off x="659436" y="2039750"/>
            <a:ext cx="8337936" cy="2893100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from </a:t>
            </a:r>
            <a:r>
              <a:rPr lang="en-US" altLang="zh-TW" sz="1400" dirty="0" err="1">
                <a:solidFill>
                  <a:srgbClr val="FFFFFF"/>
                </a:solidFill>
              </a:rPr>
              <a:t>django.contrib</a:t>
            </a:r>
            <a:r>
              <a:rPr lang="en-US" altLang="zh-TW" sz="1400" dirty="0">
                <a:solidFill>
                  <a:srgbClr val="FFFFFF"/>
                </a:solidFill>
              </a:rPr>
              <a:t> import admin</a:t>
            </a: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en-US" altLang="zh-TW" sz="1400" dirty="0">
                <a:solidFill>
                  <a:srgbClr val="FFFFFF"/>
                </a:solidFill>
              </a:rPr>
              <a:t>class Question(</a:t>
            </a:r>
            <a:r>
              <a:rPr lang="en-US" altLang="zh-TW" sz="1400" dirty="0" err="1">
                <a:solidFill>
                  <a:srgbClr val="FFFFFF"/>
                </a:solidFill>
              </a:rPr>
              <a:t>models.Model</a:t>
            </a:r>
            <a:r>
              <a:rPr lang="en-US" altLang="zh-TW" sz="1400" dirty="0">
                <a:solidFill>
                  <a:srgbClr val="FFFFFF"/>
                </a:solidFill>
              </a:rPr>
              <a:t>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# ...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@admin.display(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</a:t>
            </a:r>
            <a:r>
              <a:rPr lang="en-US" altLang="zh-TW" sz="1400" dirty="0" err="1">
                <a:solidFill>
                  <a:srgbClr val="FFFFFF"/>
                </a:solidFill>
              </a:rPr>
              <a:t>boolean</a:t>
            </a:r>
            <a:r>
              <a:rPr lang="en-US" altLang="zh-TW" sz="1400" dirty="0">
                <a:solidFill>
                  <a:srgbClr val="FFFFFF"/>
                </a:solidFill>
              </a:rPr>
              <a:t>=True,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ordering="</a:t>
            </a:r>
            <a:r>
              <a:rPr lang="en-US" altLang="zh-TW" sz="1400" dirty="0" err="1">
                <a:solidFill>
                  <a:srgbClr val="FFFFFF"/>
                </a:solidFill>
              </a:rPr>
              <a:t>pub_date</a:t>
            </a:r>
            <a:r>
              <a:rPr lang="en-US" altLang="zh-TW" sz="1400" dirty="0">
                <a:solidFill>
                  <a:srgbClr val="FFFFFF"/>
                </a:solidFill>
              </a:rPr>
              <a:t>",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description="Published recently?",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def </a:t>
            </a:r>
            <a:r>
              <a:rPr lang="en-US" altLang="zh-TW" sz="1400" dirty="0" err="1">
                <a:solidFill>
                  <a:srgbClr val="FFFFFF"/>
                </a:solidFill>
              </a:rPr>
              <a:t>was_published_recently</a:t>
            </a:r>
            <a:r>
              <a:rPr lang="en-US" altLang="zh-TW" sz="1400" dirty="0">
                <a:solidFill>
                  <a:srgbClr val="FFFFFF"/>
                </a:solidFill>
              </a:rPr>
              <a:t>(self):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now = </a:t>
            </a:r>
            <a:r>
              <a:rPr lang="en-US" altLang="zh-TW" sz="1400" dirty="0" err="1">
                <a:solidFill>
                  <a:srgbClr val="FFFFFF"/>
                </a:solidFill>
              </a:rPr>
              <a:t>timezone.now</a:t>
            </a:r>
            <a:r>
              <a:rPr lang="en-US" altLang="zh-TW" sz="1400" dirty="0">
                <a:solidFill>
                  <a:srgbClr val="FFFFFF"/>
                </a:solidFill>
              </a:rPr>
              <a:t>()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return now - </a:t>
            </a:r>
            <a:r>
              <a:rPr lang="en-US" altLang="zh-TW" sz="1400" dirty="0" err="1">
                <a:solidFill>
                  <a:srgbClr val="FFFFFF"/>
                </a:solidFill>
              </a:rPr>
              <a:t>datetime.timedelta</a:t>
            </a:r>
            <a:r>
              <a:rPr lang="en-US" altLang="zh-TW" sz="1400" dirty="0">
                <a:solidFill>
                  <a:srgbClr val="FFFFFF"/>
                </a:solidFill>
              </a:rPr>
              <a:t>(days=1) &lt;= </a:t>
            </a:r>
            <a:r>
              <a:rPr lang="en-US" altLang="zh-TW" sz="1400" dirty="0" err="1">
                <a:solidFill>
                  <a:srgbClr val="FFFFFF"/>
                </a:solidFill>
              </a:rPr>
              <a:t>self.pub_date</a:t>
            </a:r>
            <a:r>
              <a:rPr lang="en-US" altLang="zh-TW" sz="1400" dirty="0">
                <a:solidFill>
                  <a:srgbClr val="FFFFFF"/>
                </a:solidFill>
              </a:rPr>
              <a:t> &lt;= now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56110C6-5A90-A574-8BFB-6D33BFB24EA4}"/>
              </a:ext>
            </a:extLst>
          </p:cNvPr>
          <p:cNvSpPr txBox="1"/>
          <p:nvPr/>
        </p:nvSpPr>
        <p:spPr>
          <a:xfrm>
            <a:off x="659436" y="1762751"/>
            <a:ext cx="1625416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polls/models.py</a:t>
            </a:r>
            <a:r>
              <a:rPr lang="zh-TW" altLang="en-US" sz="1200" b="1" dirty="0">
                <a:solidFill>
                  <a:srgbClr val="FFFFFF"/>
                </a:solidFill>
              </a:rPr>
              <a:t>內容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E115940-09AC-C1EF-B018-27FD5B098410}"/>
              </a:ext>
            </a:extLst>
          </p:cNvPr>
          <p:cNvSpPr txBox="1"/>
          <p:nvPr/>
        </p:nvSpPr>
        <p:spPr>
          <a:xfrm>
            <a:off x="628562" y="1033158"/>
            <a:ext cx="812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你可以透過</a:t>
            </a:r>
            <a:r>
              <a:rPr lang="en-US" altLang="zh-TW" dirty="0"/>
              <a:t>display() </a:t>
            </a:r>
            <a:r>
              <a:rPr lang="zh-TW" altLang="en-US" dirty="0"/>
              <a:t>在該方法上使用裝飾器（在</a:t>
            </a:r>
            <a:r>
              <a:rPr lang="en-US" altLang="zh-TW" dirty="0"/>
              <a:t>polls/models.py</a:t>
            </a:r>
            <a:r>
              <a:rPr lang="zh-TW" altLang="en-US" dirty="0"/>
              <a:t>）來改進它，如下所示：</a:t>
            </a:r>
          </a:p>
        </p:txBody>
      </p:sp>
    </p:spTree>
    <p:extLst>
      <p:ext uri="{BB962C8B-B14F-4D97-AF65-F5344CB8AC3E}">
        <p14:creationId xmlns:p14="http://schemas.microsoft.com/office/powerpoint/2010/main" val="415727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E07E-96C1-DEF4-D373-47DBD39A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C8E0C05-F771-F5ED-F999-8504AE6A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117AC54-BA8F-262F-E85B-CAFAFB32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0528F34-3DBC-90DE-40F3-EBA2D99AD708}"/>
              </a:ext>
            </a:extLst>
          </p:cNvPr>
          <p:cNvSpPr txBox="1"/>
          <p:nvPr/>
        </p:nvSpPr>
        <p:spPr>
          <a:xfrm>
            <a:off x="755576" y="1392774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為</a:t>
            </a:r>
            <a:r>
              <a:rPr lang="en-US" altLang="zh-TW" dirty="0"/>
              <a:t>Question</a:t>
            </a:r>
            <a:r>
              <a:rPr lang="zh-TW" altLang="en-US" dirty="0"/>
              <a:t>更改清單頁面添加一項改進：使用以下篩選器 </a:t>
            </a:r>
            <a:r>
              <a:rPr lang="en-US" altLang="zh-TW" dirty="0" err="1"/>
              <a:t>list_filter</a:t>
            </a:r>
            <a:r>
              <a:rPr lang="zh-TW" altLang="en-US" dirty="0"/>
              <a:t>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1D129F3-A663-1019-3014-C46DE5999952}"/>
              </a:ext>
            </a:extLst>
          </p:cNvPr>
          <p:cNvSpPr txBox="1"/>
          <p:nvPr/>
        </p:nvSpPr>
        <p:spPr>
          <a:xfrm>
            <a:off x="755576" y="2239265"/>
            <a:ext cx="8337936" cy="30777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 err="1">
                <a:solidFill>
                  <a:srgbClr val="FFFFFF"/>
                </a:solidFill>
              </a:rPr>
              <a:t>list_filter</a:t>
            </a:r>
            <a:r>
              <a:rPr lang="en-US" altLang="zh-TW" sz="1400" dirty="0">
                <a:solidFill>
                  <a:srgbClr val="FFFFFF"/>
                </a:solidFill>
              </a:rPr>
              <a:t> = ["</a:t>
            </a:r>
            <a:r>
              <a:rPr lang="en-US" altLang="zh-TW" sz="1400" dirty="0" err="1">
                <a:solidFill>
                  <a:srgbClr val="FFFFFF"/>
                </a:solidFill>
              </a:rPr>
              <a:t>pub_date</a:t>
            </a:r>
            <a:r>
              <a:rPr lang="en-US" altLang="zh-TW" sz="1400" dirty="0">
                <a:solidFill>
                  <a:srgbClr val="FFFFFF"/>
                </a:solidFill>
              </a:rPr>
              <a:t>"]</a:t>
            </a: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939AA507-AAA4-B0B9-75B1-16D03BAC39F9}"/>
              </a:ext>
            </a:extLst>
          </p:cNvPr>
          <p:cNvSpPr txBox="1"/>
          <p:nvPr/>
        </p:nvSpPr>
        <p:spPr>
          <a:xfrm>
            <a:off x="755576" y="1962266"/>
            <a:ext cx="1584176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polls/admin.py</a:t>
            </a:r>
            <a:r>
              <a:rPr lang="zh-TW" altLang="en-US" sz="1200" b="1" dirty="0">
                <a:solidFill>
                  <a:srgbClr val="FFFFFF"/>
                </a:solidFill>
              </a:rPr>
              <a:t>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71D55E4-934D-31FB-C8E4-12FDF4720278}"/>
              </a:ext>
            </a:extLst>
          </p:cNvPr>
          <p:cNvSpPr txBox="1"/>
          <p:nvPr/>
        </p:nvSpPr>
        <p:spPr>
          <a:xfrm>
            <a:off x="755576" y="2734471"/>
            <a:ext cx="8128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這樣就新增了一個「篩選」側邊欄，讓使用者可以按欄位篩選更改清單 </a:t>
            </a:r>
            <a:r>
              <a:rPr lang="en-US" altLang="zh-TW" dirty="0" err="1"/>
              <a:t>pub_date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顯示的篩選器類型取決於您要篩選的欄位類型。因為</a:t>
            </a:r>
            <a:r>
              <a:rPr lang="en-US" altLang="zh-TW" dirty="0" err="1"/>
              <a:t>pub_date</a:t>
            </a:r>
            <a:r>
              <a:rPr lang="zh-TW" altLang="en-US" dirty="0"/>
              <a:t>這是一個值</a:t>
            </a:r>
            <a:r>
              <a:rPr lang="en-US" altLang="zh-TW" dirty="0" err="1"/>
              <a:t>DateTimeField</a:t>
            </a:r>
            <a:r>
              <a:rPr lang="zh-TW" altLang="en-US" dirty="0"/>
              <a:t>，所以 </a:t>
            </a:r>
            <a:r>
              <a:rPr lang="en-US" altLang="zh-TW" dirty="0"/>
              <a:t>Django </a:t>
            </a:r>
            <a:r>
              <a:rPr lang="zh-TW" altLang="en-US" dirty="0"/>
              <a:t>知道要提供相應的篩選選項：「任意日期」、「今天」、「過去 </a:t>
            </a:r>
            <a:r>
              <a:rPr lang="en-US" altLang="zh-TW" dirty="0"/>
              <a:t>7 </a:t>
            </a:r>
            <a:r>
              <a:rPr lang="zh-TW" altLang="en-US" dirty="0"/>
              <a:t>天」、「本月」、「今年」。</a:t>
            </a:r>
          </a:p>
        </p:txBody>
      </p:sp>
    </p:spTree>
    <p:extLst>
      <p:ext uri="{BB962C8B-B14F-4D97-AF65-F5344CB8AC3E}">
        <p14:creationId xmlns:p14="http://schemas.microsoft.com/office/powerpoint/2010/main" val="11599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18473-955F-E082-09B7-0ED6673B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158F598-8439-4413-A8A7-2A0C5273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django</a:t>
            </a:r>
            <a:r>
              <a:rPr lang="en-US" altLang="zh-TW" dirty="0">
                <a:latin typeface="+mn-ea"/>
              </a:rPr>
              <a:t> –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part7 </a:t>
            </a:r>
            <a:r>
              <a:rPr lang="zh-TW" altLang="en-US" dirty="0">
                <a:latin typeface="+mn-ea"/>
              </a:rPr>
              <a:t>自訂管理員表單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175D96A-DCD6-3005-45CC-F862CD29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EF3262F-2793-ABD3-43D3-19CB01A2D9B8}"/>
              </a:ext>
            </a:extLst>
          </p:cNvPr>
          <p:cNvSpPr txBox="1"/>
          <p:nvPr/>
        </p:nvSpPr>
        <p:spPr>
          <a:xfrm>
            <a:off x="738808" y="1510242"/>
            <a:ext cx="812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模板可以放在 </a:t>
            </a:r>
            <a:r>
              <a:rPr lang="en-US" altLang="zh-TW" dirty="0"/>
              <a:t>Django </a:t>
            </a:r>
            <a:r>
              <a:rPr lang="zh-TW" altLang="en-US" dirty="0"/>
              <a:t>可以存取的檔案系統中的任何位置。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8B4DD67-B496-B115-73BA-8A2B662C4487}"/>
              </a:ext>
            </a:extLst>
          </p:cNvPr>
          <p:cNvSpPr txBox="1"/>
          <p:nvPr/>
        </p:nvSpPr>
        <p:spPr>
          <a:xfrm>
            <a:off x="738808" y="2368637"/>
            <a:ext cx="8337936" cy="332398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FFFFFF"/>
                </a:solidFill>
              </a:rPr>
              <a:t>TEMPLATES = [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{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"BACKEND": "</a:t>
            </a:r>
            <a:r>
              <a:rPr lang="en-US" altLang="zh-TW" sz="1400" dirty="0" err="1">
                <a:solidFill>
                  <a:srgbClr val="FFFFFF"/>
                </a:solidFill>
              </a:rPr>
              <a:t>django.template.backends.django.DjangoTemplates</a:t>
            </a:r>
            <a:r>
              <a:rPr lang="en-US" altLang="zh-TW" sz="1400" dirty="0">
                <a:solidFill>
                  <a:srgbClr val="FFFFFF"/>
                </a:solidFill>
              </a:rPr>
              <a:t>",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"DIRS": [BASE_DIR / "templates"],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"APP_DIRS": True,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"OPTIONS": {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    "</a:t>
            </a:r>
            <a:r>
              <a:rPr lang="en-US" altLang="zh-TW" sz="1400" dirty="0" err="1">
                <a:solidFill>
                  <a:srgbClr val="FFFFFF"/>
                </a:solidFill>
              </a:rPr>
              <a:t>context_processors</a:t>
            </a:r>
            <a:r>
              <a:rPr lang="en-US" altLang="zh-TW" sz="1400" dirty="0">
                <a:solidFill>
                  <a:srgbClr val="FFFFFF"/>
                </a:solidFill>
              </a:rPr>
              <a:t>": [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        "</a:t>
            </a:r>
            <a:r>
              <a:rPr lang="en-US" altLang="zh-TW" sz="1400" dirty="0" err="1">
                <a:solidFill>
                  <a:srgbClr val="FFFFFF"/>
                </a:solidFill>
              </a:rPr>
              <a:t>django.template.context_processors.debug</a:t>
            </a:r>
            <a:r>
              <a:rPr lang="en-US" altLang="zh-TW" sz="1400" dirty="0">
                <a:solidFill>
                  <a:srgbClr val="FFFFFF"/>
                </a:solidFill>
              </a:rPr>
              <a:t>",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        "</a:t>
            </a:r>
            <a:r>
              <a:rPr lang="en-US" altLang="zh-TW" sz="1400" dirty="0" err="1">
                <a:solidFill>
                  <a:srgbClr val="FFFFFF"/>
                </a:solidFill>
              </a:rPr>
              <a:t>django.template.context_processors.request</a:t>
            </a:r>
            <a:r>
              <a:rPr lang="en-US" altLang="zh-TW" sz="1400" dirty="0">
                <a:solidFill>
                  <a:srgbClr val="FFFFFF"/>
                </a:solidFill>
              </a:rPr>
              <a:t>",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        "</a:t>
            </a:r>
            <a:r>
              <a:rPr lang="en-US" altLang="zh-TW" sz="1400" dirty="0" err="1">
                <a:solidFill>
                  <a:srgbClr val="FFFFFF"/>
                </a:solidFill>
              </a:rPr>
              <a:t>django.contrib.auth.context_processors.auth</a:t>
            </a:r>
            <a:r>
              <a:rPr lang="en-US" altLang="zh-TW" sz="1400" dirty="0">
                <a:solidFill>
                  <a:srgbClr val="FFFFFF"/>
                </a:solidFill>
              </a:rPr>
              <a:t>",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        "</a:t>
            </a:r>
            <a:r>
              <a:rPr lang="en-US" altLang="zh-TW" sz="1400" dirty="0" err="1">
                <a:solidFill>
                  <a:srgbClr val="FFFFFF"/>
                </a:solidFill>
              </a:rPr>
              <a:t>django.contrib.messages.context_processors.messages</a:t>
            </a:r>
            <a:r>
              <a:rPr lang="en-US" altLang="zh-TW" sz="1400" dirty="0">
                <a:solidFill>
                  <a:srgbClr val="FFFFFF"/>
                </a:solidFill>
              </a:rPr>
              <a:t>",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    ],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    },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    },</a:t>
            </a:r>
          </a:p>
          <a:p>
            <a:r>
              <a:rPr lang="en-US" altLang="zh-TW" sz="1400" dirty="0">
                <a:solidFill>
                  <a:srgbClr val="FFFFFF"/>
                </a:solidFill>
              </a:rPr>
              <a:t>]</a:t>
            </a:r>
            <a:endParaRPr lang="zh-TW" altLang="en-US" sz="1400" dirty="0">
              <a:solidFill>
                <a:srgbClr val="FFFFFF"/>
              </a:solidFill>
            </a:endParaRPr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001F4BF9-2FC0-9E21-5CDC-111D3D43A5C4}"/>
              </a:ext>
            </a:extLst>
          </p:cNvPr>
          <p:cNvSpPr txBox="1"/>
          <p:nvPr/>
        </p:nvSpPr>
        <p:spPr>
          <a:xfrm>
            <a:off x="738808" y="2091638"/>
            <a:ext cx="1672952" cy="27699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b="1" dirty="0">
                <a:solidFill>
                  <a:srgbClr val="FFFFFF"/>
                </a:solidFill>
              </a:rPr>
              <a:t>mysite/settings.py</a:t>
            </a:r>
            <a:r>
              <a:rPr lang="zh-TW" altLang="en-US" sz="1200" b="1" dirty="0">
                <a:solidFill>
                  <a:srgbClr val="FFFFFF"/>
                </a:solidFill>
              </a:rPr>
              <a:t>內容</a:t>
            </a:r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C1BCEC48-F9D1-7806-0493-55C72BBF7197}"/>
              </a:ext>
            </a:extLst>
          </p:cNvPr>
          <p:cNvSpPr txBox="1">
            <a:spLocks/>
          </p:cNvSpPr>
          <p:nvPr/>
        </p:nvSpPr>
        <p:spPr>
          <a:xfrm>
            <a:off x="722432" y="90066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自訂項目模板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4530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67F2-31AF-B9FE-09B2-757161C7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E2044E6-5200-3C27-C8B8-C66AB9A2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角色定義以及初值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AC772CF-5CE6-FB29-7B87-189425EB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3E4EE9A-4471-9FBE-4769-7286B5BA4C49}"/>
              </a:ext>
            </a:extLst>
          </p:cNvPr>
          <p:cNvSpPr txBox="1"/>
          <p:nvPr/>
        </p:nvSpPr>
        <p:spPr>
          <a:xfrm>
            <a:off x="774994" y="1803472"/>
            <a:ext cx="8316416" cy="107721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define p = Character("</a:t>
            </a:r>
            <a:r>
              <a:rPr lang="zh-TW" altLang="en-US" sz="1600" dirty="0">
                <a:solidFill>
                  <a:srgbClr val="FFFFFF"/>
                </a:solidFill>
              </a:rPr>
              <a:t>你</a:t>
            </a:r>
            <a:r>
              <a:rPr lang="en-US" altLang="zh-TW" sz="1600" dirty="0">
                <a:solidFill>
                  <a:srgbClr val="FFFFFF"/>
                </a:solidFill>
              </a:rPr>
              <a:t>", color="#00FFCC")           # </a:t>
            </a:r>
            <a:r>
              <a:rPr lang="zh-TW" altLang="en-US" sz="1600" dirty="0">
                <a:solidFill>
                  <a:srgbClr val="FFFFFF"/>
                </a:solidFill>
              </a:rPr>
              <a:t>玩家（工程師）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define aria = Character("ARIA", color="#FF9FE5")       # AI </a:t>
            </a:r>
            <a:r>
              <a:rPr lang="zh-TW" altLang="en-US" sz="1600" dirty="0">
                <a:solidFill>
                  <a:srgbClr val="FFFFFF"/>
                </a:solidFill>
              </a:rPr>
              <a:t>助手（鷹架式引導）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define sys = Character("NEXUS-9", color="#FF4444")     # </a:t>
            </a:r>
            <a:r>
              <a:rPr lang="zh-TW" altLang="en-US" sz="1600" dirty="0">
                <a:solidFill>
                  <a:srgbClr val="FFFFFF"/>
                </a:solidFill>
              </a:rPr>
              <a:t>系統警報音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define boss = Character("</a:t>
            </a:r>
            <a:r>
              <a:rPr lang="zh-TW" altLang="en-US" sz="1600" dirty="0">
                <a:solidFill>
                  <a:srgbClr val="FFFFFF"/>
                </a:solidFill>
              </a:rPr>
              <a:t>老闆</a:t>
            </a:r>
            <a:r>
              <a:rPr lang="en-US" altLang="zh-TW" sz="1600" dirty="0">
                <a:solidFill>
                  <a:srgbClr val="FFFFFF"/>
                </a:solidFill>
              </a:rPr>
              <a:t>", color="#FFD700")     # </a:t>
            </a:r>
            <a:r>
              <a:rPr lang="zh-TW" altLang="en-US" sz="1600" dirty="0">
                <a:solidFill>
                  <a:srgbClr val="FFFFFF"/>
                </a:solidFill>
              </a:rPr>
              <a:t>遠端連線的上司</a:t>
            </a:r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750BCA76-2F7F-E61B-DC88-2FD2EE78CE9A}"/>
              </a:ext>
            </a:extLst>
          </p:cNvPr>
          <p:cNvSpPr txBox="1">
            <a:spLocks/>
          </p:cNvSpPr>
          <p:nvPr/>
        </p:nvSpPr>
        <p:spPr>
          <a:xfrm>
            <a:off x="666982" y="321642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初值定義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6A8A214-70D0-FF75-7758-8F280DC22860}"/>
              </a:ext>
            </a:extLst>
          </p:cNvPr>
          <p:cNvSpPr txBox="1"/>
          <p:nvPr/>
        </p:nvSpPr>
        <p:spPr>
          <a:xfrm>
            <a:off x="774994" y="3863882"/>
            <a:ext cx="8316416" cy="861774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chemeClr val="bg1"/>
                </a:solidFill>
              </a:rPr>
              <a:t>default </a:t>
            </a:r>
            <a:r>
              <a:rPr lang="en-US" altLang="zh-TW" sz="1600" dirty="0" err="1">
                <a:solidFill>
                  <a:schemeClr val="bg1"/>
                </a:solidFill>
              </a:rPr>
              <a:t>aria_trust</a:t>
            </a:r>
            <a:r>
              <a:rPr lang="en-US" altLang="zh-TW" sz="1600" dirty="0">
                <a:solidFill>
                  <a:schemeClr val="bg1"/>
                </a:solidFill>
              </a:rPr>
              <a:t> = 0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default score =0</a:t>
            </a:r>
          </a:p>
          <a:p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當作存檔與紀錄</a:t>
            </a:r>
            <a:r>
              <a:rPr lang="en-US" altLang="zh-TW" sz="1600" dirty="0">
                <a:solidFill>
                  <a:srgbClr val="FFFFFF"/>
                </a:solidFill>
              </a:rPr>
              <a:t>flag</a:t>
            </a:r>
            <a:r>
              <a:rPr lang="zh-TW" altLang="en-US" sz="1600" dirty="0">
                <a:solidFill>
                  <a:srgbClr val="FFFFFF"/>
                </a:solidFill>
              </a:rPr>
              <a:t>，</a:t>
            </a:r>
            <a:r>
              <a:rPr lang="en-US" altLang="zh-TW" sz="1600" dirty="0">
                <a:solidFill>
                  <a:srgbClr val="FFFFFF"/>
                </a:solidFill>
              </a:rPr>
              <a:t>score</a:t>
            </a:r>
            <a:r>
              <a:rPr lang="zh-TW" altLang="en-US" sz="1600" dirty="0">
                <a:solidFill>
                  <a:srgbClr val="FFFFFF"/>
                </a:solidFill>
              </a:rPr>
              <a:t>用作評分系統，每通過一個密室</a:t>
            </a:r>
            <a:r>
              <a:rPr lang="en-US" altLang="zh-TW" sz="1600" dirty="0">
                <a:solidFill>
                  <a:srgbClr val="FFFFFF"/>
                </a:solidFill>
              </a:rPr>
              <a:t>score+=10</a:t>
            </a:r>
            <a:endParaRPr lang="zh-TW" altLang="en-US" sz="1600" dirty="0">
              <a:solidFill>
                <a:srgbClr val="FFFFFF"/>
              </a:solidFill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4E73510-9B6B-2606-3732-FC8D62C4D43C}"/>
              </a:ext>
            </a:extLst>
          </p:cNvPr>
          <p:cNvSpPr txBox="1">
            <a:spLocks/>
          </p:cNvSpPr>
          <p:nvPr/>
        </p:nvSpPr>
        <p:spPr>
          <a:xfrm>
            <a:off x="874832" y="1053064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角色定義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1244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0C76-9C5A-B565-318E-FEDE558B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8B9C0ED-A14E-1C38-18F9-8F3DABD5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序章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290CFF-9453-CAB0-4310-20756F72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870B5AD-00CC-1265-70F4-C4025FD0FF58}"/>
              </a:ext>
            </a:extLst>
          </p:cNvPr>
          <p:cNvSpPr txBox="1"/>
          <p:nvPr/>
        </p:nvSpPr>
        <p:spPr>
          <a:xfrm>
            <a:off x="539552" y="1187170"/>
            <a:ext cx="8496944" cy="501675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start: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#scene </a:t>
            </a:r>
            <a:r>
              <a:rPr lang="en-US" altLang="zh-TW" sz="1600" dirty="0" err="1">
                <a:solidFill>
                  <a:srgbClr val="FFFFFF"/>
                </a:solidFill>
              </a:rPr>
              <a:t>server_room</a:t>
            </a:r>
            <a:r>
              <a:rPr lang="en-US" altLang="zh-TW" sz="1600" dirty="0">
                <a:solidFill>
                  <a:srgbClr val="FFFFFF"/>
                </a:solidFill>
              </a:rPr>
              <a:t> with fade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"</a:t>
            </a:r>
            <a:r>
              <a:rPr lang="zh-TW" altLang="en-US" sz="1600" dirty="0">
                <a:solidFill>
                  <a:srgbClr val="FFFFFF"/>
                </a:solidFill>
              </a:rPr>
              <a:t>昏暗的企業伺服器機房。冷白燈光打在密密麻麻的機架上，警示燈不停閃爍紅光。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boss "</a:t>
            </a:r>
            <a:r>
              <a:rPr lang="zh-TW" altLang="en-US" sz="1600" dirty="0">
                <a:solidFill>
                  <a:srgbClr val="FFFFFF"/>
                </a:solidFill>
              </a:rPr>
              <a:t>喂，你聽得到嗎？</a:t>
            </a:r>
            <a:r>
              <a:rPr lang="en-US" altLang="zh-TW" sz="1600" dirty="0">
                <a:solidFill>
                  <a:srgbClr val="FFFFFF"/>
                </a:solidFill>
              </a:rPr>
              <a:t>NEXUS-9 </a:t>
            </a:r>
            <a:r>
              <a:rPr lang="zh-TW" altLang="en-US" sz="1600" dirty="0">
                <a:solidFill>
                  <a:srgbClr val="FFFFFF"/>
                </a:solidFill>
              </a:rPr>
              <a:t>的核心系統在三小時前開始異常，我們部署的</a:t>
            </a:r>
            <a:r>
              <a:rPr lang="en-US" altLang="zh-TW" sz="1600" dirty="0">
                <a:solidFill>
                  <a:srgbClr val="FFFFFF"/>
                </a:solidFill>
              </a:rPr>
              <a:t>Python</a:t>
            </a:r>
            <a:r>
              <a:rPr lang="zh-TW" altLang="en-US" sz="1600" dirty="0">
                <a:solidFill>
                  <a:srgbClr val="FFFFFF"/>
                </a:solidFill>
              </a:rPr>
              <a:t>專案陸續發生邏輯錯誤，導致崩潰。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boss "</a:t>
            </a:r>
            <a:r>
              <a:rPr lang="zh-TW" altLang="en-US" sz="1600" dirty="0">
                <a:solidFill>
                  <a:srgbClr val="FFFFFF"/>
                </a:solidFill>
              </a:rPr>
              <a:t>那些</a:t>
            </a:r>
            <a:r>
              <a:rPr lang="en-US" altLang="zh-TW" sz="1600" dirty="0">
                <a:solidFill>
                  <a:srgbClr val="FFFFFF"/>
                </a:solidFill>
              </a:rPr>
              <a:t>AI</a:t>
            </a:r>
            <a:r>
              <a:rPr lang="zh-TW" altLang="en-US" sz="1600" dirty="0">
                <a:solidFill>
                  <a:srgbClr val="FFFFFF"/>
                </a:solidFill>
              </a:rPr>
              <a:t>自動生成的程式碼產生了未知的錯誤，把系統鎖死成了好幾個獨立的數據密室。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boss "</a:t>
            </a:r>
            <a:r>
              <a:rPr lang="zh-TW" altLang="en-US" sz="1600" dirty="0">
                <a:solidFill>
                  <a:srgbClr val="FFFFFF"/>
                </a:solidFill>
              </a:rPr>
              <a:t>你是我們最後一張牌。進去把它們修好。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p "</a:t>
            </a:r>
            <a:r>
              <a:rPr lang="zh-TW" altLang="en-US" sz="1600" dirty="0">
                <a:solidFill>
                  <a:srgbClr val="FFFFFF"/>
                </a:solidFill>
              </a:rPr>
              <a:t>我一個人？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boss "</a:t>
            </a:r>
            <a:r>
              <a:rPr lang="zh-TW" altLang="en-US" sz="1600" dirty="0">
                <a:solidFill>
                  <a:srgbClr val="FFFFFF"/>
                </a:solidFill>
              </a:rPr>
              <a:t>不是。系統裡有一個</a:t>
            </a:r>
            <a:r>
              <a:rPr lang="en-US" altLang="zh-TW" sz="1600" dirty="0">
                <a:solidFill>
                  <a:srgbClr val="FFFFFF"/>
                </a:solidFill>
              </a:rPr>
              <a:t>AI</a:t>
            </a:r>
            <a:r>
              <a:rPr lang="zh-TW" altLang="en-US" sz="1600" dirty="0">
                <a:solidFill>
                  <a:srgbClr val="FFFFFF"/>
                </a:solidFill>
              </a:rPr>
              <a:t>協作模組，代號</a:t>
            </a:r>
            <a:r>
              <a:rPr lang="en-US" altLang="zh-TW" sz="1600" dirty="0">
                <a:solidFill>
                  <a:srgbClr val="FFFFFF"/>
                </a:solidFill>
              </a:rPr>
              <a:t>ARIA</a:t>
            </a:r>
            <a:r>
              <a:rPr lang="zh-TW" altLang="en-US" sz="1600" dirty="0">
                <a:solidFill>
                  <a:srgbClr val="FFFFFF"/>
                </a:solidFill>
              </a:rPr>
              <a:t>。它會在旁邊提供測試回饋和除錯線索，但最終動手的還是你。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boss "</a:t>
            </a:r>
            <a:r>
              <a:rPr lang="zh-TW" altLang="en-US" sz="1600" dirty="0">
                <a:solidFill>
                  <a:srgbClr val="FFFFFF"/>
                </a:solidFill>
              </a:rPr>
              <a:t>時限六小時。開始吧。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# </a:t>
            </a:r>
            <a:r>
              <a:rPr lang="en-US" altLang="zh-TW" sz="1600" dirty="0" err="1">
                <a:solidFill>
                  <a:srgbClr val="FFFFFF"/>
                </a:solidFill>
              </a:rPr>
              <a:t>sfx:sfx_boot</a:t>
            </a:r>
            <a:r>
              <a:rPr lang="zh-TW" altLang="en-US" sz="1600" dirty="0">
                <a:solidFill>
                  <a:srgbClr val="FFFFFF"/>
                </a:solidFill>
              </a:rPr>
              <a:t>（傳送音效） </a:t>
            </a:r>
          </a:p>
          <a:p>
            <a:r>
              <a:rPr lang="zh-TW" altLang="en-US" sz="1600" dirty="0">
                <a:solidFill>
                  <a:srgbClr val="FFFFFF"/>
                </a:solidFill>
              </a:rPr>
              <a:t>    </a:t>
            </a:r>
            <a:r>
              <a:rPr lang="en-US" altLang="zh-TW" sz="1600" dirty="0">
                <a:solidFill>
                  <a:srgbClr val="FFFFFF"/>
                </a:solidFill>
              </a:rPr>
              <a:t>#scene </a:t>
            </a:r>
            <a:r>
              <a:rPr lang="en-US" altLang="zh-TW" sz="1600" dirty="0" err="1">
                <a:solidFill>
                  <a:srgbClr val="FFFFFF"/>
                </a:solidFill>
              </a:rPr>
              <a:t>nexus_core</a:t>
            </a:r>
            <a:r>
              <a:rPr lang="en-US" altLang="zh-TW" sz="1600" dirty="0">
                <a:solidFill>
                  <a:srgbClr val="FFFFFF"/>
                </a:solidFill>
              </a:rPr>
              <a:t> with dissolve  #</a:t>
            </a:r>
            <a:r>
              <a:rPr lang="zh-TW" altLang="en-US" sz="1600" dirty="0">
                <a:solidFill>
                  <a:srgbClr val="FFFFFF"/>
                </a:solidFill>
              </a:rPr>
              <a:t>傳送進空間的畫面</a:t>
            </a:r>
          </a:p>
          <a:p>
            <a:r>
              <a:rPr lang="zh-TW" altLang="en-US" sz="1600" dirty="0">
                <a:solidFill>
                  <a:srgbClr val="FFFFFF"/>
                </a:solidFill>
              </a:rPr>
              <a:t>    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意識被拉進虛擬空間。眼前是無盡延伸的數據走廊，地板是半透明的程式碼流。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#show aria normal at center #AI</a:t>
            </a:r>
            <a:r>
              <a:rPr lang="zh-TW" altLang="en-US" sz="1600" dirty="0">
                <a:solidFill>
                  <a:srgbClr val="FFFFFF"/>
                </a:solidFill>
              </a:rPr>
              <a:t>助手</a:t>
            </a:r>
          </a:p>
          <a:p>
            <a:r>
              <a:rPr lang="zh-TW" altLang="en-US" sz="1600" dirty="0">
                <a:solidFill>
                  <a:srgbClr val="FFFFFF"/>
                </a:solidFill>
              </a:rPr>
              <a:t>    </a:t>
            </a:r>
            <a:r>
              <a:rPr lang="en-US" altLang="zh-TW" sz="1600" dirty="0">
                <a:solidFill>
                  <a:srgbClr val="FFFFFF"/>
                </a:solidFill>
              </a:rPr>
              <a:t>aria "</a:t>
            </a:r>
            <a:r>
              <a:rPr lang="zh-TW" altLang="en-US" sz="1600" dirty="0">
                <a:solidFill>
                  <a:srgbClr val="FFFFFF"/>
                </a:solidFill>
              </a:rPr>
              <a:t>連線確認。你好，工程師。我是</a:t>
            </a:r>
            <a:r>
              <a:rPr lang="en-US" altLang="zh-TW" sz="1600" dirty="0">
                <a:solidFill>
                  <a:srgbClr val="FFFFFF"/>
                </a:solidFill>
              </a:rPr>
              <a:t>ARIA</a:t>
            </a:r>
            <a:r>
              <a:rPr lang="zh-TW" altLang="en-US" sz="1600" dirty="0">
                <a:solidFill>
                  <a:srgbClr val="FFFFFF"/>
                </a:solidFill>
              </a:rPr>
              <a:t>，你的協作模組。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"NEXUS-9 </a:t>
            </a:r>
            <a:r>
              <a:rPr lang="zh-TW" altLang="en-US" sz="1600" dirty="0">
                <a:solidFill>
                  <a:srgbClr val="FFFFFF"/>
                </a:solidFill>
              </a:rPr>
              <a:t>有多個</a:t>
            </a:r>
            <a:r>
              <a:rPr lang="en-US" altLang="zh-TW" sz="1600" dirty="0">
                <a:solidFill>
                  <a:srgbClr val="FFFFFF"/>
                </a:solidFill>
              </a:rPr>
              <a:t>Python</a:t>
            </a:r>
            <a:r>
              <a:rPr lang="zh-TW" altLang="en-US" sz="1600" dirty="0">
                <a:solidFill>
                  <a:srgbClr val="FFFFFF"/>
                </a:solidFill>
              </a:rPr>
              <a:t>專案的執行環境遭到封鎖。每一個異常的專案，都形成了一個無法通行的密室，我會陪你逐一排除。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"</a:t>
            </a:r>
            <a:r>
              <a:rPr lang="zh-TW" altLang="en-US" sz="1600" dirty="0">
                <a:solidFill>
                  <a:srgbClr val="FFFFFF"/>
                </a:solidFill>
              </a:rPr>
              <a:t>準備好了嗎？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392451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F253-028A-D576-803B-1054619E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A435362-6B55-0163-7D8B-92C2A610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序章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7EC37D9-54C3-4D7F-8066-553750B2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808BF2E-4E18-BA99-3940-32862CB4BBB3}"/>
              </a:ext>
            </a:extLst>
          </p:cNvPr>
          <p:cNvSpPr txBox="1"/>
          <p:nvPr/>
        </p:nvSpPr>
        <p:spPr>
          <a:xfrm>
            <a:off x="611560" y="1268760"/>
            <a:ext cx="8496944" cy="2062103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準備好了。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很好。第一間密室是基礎環境與語法測試，跟我來。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等一下，這裡是哪？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normal "</a:t>
            </a:r>
            <a:r>
              <a:rPr lang="zh-TW" altLang="en-US" sz="1600" dirty="0">
                <a:solidFill>
                  <a:srgbClr val="FFFFFF"/>
                </a:solidFill>
              </a:rPr>
              <a:t>虛擬伺服器核心空間。你的意識已經數位化。別太緊張，你不會真的死在這裡的。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hint "</a:t>
            </a:r>
            <a:r>
              <a:rPr lang="zh-TW" altLang="en-US" sz="1600" dirty="0">
                <a:solidFill>
                  <a:srgbClr val="FFFFFF"/>
                </a:solidFill>
              </a:rPr>
              <a:t>大概不會。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5AFAFB1-FAD1-A94E-A8C7-6BC1FB4531CB}"/>
              </a:ext>
            </a:extLst>
          </p:cNvPr>
          <p:cNvSpPr txBox="1"/>
          <p:nvPr/>
        </p:nvSpPr>
        <p:spPr>
          <a:xfrm>
            <a:off x="611560" y="3658417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主要是要給使用者有深入體驗的帶入感，後期也許可以加上讓使用者輸入名稱，以及讓使用者選擇我們預先存在圖庫裡的圖片。</a:t>
            </a:r>
          </a:p>
        </p:txBody>
      </p:sp>
    </p:spTree>
    <p:extLst>
      <p:ext uri="{BB962C8B-B14F-4D97-AF65-F5344CB8AC3E}">
        <p14:creationId xmlns:p14="http://schemas.microsoft.com/office/powerpoint/2010/main" val="286305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A503-F9BE-BCC0-7729-C6F90874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40205B6-C116-A46C-7B73-8EBEC301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1-1 Python </a:t>
            </a:r>
            <a:r>
              <a:rPr lang="zh-TW" altLang="en-US" dirty="0">
                <a:latin typeface="+mn-ea"/>
              </a:rPr>
              <a:t>基礎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7A6697-FCF3-3AAA-AE62-27D406F6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A64813-DD7B-77C7-7815-F24BD170853B}"/>
              </a:ext>
            </a:extLst>
          </p:cNvPr>
          <p:cNvSpPr txBox="1"/>
          <p:nvPr/>
        </p:nvSpPr>
        <p:spPr>
          <a:xfrm>
            <a:off x="616250" y="1268760"/>
            <a:ext cx="8319511" cy="280076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chapter1_1: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"</a:t>
            </a:r>
            <a:r>
              <a:rPr lang="zh-TW" altLang="en-US" sz="1600" dirty="0">
                <a:solidFill>
                  <a:srgbClr val="FFFFFF"/>
                </a:solidFill>
              </a:rPr>
              <a:t>再進行修復程式碼前，您需要了解關於</a:t>
            </a:r>
            <a:r>
              <a:rPr lang="en-US" altLang="zh-TW" sz="1600" dirty="0">
                <a:solidFill>
                  <a:srgbClr val="FFFFFF"/>
                </a:solidFill>
              </a:rPr>
              <a:t>python</a:t>
            </a:r>
            <a:r>
              <a:rPr lang="zh-TW" altLang="en-US" sz="1600" dirty="0">
                <a:solidFill>
                  <a:srgbClr val="FFFFFF"/>
                </a:solidFill>
              </a:rPr>
              <a:t>的一些基本語法。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"</a:t>
            </a:r>
            <a:r>
              <a:rPr lang="zh-TW" altLang="en-US" sz="1600" dirty="0">
                <a:solidFill>
                  <a:srgbClr val="FFFFFF"/>
                </a:solidFill>
              </a:rPr>
              <a:t>可以宣告一個變數給予一個數值，像是 </a:t>
            </a:r>
            <a:r>
              <a:rPr lang="en-US" altLang="zh-TW" sz="1600" dirty="0">
                <a:solidFill>
                  <a:srgbClr val="FFFFFF"/>
                </a:solidFill>
              </a:rPr>
              <a:t>a=1</a:t>
            </a:r>
            <a:r>
              <a:rPr lang="zh-TW" altLang="en-US" sz="1600" dirty="0">
                <a:solidFill>
                  <a:srgbClr val="FFFFFF"/>
                </a:solidFill>
              </a:rPr>
              <a:t>，在</a:t>
            </a:r>
            <a:r>
              <a:rPr lang="en-US" altLang="zh-TW" sz="1600" dirty="0">
                <a:solidFill>
                  <a:srgbClr val="FFFFFF"/>
                </a:solidFill>
              </a:rPr>
              <a:t>python</a:t>
            </a:r>
            <a:r>
              <a:rPr lang="zh-TW" altLang="en-US" sz="1600" dirty="0">
                <a:solidFill>
                  <a:srgbClr val="FFFFFF"/>
                </a:solidFill>
              </a:rPr>
              <a:t>中不用像是其他語言一樣先宣告</a:t>
            </a:r>
            <a:r>
              <a:rPr lang="en-US" altLang="zh-TW" sz="1600" dirty="0">
                <a:solidFill>
                  <a:srgbClr val="FFFFFF"/>
                </a:solidFill>
              </a:rPr>
              <a:t>int or char"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"</a:t>
            </a:r>
            <a:r>
              <a:rPr lang="zh-TW" altLang="en-US" sz="1600" dirty="0">
                <a:solidFill>
                  <a:srgbClr val="FFFFFF"/>
                </a:solidFill>
              </a:rPr>
              <a:t>利用</a:t>
            </a:r>
            <a:r>
              <a:rPr lang="en-US" altLang="zh-TW" sz="1600" dirty="0">
                <a:solidFill>
                  <a:srgbClr val="FFFFFF"/>
                </a:solidFill>
              </a:rPr>
              <a:t>print</a:t>
            </a:r>
            <a:r>
              <a:rPr lang="zh-TW" altLang="en-US" sz="1600" dirty="0">
                <a:solidFill>
                  <a:srgbClr val="FFFFFF"/>
                </a:solidFill>
              </a:rPr>
              <a:t>語法可以將其輸出在螢幕上。例如</a:t>
            </a:r>
            <a:r>
              <a:rPr lang="en-US" altLang="zh-TW" sz="1600" dirty="0">
                <a:solidFill>
                  <a:srgbClr val="FFFFFF"/>
                </a:solidFill>
              </a:rPr>
              <a:t>print(a)"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"</a:t>
            </a:r>
            <a:r>
              <a:rPr lang="zh-TW" altLang="en-US" sz="1600" dirty="0">
                <a:solidFill>
                  <a:srgbClr val="FFFFFF"/>
                </a:solidFill>
              </a:rPr>
              <a:t>接下來就是你表現的時候了。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"</a:t>
            </a:r>
            <a:r>
              <a:rPr lang="zh-TW" altLang="en-US" sz="1600" dirty="0">
                <a:solidFill>
                  <a:srgbClr val="FFFFFF"/>
                </a:solidFill>
              </a:rPr>
              <a:t>首先，我們需要向核心提交合法的</a:t>
            </a:r>
            <a:r>
              <a:rPr lang="en-US" altLang="zh-TW" sz="1600" dirty="0">
                <a:solidFill>
                  <a:srgbClr val="FFFFFF"/>
                </a:solidFill>
              </a:rPr>
              <a:t>Python</a:t>
            </a:r>
            <a:r>
              <a:rPr lang="zh-TW" altLang="en-US" sz="1600" dirty="0">
                <a:solidFill>
                  <a:srgbClr val="FFFFFF"/>
                </a:solidFill>
              </a:rPr>
              <a:t>語法來解鎖。系統提供了三段啟動程式碼，但只有一個是正確的。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"</a:t>
            </a:r>
            <a:r>
              <a:rPr lang="zh-TW" altLang="en-US" sz="1600" dirty="0">
                <a:solidFill>
                  <a:srgbClr val="FFFFFF"/>
                </a:solidFill>
              </a:rPr>
              <a:t>畫面出現三個程式碼選項，像全息投影懸浮在空中。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hint "</a:t>
            </a:r>
            <a:r>
              <a:rPr lang="zh-TW" altLang="en-US" sz="1600" dirty="0">
                <a:solidFill>
                  <a:srgbClr val="FFFFFF"/>
                </a:solidFill>
              </a:rPr>
              <a:t>線索提示：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用 </a:t>
            </a:r>
            <a:r>
              <a:rPr lang="en-US" altLang="zh-TW" sz="1600" dirty="0">
                <a:solidFill>
                  <a:srgbClr val="FFFFFF"/>
                </a:solidFill>
              </a:rPr>
              <a:t># </a:t>
            </a:r>
            <a:r>
              <a:rPr lang="zh-TW" altLang="en-US" sz="1600" dirty="0">
                <a:solidFill>
                  <a:srgbClr val="FFFFFF"/>
                </a:solidFill>
              </a:rPr>
              <a:t>做單行注釋，變數不需要宣告型別，</a:t>
            </a:r>
            <a:r>
              <a:rPr lang="en-US" altLang="zh-TW" sz="1600" dirty="0">
                <a:solidFill>
                  <a:srgbClr val="FFFFFF"/>
                </a:solidFill>
              </a:rPr>
              <a:t>print</a:t>
            </a:r>
            <a:r>
              <a:rPr lang="zh-TW" altLang="en-US" sz="1600" dirty="0">
                <a:solidFill>
                  <a:srgbClr val="FFFFFF"/>
                </a:solidFill>
              </a:rPr>
              <a:t>要加括號。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E00BD22-257B-D185-B345-F8B1D19799A9}"/>
              </a:ext>
            </a:extLst>
          </p:cNvPr>
          <p:cNvSpPr txBox="1"/>
          <p:nvPr/>
        </p:nvSpPr>
        <p:spPr>
          <a:xfrm>
            <a:off x="611560" y="425244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可以利用旁白的方式或是</a:t>
            </a:r>
            <a:r>
              <a:rPr lang="en-US" altLang="zh-TW" dirty="0"/>
              <a:t>aria</a:t>
            </a:r>
            <a:r>
              <a:rPr lang="zh-TW" altLang="en-US" dirty="0"/>
              <a:t>，來教使用者一些</a:t>
            </a:r>
            <a:r>
              <a:rPr lang="en-US" altLang="zh-TW" dirty="0"/>
              <a:t>python</a:t>
            </a:r>
            <a:r>
              <a:rPr lang="zh-TW" altLang="en-US" dirty="0"/>
              <a:t>相關知識。</a:t>
            </a:r>
          </a:p>
        </p:txBody>
      </p:sp>
    </p:spTree>
    <p:extLst>
      <p:ext uri="{BB962C8B-B14F-4D97-AF65-F5344CB8AC3E}">
        <p14:creationId xmlns:p14="http://schemas.microsoft.com/office/powerpoint/2010/main" val="3251140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B160-208C-5246-E5C0-A2DBE8E4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05FF01C-1347-573F-0CE6-C7191099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1-1 Python </a:t>
            </a:r>
            <a:r>
              <a:rPr lang="zh-TW" altLang="en-US" dirty="0">
                <a:latin typeface="+mn-ea"/>
              </a:rPr>
              <a:t>基礎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1A88ABB-9199-48A6-8D3F-5A1E31D3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5E35ECD-E744-D709-34E9-0AF7C6097DA6}"/>
              </a:ext>
            </a:extLst>
          </p:cNvPr>
          <p:cNvSpPr txBox="1"/>
          <p:nvPr/>
        </p:nvSpPr>
        <p:spPr>
          <a:xfrm>
            <a:off x="643707" y="915616"/>
            <a:ext cx="8319511" cy="477053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選項 </a:t>
            </a:r>
            <a:r>
              <a:rPr lang="en-US" altLang="zh-TW" sz="1600" dirty="0">
                <a:solidFill>
                  <a:srgbClr val="FFFFFF"/>
                </a:solidFill>
              </a:rPr>
              <a:t>A</a:t>
            </a:r>
            <a:r>
              <a:rPr lang="zh-TW" altLang="en-US" sz="1600" dirty="0">
                <a:solidFill>
                  <a:srgbClr val="FFFFFF"/>
                </a:solidFill>
              </a:rPr>
              <a:t>：</a:t>
            </a:r>
            <a:r>
              <a:rPr lang="en-US" altLang="zh-TW" sz="1600" dirty="0">
                <a:solidFill>
                  <a:srgbClr val="FFFFFF"/>
                </a:solidFill>
              </a:rPr>
              <a:t>\</a:t>
            </a:r>
            <a:r>
              <a:rPr lang="en-US" altLang="zh-TW" sz="1600" dirty="0" err="1">
                <a:solidFill>
                  <a:srgbClr val="FFFFFF"/>
                </a:solidFill>
              </a:rPr>
              <a:t>nx</a:t>
            </a:r>
            <a:r>
              <a:rPr lang="en-US" altLang="zh-TW" sz="1600" dirty="0">
                <a:solidFill>
                  <a:srgbClr val="FFFFFF"/>
                </a:solidFill>
              </a:rPr>
              <a:t> = 10\</a:t>
            </a:r>
            <a:r>
              <a:rPr lang="en-US" altLang="zh-TW" sz="1600" dirty="0" err="1">
                <a:solidFill>
                  <a:srgbClr val="FFFFFF"/>
                </a:solidFill>
              </a:rPr>
              <a:t>ny</a:t>
            </a:r>
            <a:r>
              <a:rPr lang="en-US" altLang="zh-TW" sz="1600" dirty="0">
                <a:solidFill>
                  <a:srgbClr val="FFFFFF"/>
                </a:solidFill>
              </a:rPr>
              <a:t> = 20\</a:t>
            </a:r>
            <a:r>
              <a:rPr lang="en-US" altLang="zh-TW" sz="1600" dirty="0" err="1">
                <a:solidFill>
                  <a:srgbClr val="FFFFFF"/>
                </a:solidFill>
              </a:rPr>
              <a:t>nprint</a:t>
            </a:r>
            <a:r>
              <a:rPr lang="en-US" altLang="zh-TW" sz="1600" dirty="0">
                <a:solidFill>
                  <a:srgbClr val="FFFFFF"/>
                </a:solidFill>
              </a:rPr>
              <a:t>(x + y)":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$ score += 10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正確！這是標準的 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變數宣告與輸出。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</a:t>
            </a:r>
            <a:r>
              <a:rPr lang="en-US" altLang="zh-TW" sz="1600" dirty="0" err="1">
                <a:solidFill>
                  <a:srgbClr val="FFFFFF"/>
                </a:solidFill>
              </a:rPr>
              <a:t>PyBryt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基礎測試通過，獲得碎片鑰匙。密室門發出金屬聲，緩緩開啟。</a:t>
            </a:r>
            <a:r>
              <a:rPr lang="en-US" altLang="zh-TW" sz="1600" dirty="0">
                <a:solidFill>
                  <a:srgbClr val="FFFFFF"/>
                </a:solidFill>
              </a:rPr>
              <a:t>】"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jump chapter1_2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選項 </a:t>
            </a:r>
            <a:r>
              <a:rPr lang="en-US" altLang="zh-TW" sz="1600" dirty="0">
                <a:solidFill>
                  <a:srgbClr val="FFFFFF"/>
                </a:solidFill>
              </a:rPr>
              <a:t>B</a:t>
            </a:r>
            <a:r>
              <a:rPr lang="zh-TW" altLang="en-US" sz="1600" dirty="0">
                <a:solidFill>
                  <a:srgbClr val="FFFFFF"/>
                </a:solidFill>
              </a:rPr>
              <a:t>：</a:t>
            </a:r>
            <a:r>
              <a:rPr lang="en-US" altLang="zh-TW" sz="1600" dirty="0">
                <a:solidFill>
                  <a:srgbClr val="FFFFFF"/>
                </a:solidFill>
              </a:rPr>
              <a:t>\</a:t>
            </a:r>
            <a:r>
              <a:rPr lang="en-US" altLang="zh-TW" sz="1600" dirty="0" err="1">
                <a:solidFill>
                  <a:srgbClr val="FFFFFF"/>
                </a:solidFill>
              </a:rPr>
              <a:t>nint</a:t>
            </a:r>
            <a:r>
              <a:rPr lang="en-US" altLang="zh-TW" sz="1600" dirty="0">
                <a:solidFill>
                  <a:srgbClr val="FFFFFF"/>
                </a:solidFill>
              </a:rPr>
              <a:t> x = 10;\</a:t>
            </a:r>
            <a:r>
              <a:rPr lang="en-US" altLang="zh-TW" sz="1600" dirty="0" err="1">
                <a:solidFill>
                  <a:srgbClr val="FFFFFF"/>
                </a:solidFill>
              </a:rPr>
              <a:t>nint</a:t>
            </a:r>
            <a:r>
              <a:rPr lang="en-US" altLang="zh-TW" sz="1600" dirty="0">
                <a:solidFill>
                  <a:srgbClr val="FFFFFF"/>
                </a:solidFill>
              </a:rPr>
              <a:t> y = 20;\</a:t>
            </a:r>
            <a:r>
              <a:rPr lang="en-US" altLang="zh-TW" sz="1600" dirty="0" err="1">
                <a:solidFill>
                  <a:srgbClr val="FFFFFF"/>
                </a:solidFill>
              </a:rPr>
              <a:t>nprintf</a:t>
            </a:r>
            <a:r>
              <a:rPr lang="en-US" altLang="zh-TW" sz="1600" dirty="0">
                <a:solidFill>
                  <a:srgbClr val="FFFFFF"/>
                </a:solidFill>
              </a:rPr>
              <a:t>(\"%%d\", </a:t>
            </a:r>
            <a:r>
              <a:rPr lang="en-US" altLang="zh-TW" sz="1600" dirty="0" err="1">
                <a:solidFill>
                  <a:srgbClr val="FFFFFF"/>
                </a:solidFill>
              </a:rPr>
              <a:t>x+y</a:t>
            </a:r>
            <a:r>
              <a:rPr lang="en-US" altLang="zh-TW" sz="1600" dirty="0">
                <a:solidFill>
                  <a:srgbClr val="FFFFFF"/>
                </a:solidFill>
              </a:rPr>
              <a:t>);":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worry "</a:t>
            </a:r>
            <a:r>
              <a:rPr lang="en-US" altLang="zh-TW" sz="1600" dirty="0" err="1">
                <a:solidFill>
                  <a:srgbClr val="FFFFFF"/>
                </a:solidFill>
              </a:rPr>
              <a:t>PyBryt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測試失敗：</a:t>
            </a:r>
            <a:r>
              <a:rPr lang="en-US" altLang="zh-TW" sz="1600" dirty="0" err="1">
                <a:solidFill>
                  <a:srgbClr val="FFFFFF"/>
                </a:solidFill>
              </a:rPr>
              <a:t>SyntaxError</a:t>
            </a:r>
            <a:r>
              <a:rPr lang="zh-TW" altLang="en-US" sz="1600" dirty="0">
                <a:solidFill>
                  <a:srgbClr val="FFFFFF"/>
                </a:solidFill>
              </a:rPr>
              <a:t>。這比較像 </a:t>
            </a:r>
            <a:r>
              <a:rPr lang="en-US" altLang="zh-TW" sz="1600" dirty="0">
                <a:solidFill>
                  <a:srgbClr val="FFFFFF"/>
                </a:solidFill>
              </a:rPr>
              <a:t>C </a:t>
            </a:r>
            <a:r>
              <a:rPr lang="zh-TW" altLang="en-US" sz="1600" dirty="0">
                <a:solidFill>
                  <a:srgbClr val="FFFFFF"/>
                </a:solidFill>
              </a:rPr>
              <a:t>語言，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不需要宣告型別，也不用分號結尾。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jump chapter1_1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選項 </a:t>
            </a:r>
            <a:r>
              <a:rPr lang="en-US" altLang="zh-TW" sz="1600" dirty="0">
                <a:solidFill>
                  <a:srgbClr val="FFFFFF"/>
                </a:solidFill>
              </a:rPr>
              <a:t>C</a:t>
            </a:r>
            <a:r>
              <a:rPr lang="zh-TW" altLang="en-US" sz="1600" dirty="0">
                <a:solidFill>
                  <a:srgbClr val="FFFFFF"/>
                </a:solidFill>
              </a:rPr>
              <a:t>：</a:t>
            </a:r>
            <a:r>
              <a:rPr lang="en-US" altLang="zh-TW" sz="1600" dirty="0">
                <a:solidFill>
                  <a:srgbClr val="FFFFFF"/>
                </a:solidFill>
              </a:rPr>
              <a:t>\</a:t>
            </a:r>
            <a:r>
              <a:rPr lang="en-US" altLang="zh-TW" sz="1600" dirty="0" err="1">
                <a:solidFill>
                  <a:srgbClr val="FFFFFF"/>
                </a:solidFill>
              </a:rPr>
              <a:t>nDIM</a:t>
            </a:r>
            <a:r>
              <a:rPr lang="en-US" altLang="zh-TW" sz="1600" dirty="0">
                <a:solidFill>
                  <a:srgbClr val="FFFFFF"/>
                </a:solidFill>
              </a:rPr>
              <a:t> x AS INTEGER = 10\</a:t>
            </a:r>
            <a:r>
              <a:rPr lang="en-US" altLang="zh-TW" sz="1600" dirty="0" err="1">
                <a:solidFill>
                  <a:srgbClr val="FFFFFF"/>
                </a:solidFill>
              </a:rPr>
              <a:t>nPRINT</a:t>
            </a:r>
            <a:r>
              <a:rPr lang="en-US" altLang="zh-TW" sz="1600" dirty="0">
                <a:solidFill>
                  <a:srgbClr val="FFFFFF"/>
                </a:solidFill>
              </a:rPr>
              <a:t> x + 20":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worry "</a:t>
            </a:r>
            <a:r>
              <a:rPr lang="en-US" altLang="zh-TW" sz="1600" dirty="0" err="1">
                <a:solidFill>
                  <a:srgbClr val="FFFFFF"/>
                </a:solidFill>
              </a:rPr>
              <a:t>PyBryt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測試失敗：</a:t>
            </a:r>
            <a:r>
              <a:rPr lang="en-US" altLang="zh-TW" sz="1600" dirty="0" err="1">
                <a:solidFill>
                  <a:srgbClr val="FFFFFF"/>
                </a:solidFill>
              </a:rPr>
              <a:t>SyntaxError</a:t>
            </a:r>
            <a:r>
              <a:rPr lang="zh-TW" altLang="en-US" sz="1600" dirty="0">
                <a:solidFill>
                  <a:srgbClr val="FFFFFF"/>
                </a:solidFill>
              </a:rPr>
              <a:t>。這是 </a:t>
            </a:r>
            <a:r>
              <a:rPr lang="en-US" altLang="zh-TW" sz="1600" dirty="0">
                <a:solidFill>
                  <a:srgbClr val="FFFFFF"/>
                </a:solidFill>
              </a:rPr>
              <a:t>BASIC </a:t>
            </a:r>
            <a:r>
              <a:rPr lang="zh-TW" altLang="en-US" sz="1600" dirty="0">
                <a:solidFill>
                  <a:srgbClr val="FFFFFF"/>
                </a:solidFill>
              </a:rPr>
              <a:t>的語法。我們需要的是 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喔。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hint "</a:t>
            </a:r>
            <a:r>
              <a:rPr lang="zh-TW" altLang="en-US" sz="1600" dirty="0">
                <a:solidFill>
                  <a:srgbClr val="FFFFFF"/>
                </a:solidFill>
              </a:rPr>
              <a:t>記住：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直接寫 </a:t>
            </a:r>
            <a:r>
              <a:rPr lang="en-US" altLang="zh-TW" sz="1600" dirty="0">
                <a:solidFill>
                  <a:srgbClr val="FFFFFF"/>
                </a:solidFill>
              </a:rPr>
              <a:t>x = 10 </a:t>
            </a:r>
            <a:r>
              <a:rPr lang="zh-TW" altLang="en-US" sz="1600" dirty="0">
                <a:solidFill>
                  <a:srgbClr val="FFFFFF"/>
                </a:solidFill>
              </a:rPr>
              <a:t>就好，非常簡潔。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jump chapter1_1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9875F4A-2E0C-0767-C937-B8962EA78580}"/>
              </a:ext>
            </a:extLst>
          </p:cNvPr>
          <p:cNvSpPr txBox="1"/>
          <p:nvPr/>
        </p:nvSpPr>
        <p:spPr>
          <a:xfrm>
            <a:off x="643707" y="5877272"/>
            <a:ext cx="7528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由於現在是</a:t>
            </a:r>
            <a:r>
              <a:rPr lang="en-US" altLang="zh-TW" dirty="0"/>
              <a:t>100%AI</a:t>
            </a:r>
            <a:r>
              <a:rPr lang="zh-TW" altLang="en-US" dirty="0"/>
              <a:t>輔助，所以提供選擇題，來讓使用者輕鬆完成密室。</a:t>
            </a:r>
            <a:r>
              <a:rPr lang="en-US" altLang="zh-TW" dirty="0"/>
              <a:t>80%</a:t>
            </a:r>
            <a:r>
              <a:rPr lang="zh-TW" altLang="en-US" dirty="0"/>
              <a:t>也是提供選擇題，不過會是給有</a:t>
            </a:r>
            <a:r>
              <a:rPr lang="en-US" altLang="zh-TW" dirty="0"/>
              <a:t>BUG</a:t>
            </a:r>
            <a:r>
              <a:rPr lang="zh-TW" altLang="en-US" dirty="0"/>
              <a:t>的題目來讓使用者選擇正確的選項。</a:t>
            </a:r>
          </a:p>
        </p:txBody>
      </p:sp>
    </p:spTree>
    <p:extLst>
      <p:ext uri="{BB962C8B-B14F-4D97-AF65-F5344CB8AC3E}">
        <p14:creationId xmlns:p14="http://schemas.microsoft.com/office/powerpoint/2010/main" val="4209016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11BB0-08B5-CC64-1437-192620A5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7AFE6FB-4088-36FF-863D-46C8719C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1-2 </a:t>
            </a:r>
            <a:r>
              <a:rPr lang="zh-TW" altLang="en-US" dirty="0">
                <a:latin typeface="+mn-ea"/>
              </a:rPr>
              <a:t>基礎語法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6D5F00D-522A-D311-6FD9-64D9D9FA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2FAC0D-6C18-AD13-72A5-3D367DE36217}"/>
              </a:ext>
            </a:extLst>
          </p:cNvPr>
          <p:cNvSpPr txBox="1"/>
          <p:nvPr/>
        </p:nvSpPr>
        <p:spPr>
          <a:xfrm>
            <a:off x="611560" y="1074002"/>
            <a:ext cx="8319511" cy="4031873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chapter1_2: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走廊深處出現一個巨大的資料處理模組，像是一個透明的旋轉鼓輪，裡面的數字全是亂碼。通往下一區的閘門緊閉。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sys "【</a:t>
            </a:r>
            <a:r>
              <a:rPr lang="zh-TW" altLang="en-US" sz="1600" dirty="0">
                <a:solidFill>
                  <a:srgbClr val="FFFFFF"/>
                </a:solidFill>
              </a:rPr>
              <a:t>警報</a:t>
            </a:r>
            <a:r>
              <a:rPr lang="en-US" altLang="zh-TW" sz="1600" dirty="0">
                <a:solidFill>
                  <a:srgbClr val="FFFFFF"/>
                </a:solidFill>
              </a:rPr>
              <a:t>】</a:t>
            </a:r>
            <a:r>
              <a:rPr lang="zh-TW" altLang="en-US" sz="1600" dirty="0">
                <a:solidFill>
                  <a:srgbClr val="FFFFFF"/>
                </a:solidFill>
              </a:rPr>
              <a:t>資料處理模組邏輯異常。運算結果偏差</a:t>
            </a:r>
            <a:r>
              <a:rPr lang="en-US" altLang="zh-TW" sz="1600" dirty="0">
                <a:solidFill>
                  <a:srgbClr val="FFFFFF"/>
                </a:solidFill>
              </a:rPr>
              <a:t>300%%</a:t>
            </a:r>
            <a:r>
              <a:rPr lang="zh-TW" altLang="en-US" sz="1600" dirty="0">
                <a:solidFill>
                  <a:srgbClr val="FFFFFF"/>
                </a:solidFill>
              </a:rPr>
              <a:t>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worry "</a:t>
            </a:r>
            <a:r>
              <a:rPr lang="zh-TW" altLang="en-US" sz="1600" dirty="0">
                <a:solidFill>
                  <a:srgbClr val="FFFFFF"/>
                </a:solidFill>
              </a:rPr>
              <a:t>糟糕，這個模組負責病患排隊的資料計算。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生成了一段錯誤的折扣邏輯。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我已經幫你定位出錯誤的程式碼片段，你來選出正確的修正方式，我們才能拿到下一把鑰匙。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投影出現有</a:t>
            </a:r>
            <a:r>
              <a:rPr lang="en-US" altLang="zh-TW" sz="1600" dirty="0">
                <a:solidFill>
                  <a:srgbClr val="FFFFFF"/>
                </a:solidFill>
              </a:rPr>
              <a:t>Bug</a:t>
            </a:r>
            <a:r>
              <a:rPr lang="zh-TW" altLang="en-US" sz="1600" dirty="0">
                <a:solidFill>
                  <a:srgbClr val="FFFFFF"/>
                </a:solidFill>
              </a:rPr>
              <a:t>的程式碼：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"total= 100\n discount = 20%%\n final=total-discount\n print(final)"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hint "</a:t>
            </a:r>
            <a:r>
              <a:rPr lang="zh-TW" altLang="en-US" sz="1600" dirty="0">
                <a:solidFill>
                  <a:srgbClr val="FFFFFF"/>
                </a:solidFill>
              </a:rPr>
              <a:t>線索提示：</a:t>
            </a:r>
            <a:r>
              <a:rPr lang="en-US" altLang="zh-TW" sz="1600" dirty="0">
                <a:solidFill>
                  <a:srgbClr val="FFFFFF"/>
                </a:solidFill>
              </a:rPr>
              <a:t>Python</a:t>
            </a:r>
            <a:r>
              <a:rPr lang="zh-TW" altLang="en-US" sz="1600" dirty="0">
                <a:solidFill>
                  <a:srgbClr val="FFFFFF"/>
                </a:solidFill>
              </a:rPr>
              <a:t>的</a:t>
            </a:r>
            <a:r>
              <a:rPr lang="en-US" altLang="zh-TW" sz="1600" dirty="0">
                <a:solidFill>
                  <a:srgbClr val="FFFFFF"/>
                </a:solidFill>
              </a:rPr>
              <a:t>%%</a:t>
            </a:r>
            <a:r>
              <a:rPr lang="zh-TW" altLang="en-US" sz="1600" dirty="0">
                <a:solidFill>
                  <a:srgbClr val="FFFFFF"/>
                </a:solidFill>
              </a:rPr>
              <a:t>是取餘數運算子，不是百分比。如果要計算</a:t>
            </a:r>
            <a:r>
              <a:rPr lang="en-US" altLang="zh-TW" sz="1600" dirty="0">
                <a:solidFill>
                  <a:srgbClr val="FFFFFF"/>
                </a:solidFill>
              </a:rPr>
              <a:t>20%%</a:t>
            </a:r>
            <a:r>
              <a:rPr lang="zh-TW" altLang="en-US" sz="1600" dirty="0">
                <a:solidFill>
                  <a:srgbClr val="FFFFFF"/>
                </a:solidFill>
              </a:rPr>
              <a:t>的折扣，你會怎麼寫？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F4CC4F6-6EA1-F265-6AE6-401A68FDFB15}"/>
              </a:ext>
            </a:extLst>
          </p:cNvPr>
          <p:cNvSpPr txBox="1"/>
          <p:nvPr/>
        </p:nvSpPr>
        <p:spPr>
          <a:xfrm>
            <a:off x="807653" y="5239567"/>
            <a:ext cx="75286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題目</a:t>
            </a:r>
            <a:endParaRPr lang="en-US" altLang="zh-TW" dirty="0"/>
          </a:p>
          <a:p>
            <a:r>
              <a:rPr lang="en-US" altLang="zh-TW" dirty="0"/>
              <a:t>total=100</a:t>
            </a:r>
          </a:p>
          <a:p>
            <a:r>
              <a:rPr lang="en-US" altLang="zh-TW" dirty="0"/>
              <a:t>discount=20%</a:t>
            </a:r>
          </a:p>
          <a:p>
            <a:r>
              <a:rPr lang="en-US" altLang="zh-TW" dirty="0"/>
              <a:t>final=total-discount</a:t>
            </a:r>
          </a:p>
          <a:p>
            <a:r>
              <a:rPr lang="en-US" altLang="zh-TW" dirty="0"/>
              <a:t>print(final)</a:t>
            </a:r>
          </a:p>
        </p:txBody>
      </p:sp>
    </p:spTree>
    <p:extLst>
      <p:ext uri="{BB962C8B-B14F-4D97-AF65-F5344CB8AC3E}">
        <p14:creationId xmlns:p14="http://schemas.microsoft.com/office/powerpoint/2010/main" val="191139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95FD-4419-5BA8-6234-AFF81950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BCFF809-5984-3A3A-C6AD-7627D48A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1-2 </a:t>
            </a:r>
            <a:r>
              <a:rPr lang="zh-TW" altLang="en-US" dirty="0">
                <a:latin typeface="+mn-ea"/>
              </a:rPr>
              <a:t>基礎語法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D851B6C-0049-D233-77F7-5048CFF9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1583D0-163A-DC30-B31B-ABD8CFC52F16}"/>
              </a:ext>
            </a:extLst>
          </p:cNvPr>
          <p:cNvSpPr txBox="1"/>
          <p:nvPr/>
        </p:nvSpPr>
        <p:spPr>
          <a:xfrm>
            <a:off x="611560" y="1074002"/>
            <a:ext cx="8319511" cy="452431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修正為：</a:t>
            </a:r>
            <a:r>
              <a:rPr lang="en-US" altLang="zh-TW" sz="1600" dirty="0">
                <a:solidFill>
                  <a:srgbClr val="FFFFFF"/>
                </a:solidFill>
              </a:rPr>
              <a:t>discount = total * 0.20":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score += 10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完全正確！</a:t>
            </a:r>
            <a:r>
              <a:rPr lang="en-US" altLang="zh-TW" sz="1600" dirty="0">
                <a:solidFill>
                  <a:srgbClr val="FFFFFF"/>
                </a:solidFill>
              </a:rPr>
              <a:t>discount = total * 0.20 </a:t>
            </a:r>
            <a:r>
              <a:rPr lang="zh-TW" altLang="en-US" sz="1600" dirty="0">
                <a:solidFill>
                  <a:srgbClr val="FFFFFF"/>
                </a:solidFill>
              </a:rPr>
              <a:t>才是正確的百分比計算方式。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"</a:t>
            </a:r>
            <a:r>
              <a:rPr lang="zh-TW" altLang="en-US" sz="1600" dirty="0">
                <a:solidFill>
                  <a:srgbClr val="FFFFFF"/>
                </a:solidFill>
              </a:rPr>
              <a:t>系統提示：</a:t>
            </a:r>
            <a:r>
              <a:rPr lang="en-US" altLang="zh-TW" sz="1600" dirty="0" err="1">
                <a:solidFill>
                  <a:srgbClr val="FFFFFF"/>
                </a:solidFill>
              </a:rPr>
              <a:t>PyBryt</a:t>
            </a:r>
            <a:r>
              <a:rPr lang="zh-TW" altLang="en-US" sz="1600" dirty="0">
                <a:solidFill>
                  <a:srgbClr val="FFFFFF"/>
                </a:solidFill>
              </a:rPr>
              <a:t>邏輯測試通過。鼓輪停止轉動，數字重新排列整齊，閘門開啟。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chapter1_3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修正為：</a:t>
            </a:r>
            <a:r>
              <a:rPr lang="en-US" altLang="zh-TW" sz="1600" dirty="0">
                <a:solidFill>
                  <a:srgbClr val="FFFFFF"/>
                </a:solidFill>
              </a:rPr>
              <a:t>discount = 20":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worry "</a:t>
            </a:r>
            <a:r>
              <a:rPr lang="zh-TW" altLang="en-US" sz="1600" dirty="0">
                <a:solidFill>
                  <a:srgbClr val="FFFFFF"/>
                </a:solidFill>
              </a:rPr>
              <a:t>測試失敗：數值硬編碼 </a:t>
            </a:r>
            <a:r>
              <a:rPr lang="en-US" altLang="zh-TW" sz="1600" dirty="0">
                <a:solidFill>
                  <a:srgbClr val="FFFFFF"/>
                </a:solidFill>
              </a:rPr>
              <a:t>(Hardcoded)</a:t>
            </a:r>
            <a:r>
              <a:rPr lang="zh-TW" altLang="en-US" sz="1600" dirty="0">
                <a:solidFill>
                  <a:srgbClr val="FFFFFF"/>
                </a:solidFill>
              </a:rPr>
              <a:t>。這樣寫是固定折扣</a:t>
            </a:r>
            <a:r>
              <a:rPr lang="en-US" altLang="zh-TW" sz="1600" dirty="0">
                <a:solidFill>
                  <a:srgbClr val="FFFFFF"/>
                </a:solidFill>
              </a:rPr>
              <a:t>20</a:t>
            </a:r>
            <a:r>
              <a:rPr lang="zh-TW" altLang="en-US" sz="1600" dirty="0">
                <a:solidFill>
                  <a:srgbClr val="FFFFFF"/>
                </a:solidFill>
              </a:rPr>
              <a:t>元，不是</a:t>
            </a:r>
            <a:r>
              <a:rPr lang="en-US" altLang="zh-TW" sz="1600" dirty="0">
                <a:solidFill>
                  <a:srgbClr val="FFFFFF"/>
                </a:solidFill>
              </a:rPr>
              <a:t>20%%</a:t>
            </a:r>
            <a:r>
              <a:rPr lang="zh-TW" altLang="en-US" sz="1600" dirty="0">
                <a:solidFill>
                  <a:srgbClr val="FFFFFF"/>
                </a:solidFill>
              </a:rPr>
              <a:t>。如果 </a:t>
            </a:r>
            <a:r>
              <a:rPr lang="en-US" altLang="zh-TW" sz="1600" dirty="0">
                <a:solidFill>
                  <a:srgbClr val="FFFFFF"/>
                </a:solidFill>
              </a:rPr>
              <a:t>total</a:t>
            </a:r>
            <a:r>
              <a:rPr lang="zh-TW" altLang="en-US" sz="1600" dirty="0">
                <a:solidFill>
                  <a:srgbClr val="FFFFFF"/>
                </a:solidFill>
              </a:rPr>
              <a:t>變了，這個數字就不對了。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chapter1_2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修正為：</a:t>
            </a:r>
            <a:r>
              <a:rPr lang="en-US" altLang="zh-TW" sz="1600" dirty="0">
                <a:solidFill>
                  <a:srgbClr val="FFFFFF"/>
                </a:solidFill>
              </a:rPr>
              <a:t>discount = \"20%%\"":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worry "</a:t>
            </a:r>
            <a:r>
              <a:rPr lang="zh-TW" altLang="en-US" sz="1600" dirty="0">
                <a:solidFill>
                  <a:srgbClr val="FFFFFF"/>
                </a:solidFill>
              </a:rPr>
              <a:t>測試失敗：</a:t>
            </a:r>
            <a:r>
              <a:rPr lang="en-US" altLang="zh-TW" sz="1600" dirty="0" err="1">
                <a:solidFill>
                  <a:srgbClr val="FFFFFF"/>
                </a:solidFill>
              </a:rPr>
              <a:t>TypeError</a:t>
            </a:r>
            <a:r>
              <a:rPr lang="zh-TW" altLang="en-US" sz="1600" dirty="0">
                <a:solidFill>
                  <a:srgbClr val="FFFFFF"/>
                </a:solidFill>
              </a:rPr>
              <a:t>。這樣 </a:t>
            </a:r>
            <a:r>
              <a:rPr lang="en-US" altLang="zh-TW" sz="1600" dirty="0">
                <a:solidFill>
                  <a:srgbClr val="FFFFFF"/>
                </a:solidFill>
              </a:rPr>
              <a:t>discount </a:t>
            </a:r>
            <a:r>
              <a:rPr lang="zh-TW" altLang="en-US" sz="1600" dirty="0">
                <a:solidFill>
                  <a:srgbClr val="FFFFFF"/>
                </a:solidFill>
              </a:rPr>
              <a:t>變成字串了，字串不能拿來跟整數做相減運算。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chapter1_2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202001A-1999-2E2F-2ACA-BD0C279295D3}"/>
              </a:ext>
            </a:extLst>
          </p:cNvPr>
          <p:cNvSpPr txBox="1"/>
          <p:nvPr/>
        </p:nvSpPr>
        <p:spPr>
          <a:xfrm>
            <a:off x="771649" y="5756703"/>
            <a:ext cx="7528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若使用者選擇錯誤的選擇，我們可以提供一些提示，來引導使用者可以選出正確的選項。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25622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B72F-A9A4-0426-6283-90284DE1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0C556E0-84E9-D0A9-BE72-E9D39FFF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1-3 </a:t>
            </a:r>
            <a:r>
              <a:rPr lang="zh-TW" altLang="en-US" dirty="0">
                <a:latin typeface="+mn-ea"/>
              </a:rPr>
              <a:t>迴圈與資料結構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9F6F3B9-7B8B-27DC-ABC2-CB2008EE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661AF9-E641-2834-46C3-F2A885B006B3}"/>
              </a:ext>
            </a:extLst>
          </p:cNvPr>
          <p:cNvSpPr txBox="1"/>
          <p:nvPr/>
        </p:nvSpPr>
        <p:spPr>
          <a:xfrm>
            <a:off x="611560" y="1074002"/>
            <a:ext cx="8319511" cy="329320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chapter1_3: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空間突然開始扭曲。走廊在眼前無限複製，像鏡中鏡一樣延伸，形成一個無法逃脫的迷宮。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sys "【</a:t>
            </a:r>
            <a:r>
              <a:rPr lang="zh-TW" altLang="en-US" sz="1600" dirty="0">
                <a:solidFill>
                  <a:srgbClr val="FFFFFF"/>
                </a:solidFill>
              </a:rPr>
              <a:t>警報</a:t>
            </a:r>
            <a:r>
              <a:rPr lang="en-US" altLang="zh-TW" sz="1600" dirty="0">
                <a:solidFill>
                  <a:srgbClr val="FFFFFF"/>
                </a:solidFill>
              </a:rPr>
              <a:t>】</a:t>
            </a:r>
            <a:r>
              <a:rPr lang="zh-TW" altLang="en-US" sz="1600" dirty="0">
                <a:solidFill>
                  <a:srgbClr val="FFFFFF"/>
                </a:solidFill>
              </a:rPr>
              <a:t>庫存管理密室陷入無限迴圈。</a:t>
            </a:r>
            <a:r>
              <a:rPr lang="en-US" altLang="zh-TW" sz="1600" dirty="0">
                <a:solidFill>
                  <a:srgbClr val="FFFFFF"/>
                </a:solidFill>
              </a:rPr>
              <a:t>CPU</a:t>
            </a:r>
            <a:r>
              <a:rPr lang="zh-TW" altLang="en-US" sz="1600" dirty="0">
                <a:solidFill>
                  <a:srgbClr val="FFFFFF"/>
                </a:solidFill>
              </a:rPr>
              <a:t>使用率</a:t>
            </a:r>
            <a:r>
              <a:rPr lang="en-US" altLang="zh-TW" sz="1600" dirty="0">
                <a:solidFill>
                  <a:srgbClr val="FFFFFF"/>
                </a:solidFill>
              </a:rPr>
              <a:t>99.9%%</a:t>
            </a:r>
            <a:r>
              <a:rPr lang="zh-TW" altLang="en-US" sz="1600" dirty="0">
                <a:solidFill>
                  <a:srgbClr val="FFFFFF"/>
                </a:solidFill>
              </a:rPr>
              <a:t>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error “</a:t>
            </a:r>
            <a:r>
              <a:rPr lang="zh-TW" altLang="en-US" sz="1600" dirty="0">
                <a:solidFill>
                  <a:srgbClr val="FFFFFF"/>
                </a:solidFill>
              </a:rPr>
              <a:t>這就是為什麼密室開始抖動，庫存系統陷入無限迴圈，它一直在重複執行卻沒有停止條件。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你來判斷哪裡會造成無限迴圈，並選出最適合管理這個庫存資料的結構。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投影出現有問題的程式碼：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  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 = 0\n  while 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 &lt; 10:\n      print(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)\n  # </a:t>
            </a:r>
            <a:r>
              <a:rPr lang="zh-TW" altLang="en-US" sz="1600" dirty="0">
                <a:solidFill>
                  <a:srgbClr val="FFFFFF"/>
                </a:solidFill>
              </a:rPr>
              <a:t>少了 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 += 1"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E1C3346-ACFD-CE91-13E1-F48BE344B477}"/>
              </a:ext>
            </a:extLst>
          </p:cNvPr>
          <p:cNvSpPr txBox="1"/>
          <p:nvPr/>
        </p:nvSpPr>
        <p:spPr>
          <a:xfrm>
            <a:off x="611560" y="4583669"/>
            <a:ext cx="7528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題目</a:t>
            </a:r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=0</a:t>
            </a:r>
          </a:p>
          <a:p>
            <a:r>
              <a:rPr lang="en-US" altLang="zh-TW" dirty="0"/>
              <a:t>While </a:t>
            </a:r>
            <a:r>
              <a:rPr lang="en-US" altLang="zh-TW" dirty="0" err="1"/>
              <a:t>i</a:t>
            </a:r>
            <a:r>
              <a:rPr lang="en-US" altLang="zh-TW" dirty="0"/>
              <a:t>&lt;10:</a:t>
            </a:r>
          </a:p>
          <a:p>
            <a:r>
              <a:rPr lang="en-US" altLang="zh-TW" dirty="0"/>
              <a:t>	print(</a:t>
            </a:r>
            <a:r>
              <a:rPr lang="en-US" altLang="zh-TW" dirty="0" err="1"/>
              <a:t>i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4343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915E-696D-45DA-ABC5-60D3CFB3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1550E59-8016-F329-1573-273E663EE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1-3 </a:t>
            </a:r>
            <a:r>
              <a:rPr lang="zh-TW" altLang="en-US" dirty="0">
                <a:latin typeface="+mn-ea"/>
              </a:rPr>
              <a:t>迴圈與資料結構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DFC7888-B2D1-9836-2C2A-611E3281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3ACF5F6-FEE8-BC38-ECC5-D8EFDCE27852}"/>
              </a:ext>
            </a:extLst>
          </p:cNvPr>
          <p:cNvSpPr txBox="1"/>
          <p:nvPr/>
        </p:nvSpPr>
        <p:spPr>
          <a:xfrm>
            <a:off x="611560" y="1988840"/>
            <a:ext cx="8319511" cy="304698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問題在：缺少 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 += 1 </a:t>
            </a:r>
            <a:r>
              <a:rPr lang="zh-TW" altLang="en-US" sz="1600" dirty="0">
                <a:solidFill>
                  <a:srgbClr val="FFFFFF"/>
                </a:solidFill>
              </a:rPr>
              <a:t>讓計數器遞增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score += 5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對！沒有 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  <a:r>
              <a:rPr lang="zh-TW" altLang="en-US" sz="1600" dirty="0">
                <a:solidFill>
                  <a:srgbClr val="FFFFFF"/>
                </a:solidFill>
              </a:rPr>
              <a:t>，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永遠是 </a:t>
            </a:r>
            <a:r>
              <a:rPr lang="en-US" altLang="zh-TW" sz="1600" dirty="0">
                <a:solidFill>
                  <a:srgbClr val="FFFFFF"/>
                </a:solidFill>
              </a:rPr>
              <a:t>0</a:t>
            </a:r>
            <a:r>
              <a:rPr lang="zh-TW" altLang="en-US" sz="1600" dirty="0">
                <a:solidFill>
                  <a:srgbClr val="FFFFFF"/>
                </a:solidFill>
              </a:rPr>
              <a:t>，條件永遠是 </a:t>
            </a:r>
            <a:r>
              <a:rPr lang="en-US" altLang="zh-TW" sz="1600" dirty="0">
                <a:solidFill>
                  <a:srgbClr val="FFFFFF"/>
                </a:solidFill>
              </a:rPr>
              <a:t>True</a:t>
            </a:r>
            <a:r>
              <a:rPr lang="zh-TW" altLang="en-US" sz="1600" dirty="0">
                <a:solidFill>
                  <a:srgbClr val="FFFFFF"/>
                </a:solidFill>
              </a:rPr>
              <a:t>，迴圈永遠不停。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ch1_3b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問題在：</a:t>
            </a:r>
            <a:r>
              <a:rPr lang="en-US" altLang="zh-TW" sz="1600" dirty="0">
                <a:solidFill>
                  <a:srgbClr val="FFFFFF"/>
                </a:solidFill>
              </a:rPr>
              <a:t>while</a:t>
            </a:r>
            <a:r>
              <a:rPr lang="zh-TW" altLang="en-US" sz="1600" dirty="0">
                <a:solidFill>
                  <a:srgbClr val="FFFFFF"/>
                </a:solidFill>
              </a:rPr>
              <a:t>應該改成</a:t>
            </a:r>
            <a:r>
              <a:rPr lang="en-US" altLang="zh-TW" sz="1600" dirty="0">
                <a:solidFill>
                  <a:srgbClr val="FFFFFF"/>
                </a:solidFill>
              </a:rPr>
              <a:t>for":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normal "</a:t>
            </a:r>
            <a:r>
              <a:rPr lang="zh-TW" altLang="en-US" sz="1600" dirty="0">
                <a:solidFill>
                  <a:srgbClr val="FFFFFF"/>
                </a:solidFill>
              </a:rPr>
              <a:t>這是一個解法，但不是引發無限迴圈的根本原因。看看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zh-TW" altLang="en-US" sz="1600" dirty="0">
                <a:solidFill>
                  <a:srgbClr val="FFFFFF"/>
                </a:solidFill>
              </a:rPr>
              <a:t>這個變數，它有在迴圈裡面被改變嗎？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chapter1_3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問題在：</a:t>
            </a:r>
            <a:r>
              <a:rPr lang="en-US" altLang="zh-TW" sz="1600" dirty="0">
                <a:solidFill>
                  <a:srgbClr val="FFFFFF"/>
                </a:solidFill>
              </a:rPr>
              <a:t>print(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) </a:t>
            </a:r>
            <a:r>
              <a:rPr lang="zh-TW" altLang="en-US" sz="1600" dirty="0">
                <a:solidFill>
                  <a:srgbClr val="FFFFFF"/>
                </a:solidFill>
              </a:rPr>
              <a:t>應該移到迴圈外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worry "</a:t>
            </a:r>
            <a:r>
              <a:rPr lang="zh-TW" altLang="en-US" sz="1600" dirty="0">
                <a:solidFill>
                  <a:srgbClr val="FFFFFF"/>
                </a:solidFill>
              </a:rPr>
              <a:t>這樣的話 </a:t>
            </a:r>
            <a:r>
              <a:rPr lang="en-US" altLang="zh-TW" sz="1600" dirty="0" err="1">
                <a:solidFill>
                  <a:srgbClr val="FFFFFF"/>
                </a:solidFill>
              </a:rPr>
              <a:t>i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根本不會被印出來。想想：迴圈什麼時候才會停下來？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chapter1_3</a:t>
            </a:r>
          </a:p>
        </p:txBody>
      </p:sp>
    </p:spTree>
    <p:extLst>
      <p:ext uri="{BB962C8B-B14F-4D97-AF65-F5344CB8AC3E}">
        <p14:creationId xmlns:p14="http://schemas.microsoft.com/office/powerpoint/2010/main" val="3376416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8070-E17E-46C5-9648-C5784A8E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AAEA7F0-9E8C-620E-8316-B825D424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1-3 </a:t>
            </a:r>
            <a:r>
              <a:rPr lang="zh-TW" altLang="en-US" dirty="0">
                <a:latin typeface="+mn-ea"/>
              </a:rPr>
              <a:t>迴圈與資料結構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77E87B8-184A-F066-D976-4F5B7817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9976B55-975A-C084-A5C6-5EDB441B3B85}"/>
              </a:ext>
            </a:extLst>
          </p:cNvPr>
          <p:cNvSpPr txBox="1"/>
          <p:nvPr/>
        </p:nvSpPr>
        <p:spPr>
          <a:xfrm>
            <a:off x="611560" y="1034562"/>
            <a:ext cx="8280920" cy="526297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ch1_3b: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很好！現在，這個庫存系統需要頻繁地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新增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和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取出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資料。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你會選哪種資料結構作為修復的基底？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佇列（</a:t>
            </a:r>
            <a:r>
              <a:rPr lang="en-US" altLang="zh-TW" sz="1600" dirty="0">
                <a:solidFill>
                  <a:srgbClr val="FFFFFF"/>
                </a:solidFill>
              </a:rPr>
              <a:t>Queue</a:t>
            </a:r>
            <a:r>
              <a:rPr lang="zh-TW" altLang="en-US" sz="1600" dirty="0">
                <a:solidFill>
                  <a:srgbClr val="FFFFFF"/>
                </a:solidFill>
              </a:rPr>
              <a:t>）</a:t>
            </a:r>
            <a:r>
              <a:rPr lang="en-US" altLang="zh-TW" sz="1600" dirty="0">
                <a:solidFill>
                  <a:srgbClr val="FFFFFF"/>
                </a:solidFill>
              </a:rPr>
              <a:t>— </a:t>
            </a:r>
            <a:r>
              <a:rPr lang="zh-TW" altLang="en-US" sz="1600" dirty="0">
                <a:solidFill>
                  <a:srgbClr val="FFFFFF"/>
                </a:solidFill>
              </a:rPr>
              <a:t>先進先出（</a:t>
            </a:r>
            <a:r>
              <a:rPr lang="en-US" altLang="zh-TW" sz="1600" dirty="0">
                <a:solidFill>
                  <a:srgbClr val="FFFFFF"/>
                </a:solidFill>
              </a:rPr>
              <a:t>FIFO</a:t>
            </a:r>
            <a:r>
              <a:rPr lang="zh-TW" altLang="en-US" sz="1600" dirty="0">
                <a:solidFill>
                  <a:srgbClr val="FFFFFF"/>
                </a:solidFill>
              </a:rPr>
              <a:t>）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score += 10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完美！佇列就是為了這種先進先出的場景設計的，非常適合庫存管理。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chapter1_clear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堆疊（</a:t>
            </a:r>
            <a:r>
              <a:rPr lang="en-US" altLang="zh-TW" sz="1600" dirty="0">
                <a:solidFill>
                  <a:srgbClr val="FFFFFF"/>
                </a:solidFill>
              </a:rPr>
              <a:t>Stack</a:t>
            </a:r>
            <a:r>
              <a:rPr lang="zh-TW" altLang="en-US" sz="1600" dirty="0">
                <a:solidFill>
                  <a:srgbClr val="FFFFFF"/>
                </a:solidFill>
              </a:rPr>
              <a:t>）</a:t>
            </a:r>
            <a:r>
              <a:rPr lang="en-US" altLang="zh-TW" sz="1600" dirty="0">
                <a:solidFill>
                  <a:srgbClr val="FFFFFF"/>
                </a:solidFill>
              </a:rPr>
              <a:t>— </a:t>
            </a:r>
            <a:r>
              <a:rPr lang="zh-TW" altLang="en-US" sz="1600" dirty="0">
                <a:solidFill>
                  <a:srgbClr val="FFFFFF"/>
                </a:solidFill>
              </a:rPr>
              <a:t>後進先出（</a:t>
            </a:r>
            <a:r>
              <a:rPr lang="en-US" altLang="zh-TW" sz="1600" dirty="0">
                <a:solidFill>
                  <a:srgbClr val="FFFFFF"/>
                </a:solidFill>
              </a:rPr>
              <a:t>LIFO</a:t>
            </a:r>
            <a:r>
              <a:rPr lang="zh-TW" altLang="en-US" sz="1600" dirty="0">
                <a:solidFill>
                  <a:srgbClr val="FFFFFF"/>
                </a:solidFill>
              </a:rPr>
              <a:t>）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worry "</a:t>
            </a:r>
            <a:r>
              <a:rPr lang="zh-TW" altLang="en-US" sz="1600" dirty="0">
                <a:solidFill>
                  <a:srgbClr val="FFFFFF"/>
                </a:solidFill>
              </a:rPr>
              <a:t>堆疊是後進先出。想像你在排隊買票，先排的人先買到</a:t>
            </a:r>
            <a:r>
              <a:rPr lang="en-US" altLang="zh-TW" sz="1600" dirty="0">
                <a:solidFill>
                  <a:srgbClr val="FFFFFF"/>
                </a:solidFill>
              </a:rPr>
              <a:t>——</a:t>
            </a:r>
            <a:r>
              <a:rPr lang="zh-TW" altLang="en-US" sz="1600" dirty="0">
                <a:solidFill>
                  <a:srgbClr val="FFFFFF"/>
                </a:solidFill>
              </a:rPr>
              <a:t>這是哪種結構？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ch1_3b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字典（</a:t>
            </a:r>
            <a:r>
              <a:rPr lang="en-US" altLang="zh-TW" sz="1600" dirty="0" err="1">
                <a:solidFill>
                  <a:srgbClr val="FFFFFF"/>
                </a:solidFill>
              </a:rPr>
              <a:t>Dict</a:t>
            </a:r>
            <a:r>
              <a:rPr lang="zh-TW" altLang="en-US" sz="1600" dirty="0">
                <a:solidFill>
                  <a:srgbClr val="FFFFFF"/>
                </a:solidFill>
              </a:rPr>
              <a:t>）</a:t>
            </a:r>
            <a:r>
              <a:rPr lang="en-US" altLang="zh-TW" sz="1600" dirty="0">
                <a:solidFill>
                  <a:srgbClr val="FFFFFF"/>
                </a:solidFill>
              </a:rPr>
              <a:t>— </a:t>
            </a:r>
            <a:r>
              <a:rPr lang="zh-TW" altLang="en-US" sz="1600" dirty="0">
                <a:solidFill>
                  <a:srgbClr val="FFFFFF"/>
                </a:solidFill>
              </a:rPr>
              <a:t>鍵值對應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normal "</a:t>
            </a:r>
            <a:r>
              <a:rPr lang="zh-TW" altLang="en-US" sz="1600" dirty="0">
                <a:solidFill>
                  <a:srgbClr val="FFFFFF"/>
                </a:solidFill>
              </a:rPr>
              <a:t>字典適合用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名稱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查找對應資料，但不擅長管理順序和進出。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ch1_3b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C1A978-5589-C9BD-ED6D-6522BCF3710D}"/>
              </a:ext>
            </a:extLst>
          </p:cNvPr>
          <p:cNvSpPr txBox="1"/>
          <p:nvPr/>
        </p:nvSpPr>
        <p:spPr>
          <a:xfrm>
            <a:off x="1158942" y="6403094"/>
            <a:ext cx="7186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可以利用多個</a:t>
            </a:r>
            <a:r>
              <a:rPr lang="en-US" altLang="zh-TW" dirty="0" err="1"/>
              <a:t>meau</a:t>
            </a:r>
            <a:r>
              <a:rPr lang="zh-TW" altLang="en-US" dirty="0"/>
              <a:t>以及</a:t>
            </a:r>
            <a:r>
              <a:rPr lang="en-US" altLang="zh-TW" dirty="0"/>
              <a:t>label</a:t>
            </a:r>
            <a:r>
              <a:rPr lang="zh-TW" altLang="en-US" dirty="0"/>
              <a:t>，來達成一小節多個題目的結果。</a:t>
            </a:r>
          </a:p>
        </p:txBody>
      </p:sp>
    </p:spTree>
    <p:extLst>
      <p:ext uri="{BB962C8B-B14F-4D97-AF65-F5344CB8AC3E}">
        <p14:creationId xmlns:p14="http://schemas.microsoft.com/office/powerpoint/2010/main" val="1791040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32F7-C727-30B1-750C-D5800284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3FB8173-B71B-6C83-2A19-0858F104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chapter1 </a:t>
            </a:r>
            <a:r>
              <a:rPr lang="zh-TW" altLang="en-US" dirty="0">
                <a:latin typeface="+mn-ea"/>
              </a:rPr>
              <a:t>結尾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FBD7FC4-591A-74A4-152D-700F272E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1F9ACE6-A75C-4763-E38A-2B210F296ED1}"/>
              </a:ext>
            </a:extLst>
          </p:cNvPr>
          <p:cNvSpPr txBox="1"/>
          <p:nvPr/>
        </p:nvSpPr>
        <p:spPr>
          <a:xfrm>
            <a:off x="638486" y="1412776"/>
            <a:ext cx="8319511" cy="329320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 label chapter1_clear: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走廊的扭曲消失，密室解鎖。一扇通往下層的電梯門緩緩開啟，發出藍色光暈。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happy "Layer 1</a:t>
            </a:r>
            <a:r>
              <a:rPr lang="zh-TW" altLang="en-US" sz="1600" dirty="0">
                <a:solidFill>
                  <a:srgbClr val="FFFFFF"/>
                </a:solidFill>
              </a:rPr>
              <a:t>密室修復完成！你做得很好。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接下來是 </a:t>
            </a:r>
            <a:r>
              <a:rPr lang="en-US" altLang="zh-TW" sz="1600" dirty="0">
                <a:solidFill>
                  <a:srgbClr val="FFFFFF"/>
                </a:solidFill>
              </a:rPr>
              <a:t>Layer 2</a:t>
            </a:r>
            <a:r>
              <a:rPr lang="zh-TW" altLang="en-US" sz="1600" dirty="0">
                <a:solidFill>
                  <a:srgbClr val="FFFFFF"/>
                </a:solidFill>
              </a:rPr>
              <a:t>，那裡的 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輔助會少一點，你需要由自己負責主要部份了。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p "</a:t>
            </a:r>
            <a:r>
              <a:rPr lang="zh-TW" altLang="en-US" sz="1600" dirty="0">
                <a:solidFill>
                  <a:srgbClr val="FFFFFF"/>
                </a:solidFill>
              </a:rPr>
              <a:t>等一下</a:t>
            </a:r>
            <a:r>
              <a:rPr lang="en-US" altLang="zh-TW" sz="1600" dirty="0">
                <a:solidFill>
                  <a:srgbClr val="FFFFFF"/>
                </a:solidFill>
              </a:rPr>
              <a:t>——</a:t>
            </a:r>
            <a:r>
              <a:rPr lang="zh-TW" altLang="en-US" sz="1600" dirty="0">
                <a:solidFill>
                  <a:srgbClr val="FFFFFF"/>
                </a:solidFill>
              </a:rPr>
              <a:t>你說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少一點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normal "</a:t>
            </a:r>
            <a:r>
              <a:rPr lang="zh-TW" altLang="en-US" sz="1600" dirty="0">
                <a:solidFill>
                  <a:srgbClr val="FFFFFF"/>
                </a:solidFill>
              </a:rPr>
              <a:t>我不能一直把答案塞到你手裡，否則你永遠無法對抗那些失控的</a:t>
            </a:r>
            <a:r>
              <a:rPr lang="en-US" altLang="zh-TW" sz="1600" dirty="0">
                <a:solidFill>
                  <a:srgbClr val="FFFFFF"/>
                </a:solidFill>
              </a:rPr>
              <a:t>AI</a:t>
            </a:r>
            <a:r>
              <a:rPr lang="zh-TW" altLang="en-US" sz="1600" dirty="0">
                <a:solidFill>
                  <a:srgbClr val="FFFFFF"/>
                </a:solidFill>
              </a:rPr>
              <a:t>程式碼。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hint "</a:t>
            </a:r>
            <a:r>
              <a:rPr lang="zh-TW" altLang="en-US" sz="1600" dirty="0">
                <a:solidFill>
                  <a:srgbClr val="FFFFFF"/>
                </a:solidFill>
              </a:rPr>
              <a:t>準備迎接真正的</a:t>
            </a:r>
            <a:r>
              <a:rPr lang="en-US" altLang="zh-TW" sz="1600" dirty="0">
                <a:solidFill>
                  <a:srgbClr val="FFFFFF"/>
                </a:solidFill>
              </a:rPr>
              <a:t>Debug</a:t>
            </a:r>
            <a:r>
              <a:rPr lang="zh-TW" altLang="en-US" sz="1600" dirty="0">
                <a:solidFill>
                  <a:srgbClr val="FFFFFF"/>
                </a:solidFill>
              </a:rPr>
              <a:t>吧，加油。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jump chapter2_intro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D37065F-2DA9-0E3B-D443-4079A90A9305}"/>
              </a:ext>
            </a:extLst>
          </p:cNvPr>
          <p:cNvSpPr txBox="1"/>
          <p:nvPr/>
        </p:nvSpPr>
        <p:spPr>
          <a:xfrm>
            <a:off x="985062" y="5017476"/>
            <a:ext cx="762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利用結尾的旁白以及</a:t>
            </a:r>
            <a:r>
              <a:rPr lang="en-US" altLang="zh-TW" dirty="0"/>
              <a:t>aria</a:t>
            </a:r>
            <a:r>
              <a:rPr lang="zh-TW" altLang="en-US" dirty="0"/>
              <a:t>人物對話，來提升使用者的體驗以及期待感</a:t>
            </a:r>
          </a:p>
        </p:txBody>
      </p:sp>
    </p:spTree>
    <p:extLst>
      <p:ext uri="{BB962C8B-B14F-4D97-AF65-F5344CB8AC3E}">
        <p14:creationId xmlns:p14="http://schemas.microsoft.com/office/powerpoint/2010/main" val="60160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AF12-9E50-4C56-413E-0743CA83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FE93B82-1781-B066-0748-5457A94BD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chapter2 (80%)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0C7B197-0234-BE24-BEE8-E0176ABB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0985011-92AA-F738-8890-F0E3836DE0AE}"/>
              </a:ext>
            </a:extLst>
          </p:cNvPr>
          <p:cNvSpPr txBox="1"/>
          <p:nvPr/>
        </p:nvSpPr>
        <p:spPr>
          <a:xfrm>
            <a:off x="638484" y="1150664"/>
            <a:ext cx="8319511" cy="1815882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chapter2_intro: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"</a:t>
            </a:r>
            <a:r>
              <a:rPr lang="zh-TW" altLang="en-US" sz="1600" dirty="0">
                <a:solidFill>
                  <a:srgbClr val="FFFFFF"/>
                </a:solidFill>
              </a:rPr>
              <a:t>進入一個像辦公室的空間，但所有門都被紅色雷射網封鎖。電話不停響，卻沒人接聽。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sys "【</a:t>
            </a:r>
            <a:r>
              <a:rPr lang="zh-TW" altLang="en-US" sz="1600" dirty="0">
                <a:solidFill>
                  <a:srgbClr val="FFFFFF"/>
                </a:solidFill>
              </a:rPr>
              <a:t>警報</a:t>
            </a:r>
            <a:r>
              <a:rPr lang="en-US" altLang="zh-TW" sz="1600" dirty="0">
                <a:solidFill>
                  <a:srgbClr val="FFFFFF"/>
                </a:solidFill>
              </a:rPr>
              <a:t>】Layer 2 </a:t>
            </a:r>
            <a:r>
              <a:rPr lang="zh-TW" altLang="en-US" sz="1600" dirty="0">
                <a:solidFill>
                  <a:srgbClr val="FFFFFF"/>
                </a:solidFill>
              </a:rPr>
              <a:t>三個子系統異常。通信模組 </a:t>
            </a:r>
            <a:r>
              <a:rPr lang="en-US" altLang="zh-TW" sz="1600" dirty="0">
                <a:solidFill>
                  <a:srgbClr val="FFFFFF"/>
                </a:solidFill>
              </a:rPr>
              <a:t>Lag</a:t>
            </a:r>
            <a:r>
              <a:rPr lang="zh-TW" altLang="en-US" sz="1600" dirty="0">
                <a:solidFill>
                  <a:srgbClr val="FFFFFF"/>
                </a:solidFill>
              </a:rPr>
              <a:t>、日誌系統崩潰、情報爬蟲被封鎖。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serious "</a:t>
            </a:r>
            <a:r>
              <a:rPr lang="zh-TW" altLang="en-US" sz="1600" dirty="0">
                <a:solidFill>
                  <a:srgbClr val="FFFFFF"/>
                </a:solidFill>
              </a:rPr>
              <a:t>這層的密室比較麻煩。我會給你有 </a:t>
            </a:r>
            <a:r>
              <a:rPr lang="en-US" altLang="zh-TW" sz="1600" dirty="0">
                <a:solidFill>
                  <a:srgbClr val="FFFFFF"/>
                </a:solidFill>
              </a:rPr>
              <a:t>Bug </a:t>
            </a:r>
            <a:r>
              <a:rPr lang="zh-TW" altLang="en-US" sz="1600" dirty="0">
                <a:solidFill>
                  <a:srgbClr val="FFFFFF"/>
                </a:solidFill>
              </a:rPr>
              <a:t>的程式碼，你需要找出問題並修正。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"</a:t>
            </a:r>
            <a:r>
              <a:rPr lang="zh-TW" altLang="en-US" sz="1600" dirty="0">
                <a:solidFill>
                  <a:srgbClr val="FFFFFF"/>
                </a:solidFill>
              </a:rPr>
              <a:t>我還是會在旁邊提供錯誤訊息線索，但我不會直接把正確語法列出來了。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636A61-7771-C1AC-FA9C-AE2F41BF4DF1}"/>
              </a:ext>
            </a:extLst>
          </p:cNvPr>
          <p:cNvSpPr txBox="1"/>
          <p:nvPr/>
        </p:nvSpPr>
        <p:spPr>
          <a:xfrm>
            <a:off x="640849" y="3201594"/>
            <a:ext cx="8319511" cy="304698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chapter2_1: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一面巨大的白板上貼滿了重複的便利貼，每張都寫著幾乎一樣的程式碼。通訊室的門緊閉。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worry "</a:t>
            </a:r>
            <a:r>
              <a:rPr lang="zh-TW" altLang="en-US" sz="1600" dirty="0">
                <a:solidFill>
                  <a:srgbClr val="FFFFFF"/>
                </a:solidFill>
              </a:rPr>
              <a:t>通信模組的程式碼，同樣的計算邏輯被 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複製貼上了七次。而且執行時會拋出 </a:t>
            </a:r>
            <a:r>
              <a:rPr lang="en-US" altLang="zh-TW" sz="1600" dirty="0" err="1">
                <a:solidFill>
                  <a:srgbClr val="FFFFFF"/>
                </a:solidFill>
              </a:rPr>
              <a:t>UnboundLocalError</a:t>
            </a:r>
            <a:r>
              <a:rPr lang="zh-TW" altLang="en-US" sz="1600" dirty="0">
                <a:solidFill>
                  <a:srgbClr val="FFFFFF"/>
                </a:solidFill>
              </a:rPr>
              <a:t>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投影出現有</a:t>
            </a:r>
            <a:r>
              <a:rPr lang="en-US" altLang="zh-TW" sz="1600" dirty="0">
                <a:solidFill>
                  <a:srgbClr val="FFFFFF"/>
                </a:solidFill>
              </a:rPr>
              <a:t>Bug</a:t>
            </a:r>
            <a:r>
              <a:rPr lang="zh-TW" altLang="en-US" sz="1600" dirty="0">
                <a:solidFill>
                  <a:srgbClr val="FFFFFF"/>
                </a:solidFill>
              </a:rPr>
              <a:t>的程式碼：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  total = 0\n\n  def </a:t>
            </a:r>
            <a:r>
              <a:rPr lang="en-US" altLang="zh-TW" sz="1600" dirty="0" err="1">
                <a:solidFill>
                  <a:srgbClr val="FFFFFF"/>
                </a:solidFill>
              </a:rPr>
              <a:t>add_score</a:t>
            </a:r>
            <a:r>
              <a:rPr lang="en-US" altLang="zh-TW" sz="1600" dirty="0">
                <a:solidFill>
                  <a:srgbClr val="FFFFFF"/>
                </a:solidFill>
              </a:rPr>
              <a:t>(points):\n      total += points\n      return total\n\n  </a:t>
            </a:r>
            <a:r>
              <a:rPr lang="en-US" altLang="zh-TW" sz="1600" dirty="0" err="1">
                <a:solidFill>
                  <a:srgbClr val="FFFFFF"/>
                </a:solidFill>
              </a:rPr>
              <a:t>add_score</a:t>
            </a:r>
            <a:r>
              <a:rPr lang="en-US" altLang="zh-TW" sz="1600" dirty="0">
                <a:solidFill>
                  <a:srgbClr val="FFFFFF"/>
                </a:solidFill>
              </a:rPr>
              <a:t>(10)"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這段程式試圖修改全域變數，但失敗了。你知道為什麼嗎？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555623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5FFC-8146-CB2F-83E7-070B717E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F7A5833-2AB7-44AF-ABE0-CF5B4BD8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2-1</a:t>
            </a:r>
            <a:r>
              <a:rPr lang="zh-TW" altLang="en-US" dirty="0">
                <a:latin typeface="+mn-ea"/>
              </a:rPr>
              <a:t>函式與模組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A0E4B1C-AFEE-4AAD-2D3D-7DD3160C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B7B571C-5268-B07E-0A0B-3FC6D690814F}"/>
              </a:ext>
            </a:extLst>
          </p:cNvPr>
          <p:cNvSpPr txBox="1"/>
          <p:nvPr/>
        </p:nvSpPr>
        <p:spPr>
          <a:xfrm>
            <a:off x="611560" y="1124744"/>
            <a:ext cx="8319511" cy="3785652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"global total </a:t>
            </a:r>
            <a:r>
              <a:rPr lang="zh-TW" altLang="en-US" sz="1600" dirty="0">
                <a:solidFill>
                  <a:srgbClr val="FFFFFF"/>
                </a:solidFill>
              </a:rPr>
              <a:t>沒有宣告，函式內無法修改外部變數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score += 10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完全正確！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函式內若要修改外部變數，需要加上 </a:t>
            </a:r>
            <a:r>
              <a:rPr lang="en-US" altLang="zh-TW" sz="1600" dirty="0">
                <a:solidFill>
                  <a:srgbClr val="FFFFFF"/>
                </a:solidFill>
              </a:rPr>
              <a:t>global </a:t>
            </a:r>
            <a:r>
              <a:rPr lang="zh-TW" altLang="en-US" sz="1600" dirty="0">
                <a:solidFill>
                  <a:srgbClr val="FFFFFF"/>
                </a:solidFill>
              </a:rPr>
              <a:t>宣告。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"</a:t>
            </a:r>
            <a:r>
              <a:rPr lang="zh-TW" altLang="en-US" sz="1600" dirty="0">
                <a:solidFill>
                  <a:srgbClr val="FFFFFF"/>
                </a:solidFill>
              </a:rPr>
              <a:t>白板上的便利貼一張張脫落，匯聚成一個整齊的函式模組。通訊室雷射網解除。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chapter2_2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函式名稱</a:t>
            </a:r>
            <a:r>
              <a:rPr lang="en-US" altLang="zh-TW" sz="1600" dirty="0" err="1">
                <a:solidFill>
                  <a:srgbClr val="FFFFFF"/>
                </a:solidFill>
              </a:rPr>
              <a:t>add_score</a:t>
            </a:r>
            <a:r>
              <a:rPr lang="zh-TW" altLang="en-US" sz="1600" dirty="0">
                <a:solidFill>
                  <a:srgbClr val="FFFFFF"/>
                </a:solidFill>
              </a:rPr>
              <a:t>需要改成</a:t>
            </a:r>
            <a:r>
              <a:rPr lang="en-US" altLang="zh-TW" sz="1600" dirty="0" err="1">
                <a:solidFill>
                  <a:srgbClr val="FFFFFF"/>
                </a:solidFill>
              </a:rPr>
              <a:t>addScore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normal "</a:t>
            </a:r>
            <a:r>
              <a:rPr lang="zh-TW" altLang="en-US" sz="1600" dirty="0">
                <a:solidFill>
                  <a:srgbClr val="FFFFFF"/>
                </a:solidFill>
              </a:rPr>
              <a:t>命名不影響執行。問題在於變數的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作用域</a:t>
            </a:r>
            <a:r>
              <a:rPr lang="en-US" altLang="zh-TW" sz="1600" dirty="0">
                <a:solidFill>
                  <a:srgbClr val="FFFFFF"/>
                </a:solidFill>
              </a:rPr>
              <a:t>』(Scope)</a:t>
            </a:r>
            <a:r>
              <a:rPr lang="zh-TW" altLang="en-US" sz="1600" dirty="0">
                <a:solidFill>
                  <a:srgbClr val="FFFFFF"/>
                </a:solidFill>
              </a:rPr>
              <a:t>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chapter2_1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"return total </a:t>
            </a:r>
            <a:r>
              <a:rPr lang="zh-TW" altLang="en-US" sz="1600" dirty="0">
                <a:solidFill>
                  <a:srgbClr val="FFFFFF"/>
                </a:solidFill>
              </a:rPr>
              <a:t>應該改成</a:t>
            </a:r>
            <a:r>
              <a:rPr lang="en-US" altLang="zh-TW" sz="1600" dirty="0">
                <a:solidFill>
                  <a:srgbClr val="FFFFFF"/>
                </a:solidFill>
              </a:rPr>
              <a:t>print(total)":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worry "return </a:t>
            </a:r>
            <a:r>
              <a:rPr lang="zh-TW" altLang="en-US" sz="1600" dirty="0">
                <a:solidFill>
                  <a:srgbClr val="FFFFFF"/>
                </a:solidFill>
              </a:rPr>
              <a:t>是將值傳遞出去的正確做法。這不是造成錯誤的原因。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chapter2_1</a:t>
            </a:r>
          </a:p>
        </p:txBody>
      </p:sp>
    </p:spTree>
    <p:extLst>
      <p:ext uri="{BB962C8B-B14F-4D97-AF65-F5344CB8AC3E}">
        <p14:creationId xmlns:p14="http://schemas.microsoft.com/office/powerpoint/2010/main" val="63924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28F5-D7B3-467C-A741-E8CCA436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2FDF6F1-D871-95C0-351D-A3753D81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2-2</a:t>
            </a:r>
            <a:r>
              <a:rPr lang="zh-TW" altLang="en-US" dirty="0">
                <a:latin typeface="+mn-ea"/>
              </a:rPr>
              <a:t>檔案與例外處理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2A2987-0516-1C08-3547-39A30653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05BF035-7F78-7AE5-886E-61BAAADAA10A}"/>
              </a:ext>
            </a:extLst>
          </p:cNvPr>
          <p:cNvSpPr txBox="1"/>
          <p:nvPr/>
        </p:nvSpPr>
        <p:spPr>
          <a:xfrm>
            <a:off x="611560" y="1124744"/>
            <a:ext cx="8319511" cy="3539430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chapter2_2: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資料中心的走廊，地板上散落著破碎的日誌檔碎片，像玻璃一樣發光。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sys "【</a:t>
            </a:r>
            <a:r>
              <a:rPr lang="zh-TW" altLang="en-US" sz="1600" dirty="0">
                <a:solidFill>
                  <a:srgbClr val="FFFFFF"/>
                </a:solidFill>
              </a:rPr>
              <a:t>警報</a:t>
            </a:r>
            <a:r>
              <a:rPr lang="en-US" altLang="zh-TW" sz="1600" dirty="0">
                <a:solidFill>
                  <a:srgbClr val="FFFFFF"/>
                </a:solidFill>
              </a:rPr>
              <a:t>】</a:t>
            </a:r>
            <a:r>
              <a:rPr lang="zh-TW" altLang="en-US" sz="1600" dirty="0">
                <a:solidFill>
                  <a:srgbClr val="FFFFFF"/>
                </a:solidFill>
              </a:rPr>
              <a:t>日誌系統崩潰。關鍵修復紀錄遺失 </a:t>
            </a:r>
            <a:r>
              <a:rPr lang="en-US" altLang="zh-TW" sz="1600" dirty="0">
                <a:solidFill>
                  <a:srgbClr val="FFFFFF"/>
                </a:solidFill>
              </a:rPr>
              <a:t>47 </a:t>
            </a:r>
            <a:r>
              <a:rPr lang="zh-TW" altLang="en-US" sz="1600" dirty="0">
                <a:solidFill>
                  <a:srgbClr val="FFFFFF"/>
                </a:solidFill>
              </a:rPr>
              <a:t>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serious "</a:t>
            </a:r>
            <a:r>
              <a:rPr lang="zh-TW" altLang="en-US" sz="1600" dirty="0">
                <a:solidFill>
                  <a:srgbClr val="FFFFFF"/>
                </a:solidFill>
              </a:rPr>
              <a:t>日誌系統在寫檔時，遇到權限不足就直接崩潰，完全沒有例外處理機制。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我已經寫好了架構，但缺少容錯的機制。剩下交由你來補完。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投影出現需要補完的程式碼：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  def </a:t>
            </a:r>
            <a:r>
              <a:rPr lang="en-US" altLang="zh-TW" sz="1600" dirty="0" err="1">
                <a:solidFill>
                  <a:srgbClr val="FFFFFF"/>
                </a:solidFill>
              </a:rPr>
              <a:t>write_log</a:t>
            </a:r>
            <a:r>
              <a:rPr lang="en-US" altLang="zh-TW" sz="1600" dirty="0">
                <a:solidFill>
                  <a:srgbClr val="FFFFFF"/>
                </a:solidFill>
              </a:rPr>
              <a:t>(filename, data):\n      f = open(filename, 'w')\n      </a:t>
            </a:r>
            <a:r>
              <a:rPr lang="en-US" altLang="zh-TW" sz="1600" dirty="0" err="1">
                <a:solidFill>
                  <a:srgbClr val="FFFFFF"/>
                </a:solidFill>
              </a:rPr>
              <a:t>f.write</a:t>
            </a:r>
            <a:r>
              <a:rPr lang="en-US" altLang="zh-TW" sz="1600" dirty="0">
                <a:solidFill>
                  <a:srgbClr val="FFFFFF"/>
                </a:solidFill>
              </a:rPr>
              <a:t>(data)\n      </a:t>
            </a:r>
            <a:r>
              <a:rPr lang="en-US" altLang="zh-TW" sz="1600" dirty="0" err="1">
                <a:solidFill>
                  <a:srgbClr val="FFFFFF"/>
                </a:solidFill>
              </a:rPr>
              <a:t>f.close</a:t>
            </a:r>
            <a:r>
              <a:rPr lang="en-US" altLang="zh-TW" sz="1600" dirty="0">
                <a:solidFill>
                  <a:srgbClr val="FFFFFF"/>
                </a:solidFill>
              </a:rPr>
              <a:t>()\n      print('</a:t>
            </a:r>
            <a:r>
              <a:rPr lang="zh-TW" altLang="en-US" sz="1600" dirty="0">
                <a:solidFill>
                  <a:srgbClr val="FFFFFF"/>
                </a:solidFill>
              </a:rPr>
              <a:t>寫入成功</a:t>
            </a:r>
            <a:r>
              <a:rPr lang="en-US" altLang="zh-TW" sz="1600" dirty="0">
                <a:solidFill>
                  <a:srgbClr val="FFFFFF"/>
                </a:solidFill>
              </a:rPr>
              <a:t>')"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如果 </a:t>
            </a:r>
            <a:r>
              <a:rPr lang="en-US" altLang="zh-TW" sz="1600" dirty="0">
                <a:solidFill>
                  <a:srgbClr val="FFFFFF"/>
                </a:solidFill>
              </a:rPr>
              <a:t>open </a:t>
            </a:r>
            <a:r>
              <a:rPr lang="zh-TW" altLang="en-US" sz="1600" dirty="0">
                <a:solidFill>
                  <a:srgbClr val="FFFFFF"/>
                </a:solidFill>
              </a:rPr>
              <a:t>失敗，整個密室就會崩潰。你會怎麼改？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346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4A60-49D3-698C-BF75-467D24CE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2B20D5B-4B48-AEDE-DC36-36601B12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2-2</a:t>
            </a:r>
            <a:r>
              <a:rPr lang="zh-TW" altLang="en-US" dirty="0">
                <a:latin typeface="+mn-ea"/>
              </a:rPr>
              <a:t>檔案與例外處理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3BE8994-2883-0CCD-8E3F-3C6BBEC4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0EDCA14-2F94-AE58-B083-F268818880B2}"/>
              </a:ext>
            </a:extLst>
          </p:cNvPr>
          <p:cNvSpPr txBox="1"/>
          <p:nvPr/>
        </p:nvSpPr>
        <p:spPr>
          <a:xfrm>
            <a:off x="611560" y="1124744"/>
            <a:ext cx="8319511" cy="452431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用 </a:t>
            </a:r>
            <a:r>
              <a:rPr lang="en-US" altLang="zh-TW" sz="1600" dirty="0">
                <a:solidFill>
                  <a:srgbClr val="FFFFFF"/>
                </a:solidFill>
              </a:rPr>
              <a:t>try-except </a:t>
            </a:r>
            <a:r>
              <a:rPr lang="zh-TW" altLang="en-US" sz="1600" dirty="0">
                <a:solidFill>
                  <a:srgbClr val="FFFFFF"/>
                </a:solidFill>
              </a:rPr>
              <a:t>包住 </a:t>
            </a:r>
            <a:r>
              <a:rPr lang="en-US" altLang="zh-TW" sz="1600" dirty="0">
                <a:solidFill>
                  <a:srgbClr val="FFFFFF"/>
                </a:solidFill>
              </a:rPr>
              <a:t>open </a:t>
            </a:r>
            <a:r>
              <a:rPr lang="zh-TW" altLang="en-US" sz="1600" dirty="0">
                <a:solidFill>
                  <a:srgbClr val="FFFFFF"/>
                </a:solidFill>
              </a:rPr>
              <a:t>和 </a:t>
            </a:r>
            <a:r>
              <a:rPr lang="en-US" altLang="zh-TW" sz="1600" dirty="0">
                <a:solidFill>
                  <a:srgbClr val="FFFFFF"/>
                </a:solidFill>
              </a:rPr>
              <a:t>write</a:t>
            </a:r>
            <a:r>
              <a:rPr lang="zh-TW" altLang="en-US" sz="1600" dirty="0">
                <a:solidFill>
                  <a:srgbClr val="FFFFFF"/>
                </a:solidFill>
              </a:rPr>
              <a:t>，</a:t>
            </a:r>
            <a:r>
              <a:rPr lang="en-US" altLang="zh-TW" sz="1600" dirty="0">
                <a:solidFill>
                  <a:srgbClr val="FFFFFF"/>
                </a:solidFill>
              </a:rPr>
              <a:t>except </a:t>
            </a:r>
            <a:r>
              <a:rPr lang="zh-TW" altLang="en-US" sz="1600" dirty="0">
                <a:solidFill>
                  <a:srgbClr val="FFFFFF"/>
                </a:solidFill>
              </a:rPr>
              <a:t>捕捉 </a:t>
            </a:r>
            <a:r>
              <a:rPr lang="en-US" altLang="zh-TW" sz="1600" dirty="0">
                <a:solidFill>
                  <a:srgbClr val="FFFFFF"/>
                </a:solidFill>
              </a:rPr>
              <a:t>Exception":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score += 10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很好！</a:t>
            </a:r>
            <a:r>
              <a:rPr lang="en-US" altLang="zh-TW" sz="1600" dirty="0">
                <a:solidFill>
                  <a:srgbClr val="FFFFFF"/>
                </a:solidFill>
              </a:rPr>
              <a:t>try-except </a:t>
            </a:r>
            <a:r>
              <a:rPr lang="zh-TW" altLang="en-US" sz="1600" dirty="0">
                <a:solidFill>
                  <a:srgbClr val="FFFFFF"/>
                </a:solidFill>
              </a:rPr>
              <a:t>可以讓程式在出錯時優雅地捕捉例外，而不是直接終止程式。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"</a:t>
            </a:r>
            <a:r>
              <a:rPr lang="zh-TW" altLang="en-US" sz="1600" dirty="0">
                <a:solidFill>
                  <a:srgbClr val="FFFFFF"/>
                </a:solidFill>
              </a:rPr>
              <a:t>地板上的碎片重新拼合，日誌檔一筆筆恢復完整。下一扇門開啟。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chapter2_3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在 </a:t>
            </a:r>
            <a:r>
              <a:rPr lang="en-US" altLang="zh-TW" sz="1600" dirty="0">
                <a:solidFill>
                  <a:srgbClr val="FFFFFF"/>
                </a:solidFill>
              </a:rPr>
              <a:t>open </a:t>
            </a:r>
            <a:r>
              <a:rPr lang="zh-TW" altLang="en-US" sz="1600" dirty="0">
                <a:solidFill>
                  <a:srgbClr val="FFFFFF"/>
                </a:solidFill>
              </a:rPr>
              <a:t>前加上 </a:t>
            </a:r>
            <a:r>
              <a:rPr lang="en-US" altLang="zh-TW" sz="1600" dirty="0">
                <a:solidFill>
                  <a:srgbClr val="FFFFFF"/>
                </a:solidFill>
              </a:rPr>
              <a:t>if </a:t>
            </a:r>
            <a:r>
              <a:rPr lang="en-US" altLang="zh-TW" sz="1600" dirty="0" err="1">
                <a:solidFill>
                  <a:srgbClr val="FFFFFF"/>
                </a:solidFill>
              </a:rPr>
              <a:t>os.path.exists</a:t>
            </a:r>
            <a:r>
              <a:rPr lang="en-US" altLang="zh-TW" sz="1600" dirty="0">
                <a:solidFill>
                  <a:srgbClr val="FFFFFF"/>
                </a:solidFill>
              </a:rPr>
              <a:t>(filename)":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normal "</a:t>
            </a:r>
            <a:r>
              <a:rPr lang="zh-TW" altLang="en-US" sz="1600" dirty="0">
                <a:solidFill>
                  <a:srgbClr val="FFFFFF"/>
                </a:solidFill>
              </a:rPr>
              <a:t>這只能確認檔案存在，無法處理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權限不足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或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磁碟空間已滿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等無法預期的錯誤。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chapter2_2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加上 </a:t>
            </a:r>
            <a:r>
              <a:rPr lang="en-US" altLang="zh-TW" sz="1600" dirty="0">
                <a:solidFill>
                  <a:srgbClr val="FFFFFF"/>
                </a:solidFill>
              </a:rPr>
              <a:t>print('</a:t>
            </a:r>
            <a:r>
              <a:rPr lang="zh-TW" altLang="en-US" sz="1600" dirty="0">
                <a:solidFill>
                  <a:srgbClr val="FFFFFF"/>
                </a:solidFill>
              </a:rPr>
              <a:t>寫入失敗</a:t>
            </a:r>
            <a:r>
              <a:rPr lang="en-US" altLang="zh-TW" sz="1600" dirty="0">
                <a:solidFill>
                  <a:srgbClr val="FFFFFF"/>
                </a:solidFill>
              </a:rPr>
              <a:t>') </a:t>
            </a:r>
            <a:r>
              <a:rPr lang="zh-TW" altLang="en-US" sz="1600" dirty="0">
                <a:solidFill>
                  <a:srgbClr val="FFFFFF"/>
                </a:solidFill>
              </a:rPr>
              <a:t>在最後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worry "print </a:t>
            </a:r>
            <a:r>
              <a:rPr lang="zh-TW" altLang="en-US" sz="1600" dirty="0">
                <a:solidFill>
                  <a:srgbClr val="FFFFFF"/>
                </a:solidFill>
              </a:rPr>
              <a:t>不能阻止程式崩潰，只是在崩潰前多說一句話而已。你需要控制流的結構。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chapter2_2</a:t>
            </a:r>
          </a:p>
        </p:txBody>
      </p:sp>
    </p:spTree>
    <p:extLst>
      <p:ext uri="{BB962C8B-B14F-4D97-AF65-F5344CB8AC3E}">
        <p14:creationId xmlns:p14="http://schemas.microsoft.com/office/powerpoint/2010/main" val="2257573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BEE0-0262-A26C-72DD-CC695532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24BFC41-1EE0-4122-8AE9-575CEB85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2-3</a:t>
            </a:r>
            <a:r>
              <a:rPr lang="zh-TW" altLang="en-US" dirty="0">
                <a:latin typeface="+mn-ea"/>
              </a:rPr>
              <a:t>網路爬蟲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34A7FD-C05C-AD04-2803-1EA6A8E4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EA5FF4-0E4B-3F89-2CB0-618EF54374D1}"/>
              </a:ext>
            </a:extLst>
          </p:cNvPr>
          <p:cNvSpPr txBox="1"/>
          <p:nvPr/>
        </p:nvSpPr>
        <p:spPr>
          <a:xfrm>
            <a:off x="611560" y="1879502"/>
            <a:ext cx="8319511" cy="280076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 label chapter2_3: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牆壁上出現一個巨大的網路節點圖，其中</a:t>
            </a:r>
            <a:r>
              <a:rPr lang="en-US" altLang="zh-TW" sz="1600" dirty="0" err="1">
                <a:solidFill>
                  <a:srgbClr val="FFFFFF"/>
                </a:solidFill>
              </a:rPr>
              <a:t>ETtoday</a:t>
            </a:r>
            <a:r>
              <a:rPr lang="zh-TW" altLang="en-US" sz="1600" dirty="0">
                <a:solidFill>
                  <a:srgbClr val="FFFFFF"/>
                </a:solidFill>
              </a:rPr>
              <a:t>的入口閃爍著大大的 </a:t>
            </a:r>
            <a:r>
              <a:rPr lang="en-US" altLang="zh-TW" sz="1600" dirty="0">
                <a:solidFill>
                  <a:srgbClr val="FFFFFF"/>
                </a:solidFill>
              </a:rPr>
              <a:t>403 Forbidden </a:t>
            </a:r>
            <a:r>
              <a:rPr lang="zh-TW" altLang="en-US" sz="1600" dirty="0">
                <a:solidFill>
                  <a:srgbClr val="FFFFFF"/>
                </a:solidFill>
              </a:rPr>
              <a:t>封鎖標誌。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serious "</a:t>
            </a:r>
            <a:r>
              <a:rPr lang="zh-TW" altLang="en-US" sz="1600" dirty="0">
                <a:solidFill>
                  <a:srgbClr val="FFFFFF"/>
                </a:solidFill>
              </a:rPr>
              <a:t>為了獲取外部情報，系統需要爬取新聞。但 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寫的爬蟲一直被拒絕。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投影出現有問題的程式碼：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  import requests\n\n  response = </a:t>
            </a:r>
            <a:r>
              <a:rPr lang="en-US" altLang="zh-TW" sz="1600" dirty="0" err="1">
                <a:solidFill>
                  <a:srgbClr val="FFFFFF"/>
                </a:solidFill>
              </a:rPr>
              <a:t>requests.get</a:t>
            </a:r>
            <a:r>
              <a:rPr lang="en-US" altLang="zh-TW" sz="1600" dirty="0">
                <a:solidFill>
                  <a:srgbClr val="FFFFFF"/>
                </a:solidFill>
              </a:rPr>
              <a:t>('https://www.ettoday.net')\n  print(</a:t>
            </a:r>
            <a:r>
              <a:rPr lang="en-US" altLang="zh-TW" sz="1600" dirty="0" err="1">
                <a:solidFill>
                  <a:srgbClr val="FFFFFF"/>
                </a:solidFill>
              </a:rPr>
              <a:t>response.status_code</a:t>
            </a:r>
            <a:r>
              <a:rPr lang="en-US" altLang="zh-TW" sz="1600" dirty="0">
                <a:solidFill>
                  <a:srgbClr val="FFFFFF"/>
                </a:solidFill>
              </a:rPr>
              <a:t>)"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這段程式執行後會收到 </a:t>
            </a:r>
            <a:r>
              <a:rPr lang="en-US" altLang="zh-TW" sz="1600" dirty="0">
                <a:solidFill>
                  <a:srgbClr val="FFFFFF"/>
                </a:solidFill>
              </a:rPr>
              <a:t>403 Forbidden</a:t>
            </a:r>
            <a:r>
              <a:rPr lang="zh-TW" altLang="en-US" sz="1600" dirty="0">
                <a:solidFill>
                  <a:srgbClr val="FFFFFF"/>
                </a:solidFill>
              </a:rPr>
              <a:t>。你猜伺服器是怎麼識破我們是機器人的？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817955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F40D-8718-4495-7427-772CE565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4DD096D-19FB-D015-0B16-AD8F83FC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2-3</a:t>
            </a:r>
            <a:r>
              <a:rPr lang="zh-TW" altLang="en-US" dirty="0">
                <a:latin typeface="+mn-ea"/>
              </a:rPr>
              <a:t>網路爬蟲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E7EF6DA-C8AE-5B4D-6D50-4DA22DB3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BA2F735-71D6-3C57-C39C-46984D838A7E}"/>
              </a:ext>
            </a:extLst>
          </p:cNvPr>
          <p:cNvSpPr txBox="1"/>
          <p:nvPr/>
        </p:nvSpPr>
        <p:spPr>
          <a:xfrm>
            <a:off x="611560" y="1628800"/>
            <a:ext cx="8319511" cy="452431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 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缺少 </a:t>
            </a:r>
            <a:r>
              <a:rPr lang="en-US" altLang="zh-TW" sz="1600" dirty="0">
                <a:solidFill>
                  <a:srgbClr val="FFFFFF"/>
                </a:solidFill>
              </a:rPr>
              <a:t>User-Agent headers</a:t>
            </a:r>
            <a:r>
              <a:rPr lang="zh-TW" altLang="en-US" sz="1600" dirty="0">
                <a:solidFill>
                  <a:srgbClr val="FFFFFF"/>
                </a:solidFill>
              </a:rPr>
              <a:t>，伺服器拒絕非瀏覽器請求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score += 10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正確！沒有偽裝 </a:t>
            </a:r>
            <a:r>
              <a:rPr lang="en-US" altLang="zh-TW" sz="1600" dirty="0">
                <a:solidFill>
                  <a:srgbClr val="FFFFFF"/>
                </a:solidFill>
              </a:rPr>
              <a:t>User-Agent</a:t>
            </a:r>
            <a:r>
              <a:rPr lang="zh-TW" altLang="en-US" sz="1600" dirty="0">
                <a:solidFill>
                  <a:srgbClr val="FFFFFF"/>
                </a:solidFill>
              </a:rPr>
              <a:t>，伺服器一看就知道是 </a:t>
            </a:r>
            <a:r>
              <a:rPr lang="en-US" altLang="zh-TW" sz="1600" dirty="0">
                <a:solidFill>
                  <a:srgbClr val="FFFFFF"/>
                </a:solidFill>
              </a:rPr>
              <a:t>Python-requests </a:t>
            </a:r>
            <a:r>
              <a:rPr lang="zh-TW" altLang="en-US" sz="1600" dirty="0">
                <a:solidFill>
                  <a:srgbClr val="FFFFFF"/>
                </a:solidFill>
              </a:rPr>
              <a:t>發出的請求。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"403 </a:t>
            </a:r>
            <a:r>
              <a:rPr lang="zh-TW" altLang="en-US" sz="1600" dirty="0">
                <a:solidFill>
                  <a:srgbClr val="FFFFFF"/>
                </a:solidFill>
              </a:rPr>
              <a:t>封鎖標誌轉為綠色 </a:t>
            </a:r>
            <a:r>
              <a:rPr lang="en-US" altLang="zh-TW" sz="1600" dirty="0">
                <a:solidFill>
                  <a:srgbClr val="FFFFFF"/>
                </a:solidFill>
              </a:rPr>
              <a:t>200 OK</a:t>
            </a:r>
            <a:r>
              <a:rPr lang="zh-TW" altLang="en-US" sz="1600" dirty="0">
                <a:solidFill>
                  <a:srgbClr val="FFFFFF"/>
                </a:solidFill>
              </a:rPr>
              <a:t>，大量新聞標題開始流入系統。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chapter2_clear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</a:t>
            </a:r>
            <a:r>
              <a:rPr lang="zh-TW" altLang="en-US" sz="1600" dirty="0">
                <a:solidFill>
                  <a:srgbClr val="FFFFFF"/>
                </a:solidFill>
              </a:rPr>
              <a:t>需要加上 </a:t>
            </a:r>
            <a:r>
              <a:rPr lang="en-US" altLang="zh-TW" sz="1600" dirty="0" err="1">
                <a:solidFill>
                  <a:srgbClr val="FFFFFF"/>
                </a:solidFill>
              </a:rPr>
              <a:t>time.sleep</a:t>
            </a:r>
            <a:r>
              <a:rPr lang="en-US" altLang="zh-TW" sz="1600" dirty="0">
                <a:solidFill>
                  <a:srgbClr val="FFFFFF"/>
                </a:solidFill>
              </a:rPr>
              <a:t>(1) </a:t>
            </a:r>
            <a:r>
              <a:rPr lang="zh-TW" altLang="en-US" sz="1600" dirty="0">
                <a:solidFill>
                  <a:srgbClr val="FFFFFF"/>
                </a:solidFill>
              </a:rPr>
              <a:t>避免太頻繁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normal "</a:t>
            </a:r>
            <a:r>
              <a:rPr lang="zh-TW" altLang="en-US" sz="1600" dirty="0">
                <a:solidFill>
                  <a:srgbClr val="FFFFFF"/>
                </a:solidFill>
              </a:rPr>
              <a:t>睡眠時間可以降低被封鎖的機率，但 </a:t>
            </a:r>
            <a:r>
              <a:rPr lang="en-US" altLang="zh-TW" sz="1600" dirty="0">
                <a:solidFill>
                  <a:srgbClr val="FFFFFF"/>
                </a:solidFill>
              </a:rPr>
              <a:t>403 </a:t>
            </a:r>
            <a:r>
              <a:rPr lang="zh-TW" altLang="en-US" sz="1600" dirty="0">
                <a:solidFill>
                  <a:srgbClr val="FFFFFF"/>
                </a:solidFill>
              </a:rPr>
              <a:t>是當下就被拒絕，不是因為太頻繁造成的 </a:t>
            </a:r>
            <a:r>
              <a:rPr lang="en-US" altLang="zh-TW" sz="1600" dirty="0">
                <a:solidFill>
                  <a:srgbClr val="FFFFFF"/>
                </a:solidFill>
              </a:rPr>
              <a:t>429 Too Many Requests</a:t>
            </a:r>
            <a:r>
              <a:rPr lang="zh-TW" altLang="en-US" sz="1600" dirty="0">
                <a:solidFill>
                  <a:srgbClr val="FFFFFF"/>
                </a:solidFill>
              </a:rPr>
              <a:t>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chapter2_3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"URL </a:t>
            </a:r>
            <a:r>
              <a:rPr lang="zh-TW" altLang="en-US" sz="1600" dirty="0">
                <a:solidFill>
                  <a:srgbClr val="FFFFFF"/>
                </a:solidFill>
              </a:rPr>
              <a:t>需要加上 </a:t>
            </a:r>
            <a:r>
              <a:rPr lang="en-US" altLang="zh-TW" sz="1600" dirty="0">
                <a:solidFill>
                  <a:srgbClr val="FFFFFF"/>
                </a:solidFill>
              </a:rPr>
              <a:t>https://www. </a:t>
            </a:r>
            <a:r>
              <a:rPr lang="zh-TW" altLang="en-US" sz="1600" dirty="0">
                <a:solidFill>
                  <a:srgbClr val="FFFFFF"/>
                </a:solidFill>
              </a:rPr>
              <a:t>才正確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aria normal "URL </a:t>
            </a:r>
            <a:r>
              <a:rPr lang="zh-TW" altLang="en-US" sz="1600" dirty="0">
                <a:solidFill>
                  <a:srgbClr val="FFFFFF"/>
                </a:solidFill>
              </a:rPr>
              <a:t>本身沒問題。問題在 </a:t>
            </a:r>
            <a:r>
              <a:rPr lang="en-US" altLang="zh-TW" sz="1600" dirty="0">
                <a:solidFill>
                  <a:srgbClr val="FFFFFF"/>
                </a:solidFill>
              </a:rPr>
              <a:t>HTTP Request Headers </a:t>
            </a:r>
            <a:r>
              <a:rPr lang="zh-TW" altLang="en-US" sz="1600" dirty="0">
                <a:solidFill>
                  <a:srgbClr val="FFFFFF"/>
                </a:solidFill>
              </a:rPr>
              <a:t>裡面缺少了關鍵的身份證明。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    jump chapter2_3</a:t>
            </a:r>
          </a:p>
        </p:txBody>
      </p:sp>
    </p:spTree>
    <p:extLst>
      <p:ext uri="{BB962C8B-B14F-4D97-AF65-F5344CB8AC3E}">
        <p14:creationId xmlns:p14="http://schemas.microsoft.com/office/powerpoint/2010/main" val="746252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87D2-1F74-7A23-8F6B-D2167321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CDDAFFD-17E3-9B9C-F300-E0EF13B8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chapter2 </a:t>
            </a:r>
            <a:r>
              <a:rPr lang="zh-TW" altLang="en-US" dirty="0">
                <a:latin typeface="+mn-ea"/>
              </a:rPr>
              <a:t>結尾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34B769C-37A7-71B1-C9DF-A91B32FD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7BC5579-B4A2-474D-475D-C2D41ACC85E0}"/>
              </a:ext>
            </a:extLst>
          </p:cNvPr>
          <p:cNvSpPr txBox="1"/>
          <p:nvPr/>
        </p:nvSpPr>
        <p:spPr>
          <a:xfrm>
            <a:off x="611560" y="1628800"/>
            <a:ext cx="8319511" cy="329320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chapter2_clear: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辦公室空間的紅色雷射網全數消失，螢幕一個個恢復正常顯示。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normal "Layer 2 </a:t>
            </a:r>
            <a:r>
              <a:rPr lang="zh-TW" altLang="en-US" sz="1600" dirty="0">
                <a:solidFill>
                  <a:srgbClr val="FFFFFF"/>
                </a:solidFill>
              </a:rPr>
              <a:t>密室修復完成。你的除錯直覺越來越敏銳了。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p "</a:t>
            </a:r>
            <a:r>
              <a:rPr lang="zh-TW" altLang="en-US" sz="1600" dirty="0">
                <a:solidFill>
                  <a:srgbClr val="FFFFFF"/>
                </a:solidFill>
              </a:rPr>
              <a:t>下一層呢？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hint "Layer 3</a:t>
            </a:r>
            <a:r>
              <a:rPr lang="zh-TW" altLang="en-US" sz="1600" dirty="0">
                <a:solidFill>
                  <a:srgbClr val="FFFFFF"/>
                </a:solidFill>
              </a:rPr>
              <a:t>，我的輔助會降到 </a:t>
            </a:r>
            <a:r>
              <a:rPr lang="en-US" altLang="zh-TW" sz="1600" dirty="0">
                <a:solidFill>
                  <a:srgbClr val="FFFFFF"/>
                </a:solidFill>
              </a:rPr>
              <a:t>50%%</a:t>
            </a:r>
            <a:r>
              <a:rPr lang="zh-TW" altLang="en-US" sz="1600" dirty="0">
                <a:solidFill>
                  <a:srgbClr val="FFFFFF"/>
                </a:solidFill>
              </a:rPr>
              <a:t>。我只會幫你生出程式碼架構，但我不保證邏輯是對的。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aria "</a:t>
            </a:r>
            <a:r>
              <a:rPr lang="zh-TW" altLang="en-US" sz="1600" dirty="0">
                <a:solidFill>
                  <a:srgbClr val="FFFFFF"/>
                </a:solidFill>
              </a:rPr>
              <a:t>你必須運用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測試驅動</a:t>
            </a:r>
            <a:r>
              <a:rPr lang="en-US" altLang="zh-TW" sz="1600">
                <a:solidFill>
                  <a:srgbClr val="FFFFFF"/>
                </a:solidFill>
              </a:rPr>
              <a:t>』</a:t>
            </a:r>
            <a:r>
              <a:rPr lang="zh-TW" altLang="en-US" sz="1600">
                <a:solidFill>
                  <a:srgbClr val="FFFFFF"/>
                </a:solidFill>
              </a:rPr>
              <a:t>的</a:t>
            </a:r>
            <a:r>
              <a:rPr lang="zh-TW" altLang="en-US" sz="1600" dirty="0">
                <a:solidFill>
                  <a:srgbClr val="FFFFFF"/>
                </a:solidFill>
              </a:rPr>
              <a:t>思維，自己找出漏洞。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p "</a:t>
            </a:r>
            <a:r>
              <a:rPr lang="zh-TW" altLang="en-US" sz="1600" dirty="0">
                <a:solidFill>
                  <a:srgbClr val="FFFFFF"/>
                </a:solidFill>
              </a:rPr>
              <a:t>明白了。來吧。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#jump chapter3_intro</a:t>
            </a:r>
          </a:p>
        </p:txBody>
      </p:sp>
    </p:spTree>
    <p:extLst>
      <p:ext uri="{BB962C8B-B14F-4D97-AF65-F5344CB8AC3E}">
        <p14:creationId xmlns:p14="http://schemas.microsoft.com/office/powerpoint/2010/main" val="968583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933819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TM10001105[[fn=裁剪]]</Template>
  <TotalTime>6288</TotalTime>
  <Words>4797</Words>
  <Application>Microsoft Office PowerPoint</Application>
  <PresentationFormat>如螢幕大小 (4:3)</PresentationFormat>
  <Paragraphs>461</Paragraphs>
  <Slides>29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3" baseType="lpstr">
      <vt:lpstr>微軟正黑體 Light</vt:lpstr>
      <vt:lpstr>Aptos</vt:lpstr>
      <vt:lpstr>Franklin Gothic Book</vt:lpstr>
      <vt:lpstr>裁剪</vt:lpstr>
      <vt:lpstr>第十一週</vt:lpstr>
      <vt:lpstr>目錄</vt:lpstr>
      <vt:lpstr>django – part7 自訂管理員表單</vt:lpstr>
      <vt:lpstr>django – part7 自訂管理員表單</vt:lpstr>
      <vt:lpstr>django – part7 自訂管理員表單</vt:lpstr>
      <vt:lpstr>django – part7 自訂管理員表單</vt:lpstr>
      <vt:lpstr>django – part7 自訂管理員表單</vt:lpstr>
      <vt:lpstr>django – part7 自訂管理員表單</vt:lpstr>
      <vt:lpstr>django – part7 自訂管理員表單</vt:lpstr>
      <vt:lpstr>django – part7 自訂管理員表單</vt:lpstr>
      <vt:lpstr>RenPy 角色定義以及初值</vt:lpstr>
      <vt:lpstr>RenPy 序章</vt:lpstr>
      <vt:lpstr>RenPy 序章</vt:lpstr>
      <vt:lpstr>RenPy 1-1 Python 基礎 </vt:lpstr>
      <vt:lpstr>RenPy 1-1 Python 基礎 </vt:lpstr>
      <vt:lpstr>RenPy 1-2 基礎語法</vt:lpstr>
      <vt:lpstr>RenPy 1-2 基礎語法</vt:lpstr>
      <vt:lpstr>RenPy 1-3 迴圈與資料結構</vt:lpstr>
      <vt:lpstr>RenPy 1-3 迴圈與資料結構</vt:lpstr>
      <vt:lpstr>RenPy 1-3 迴圈與資料結構</vt:lpstr>
      <vt:lpstr>RenPy chapter1 結尾</vt:lpstr>
      <vt:lpstr>RenPy chapter2 (80%)</vt:lpstr>
      <vt:lpstr>RenPy 2-1函式與模組</vt:lpstr>
      <vt:lpstr>RenPy 2-2檔案與例外處理</vt:lpstr>
      <vt:lpstr>RenPy 2-2檔案與例外處理</vt:lpstr>
      <vt:lpstr>RenPy 2-3網路爬蟲</vt:lpstr>
      <vt:lpstr>RenPy 2-3網路爬蟲</vt:lpstr>
      <vt:lpstr>RenPy chapter2 結尾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Ren’Py內部語法</dc:title>
  <dc:creator>甘</dc:creator>
  <cp:lastModifiedBy>Admin</cp:lastModifiedBy>
  <cp:revision>135</cp:revision>
  <dcterms:created xsi:type="dcterms:W3CDTF">2026-03-01T17:53:11Z</dcterms:created>
  <dcterms:modified xsi:type="dcterms:W3CDTF">2026-05-04T04:17:11Z</dcterms:modified>
</cp:coreProperties>
</file>