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embeddedFontLst>
    <p:embeddedFont>
      <p:font typeface="Libre Franklin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ibreFranklin-bold.fntdata"/><Relationship Id="rId25" Type="http://schemas.openxmlformats.org/officeDocument/2006/relationships/font" Target="fonts/LibreFranklin-regular.fntdata"/><Relationship Id="rId28" Type="http://schemas.openxmlformats.org/officeDocument/2006/relationships/font" Target="fonts/LibreFranklin-boldItalic.fntdata"/><Relationship Id="rId27" Type="http://schemas.openxmlformats.org/officeDocument/2006/relationships/font" Target="fonts/LibreFranklin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0a4daf27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e0a4daf27d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436346" y="1788454"/>
            <a:ext cx="6270922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Libre Franklin"/>
              <a:buNone/>
              <a:defRPr sz="60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009930" y="3956280"/>
            <a:ext cx="5123755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50"/>
              <a:buNone/>
              <a:defRPr sz="135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564644" y="6453386"/>
            <a:ext cx="1205958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1938041" y="6453386"/>
            <a:ext cx="5267533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7373012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" name="Google Shape;23;p2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24" name="Google Shape;24;p2"/>
            <p:cNvSpPr/>
            <p:nvPr/>
          </p:nvSpPr>
          <p:spPr>
            <a:xfrm>
              <a:off x="6113972" y="1685652"/>
              <a:ext cx="2456260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 rot="10800000">
              <a:off x="564643" y="744469"/>
              <a:ext cx="2456505" cy="4408488"/>
            </a:xfrm>
            <a:custGeom>
              <a:rect b="b" l="l" r="r" t="t"/>
              <a:pathLst>
                <a:path extrusionOk="0" h="10000" w="10001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573769" y="1301361"/>
            <a:ext cx="7209728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Libre Franklin"/>
              <a:buNone/>
              <a:defRPr sz="6000" cap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573769" y="4216328"/>
            <a:ext cx="7209728" cy="114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554181" y="6453386"/>
            <a:ext cx="121680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1938234" y="6453386"/>
            <a:ext cx="5267533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7373012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0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113972" y="1685652"/>
            <a:ext cx="2456260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39" name="Google Shape;39;p4" title="Crop Mark"/>
          <p:cNvSpPr/>
          <p:nvPr/>
        </p:nvSpPr>
        <p:spPr>
          <a:xfrm>
            <a:off x="6113972" y="1685652"/>
            <a:ext cx="2456260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1028700" y="2286000"/>
            <a:ext cx="3335840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2" type="body"/>
          </p:nvPr>
        </p:nvSpPr>
        <p:spPr>
          <a:xfrm>
            <a:off x="4894052" y="2286000"/>
            <a:ext cx="3335840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1028700" y="2340230"/>
            <a:ext cx="33358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0"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1028700" y="3305208"/>
            <a:ext cx="3335839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3" type="body"/>
          </p:nvPr>
        </p:nvSpPr>
        <p:spPr>
          <a:xfrm>
            <a:off x="4893760" y="2349754"/>
            <a:ext cx="33358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b="0" sz="24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6"/>
          <p:cNvSpPr txBox="1"/>
          <p:nvPr>
            <p:ph idx="4" type="body"/>
          </p:nvPr>
        </p:nvSpPr>
        <p:spPr>
          <a:xfrm>
            <a:off x="4893760" y="3305208"/>
            <a:ext cx="3335840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0" type="dt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1" type="ftr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2" type="sldNum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/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idx="10" type="dt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542925" y="685800"/>
            <a:ext cx="289179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sz="4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4692015" y="685801"/>
            <a:ext cx="390906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/>
            </a:lvl1pPr>
            <a:lvl2pPr indent="-32385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Char char="–"/>
              <a:defRPr sz="1500"/>
            </a:lvl2pPr>
            <a:lvl3pPr indent="-314325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50"/>
              <a:buChar char="■"/>
              <a:defRPr sz="1350"/>
            </a:lvl3pPr>
            <a:lvl4pPr indent="-314325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50"/>
              <a:buChar char="–"/>
              <a:defRPr sz="1350"/>
            </a:lvl4pPr>
            <a:lvl5pPr indent="-3048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/>
            </a:lvl5pPr>
            <a:lvl6pPr indent="-3048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–"/>
              <a:defRPr sz="1200"/>
            </a:lvl6pPr>
            <a:lvl7pPr indent="-3048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 sz="1200"/>
            </a:lvl7pPr>
            <a:lvl8pPr indent="-3048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Char char="–"/>
              <a:defRPr sz="1200"/>
            </a:lvl8pPr>
            <a:lvl9pPr indent="-3048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542925" y="2856344"/>
            <a:ext cx="2891790" cy="3011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0" name="Google Shape;70;p9"/>
          <p:cNvSpPr txBox="1"/>
          <p:nvPr>
            <p:ph idx="10" type="dt"/>
          </p:nvPr>
        </p:nvSpPr>
        <p:spPr>
          <a:xfrm>
            <a:off x="542925" y="6453386"/>
            <a:ext cx="90342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1654459" y="6453386"/>
            <a:ext cx="1780256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7412355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9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9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 txBox="1"/>
          <p:nvPr>
            <p:ph type="title"/>
          </p:nvPr>
        </p:nvSpPr>
        <p:spPr>
          <a:xfrm>
            <a:off x="542925" y="685800"/>
            <a:ext cx="289179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/>
          <p:nvPr>
            <p:ph idx="2" type="pic"/>
          </p:nvPr>
        </p:nvSpPr>
        <p:spPr>
          <a:xfrm>
            <a:off x="4149090" y="1"/>
            <a:ext cx="499491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542925" y="2855968"/>
            <a:ext cx="2891790" cy="3011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542925" y="6453386"/>
            <a:ext cx="90342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1654459" y="6453386"/>
            <a:ext cx="1780256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7412355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/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" type="body"/>
          </p:nvPr>
        </p:nvSpPr>
        <p:spPr>
          <a:xfrm rot="5400000">
            <a:off x="2843213" y="481013"/>
            <a:ext cx="3571875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0" type="dt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1" type="ftr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2" type="sldNum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type="title"/>
          </p:nvPr>
        </p:nvSpPr>
        <p:spPr>
          <a:xfrm rot="5400000">
            <a:off x="5004650" y="2500303"/>
            <a:ext cx="5243244" cy="1490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 rot="5400000">
            <a:off x="1269340" y="383516"/>
            <a:ext cx="5243244" cy="572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0" type="dt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1" type="ftr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12" type="sldNum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ED9C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b="0" i="0" sz="4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b="0" i="1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42900" lvl="2" marL="1371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b="0" i="1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30200" lvl="4" marL="22860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30200" lvl="5" marL="27432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b="0" i="1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b="0" i="1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" name="Google Shape;16;p1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pos="6912">
          <p15:clr>
            <a:srgbClr val="F26B43"/>
          </p15:clr>
        </p15:guide>
        <p15:guide id="3" pos="936">
          <p15:clr>
            <a:srgbClr val="F26B43"/>
          </p15:clr>
        </p15:guide>
        <p15:guide id="4" pos="864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5184">
          <p15:clr>
            <a:srgbClr val="F26B43"/>
          </p15:clr>
        </p15:guide>
        <p15:guide id="10" pos="702">
          <p15:clr>
            <a:srgbClr val="F26B43"/>
          </p15:clr>
        </p15:guide>
        <p15:guide id="11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pypi.org/project/django-debug-toolbar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ypi.org/project/django-debug-toolbar/" TargetMode="External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ypi.org/project/django-debug-toolbar/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ypi.org/project/django-debug-toolbar/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ypi.org/project/django-debug-toolbar/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hyperlink" Target="http://127.0.0.1:8000/polls/upload/" TargetMode="External"/><Relationship Id="rId5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/>
          <p:nvPr>
            <p:ph type="ctrTitle"/>
          </p:nvPr>
        </p:nvSpPr>
        <p:spPr>
          <a:xfrm>
            <a:off x="685800" y="2564904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Libre Franklin"/>
              <a:buNone/>
            </a:pPr>
            <a:r>
              <a:rPr lang="en-US"/>
              <a:t>第十二週</a:t>
            </a:r>
            <a:endParaRPr/>
          </a:p>
        </p:txBody>
      </p:sp>
      <p:sp>
        <p:nvSpPr>
          <p:cNvPr id="102" name="Google Shape;102;p13"/>
          <p:cNvSpPr txBox="1"/>
          <p:nvPr>
            <p:ph idx="12" type="sldNum"/>
          </p:nvPr>
        </p:nvSpPr>
        <p:spPr>
          <a:xfrm>
            <a:off x="7373012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en-US"/>
              <a:t>目錄</a:t>
            </a:r>
            <a:endParaRPr/>
          </a:p>
        </p:txBody>
      </p:sp>
      <p:sp>
        <p:nvSpPr>
          <p:cNvPr id="108" name="Google Shape;108;p14"/>
          <p:cNvSpPr txBox="1"/>
          <p:nvPr>
            <p:ph idx="1" type="body"/>
          </p:nvPr>
        </p:nvSpPr>
        <p:spPr>
          <a:xfrm>
            <a:off x="611560" y="915616"/>
            <a:ext cx="8352928" cy="5825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lang="en-US"/>
              <a:t>文獻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en-US"/>
              <a:t>django – part 8 新增第三方packages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 u="sng">
                <a:solidFill>
                  <a:schemeClr val="hlink"/>
                </a:solidFill>
                <a:hlinkClick r:id="rId3"/>
              </a:rPr>
              <a:t>Django Debug Toolbar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611560" y="915616"/>
            <a:ext cx="8352928" cy="5825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這是一個常用的第三方套件，此套件為Django開發者常用第三方包前三名。</a:t>
            </a:r>
            <a:endParaRPr/>
          </a:p>
          <a:p>
            <a:pPr indent="-3840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Django Debug Toolbar 是一個用於偵錯 Django Web 應用程式的有用工具。它是一個由社區組織Django Commons維護的第三方包。此工具列透過提供顯示目前請求和回應的偵錯資訊的面板，幫助您了解應用程式的運作方式並識別問題。</a:t>
            </a:r>
            <a:endParaRPr/>
          </a:p>
          <a:p>
            <a:pPr indent="-3840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可以在虛擬環境下執行python -m pip install django-debug-toolbar來安裝</a:t>
            </a:r>
            <a:endParaRPr/>
          </a:p>
          <a:p>
            <a:pPr indent="-3840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您需要將套件的 Django 應用程式新增到您的INSTALLED_APPS設定中。有些套件需要其他更改，例如添加到您的 URL 配置（urls.py）中。</a:t>
            </a:r>
            <a:endParaRPr/>
          </a:p>
          <a:p>
            <a:pPr indent="-3840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成功後可以在127.0.0.1看到工具欄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 u="sng">
                <a:solidFill>
                  <a:schemeClr val="hlink"/>
                </a:solidFill>
                <a:hlinkClick r:id="rId3"/>
              </a:rPr>
              <a:t>Django Debug Toolbar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611560" y="915616"/>
            <a:ext cx="8352928" cy="5825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安裝流程</a:t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840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安裝應用程式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rPr lang="en-US"/>
              <a:t>	新增“debug_toolbar”,到INSTALLED_APPS裡。</a:t>
            </a:r>
            <a:endParaRPr/>
          </a:p>
        </p:txBody>
      </p:sp>
      <p:pic>
        <p:nvPicPr>
          <p:cNvPr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616" y="1412776"/>
            <a:ext cx="5712454" cy="287695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1115616" y="4365104"/>
            <a:ext cx="655272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且在templates裡新增"BACKEND": "django.template.backends.django.DjangoTemplates",</a:t>
            </a:r>
            <a:endParaRPr sz="180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 u="sng">
                <a:solidFill>
                  <a:schemeClr val="hlink"/>
                </a:solidFill>
                <a:hlinkClick r:id="rId3"/>
              </a:rPr>
              <a:t>Django Debug Toolbar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611560" y="915616"/>
            <a:ext cx="8352928" cy="5825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新增網址修改mysite/settings</a:t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t/>
            </a:r>
            <a:endParaRPr/>
          </a:p>
          <a:p>
            <a:pPr indent="-3840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新增中介軟體</a:t>
            </a:r>
            <a:endParaRPr/>
          </a:p>
        </p:txBody>
      </p:sp>
      <p:pic>
        <p:nvPicPr>
          <p:cNvPr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2261" y="1412776"/>
            <a:ext cx="6487430" cy="2715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2261" y="4567623"/>
            <a:ext cx="4742715" cy="2173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 u="sng">
                <a:solidFill>
                  <a:schemeClr val="hlink"/>
                </a:solidFill>
                <a:hlinkClick r:id="rId3"/>
              </a:rPr>
              <a:t>Django Debug Toolbar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593439" y="1412776"/>
            <a:ext cx="8352928" cy="5825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配置內部 IP 位址</a:t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592" y="1916832"/>
            <a:ext cx="6487430" cy="2715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 u="sng">
                <a:solidFill>
                  <a:schemeClr val="hlink"/>
                </a:solidFill>
                <a:hlinkClick r:id="rId3"/>
              </a:rPr>
              <a:t>Django Debug Toolbar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593439" y="1412776"/>
            <a:ext cx="8352928" cy="5825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配置內部 IP 位址</a:t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144" name="Google Shape;14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592" y="1916832"/>
            <a:ext cx="6487430" cy="2715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>
                <a:solidFill>
                  <a:schemeClr val="dk1"/>
                </a:solidFill>
              </a:rPr>
              <a:t>Docker</a:t>
            </a:r>
            <a:endParaRPr/>
          </a:p>
        </p:txBody>
      </p:sp>
      <p:sp>
        <p:nvSpPr>
          <p:cNvPr id="150" name="Google Shape;150;p20"/>
          <p:cNvSpPr txBox="1"/>
          <p:nvPr>
            <p:ph idx="1" type="body"/>
          </p:nvPr>
        </p:nvSpPr>
        <p:spPr>
          <a:xfrm>
            <a:off x="593439" y="1412776"/>
            <a:ext cx="8352928" cy="5825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我們使用Docker可以讓我們的伺服器於後台運行，當然並不只有這個功能，我們選擇使用他還有一個更重要的原因，我們想要使用Docker來管理使用者上傳的程式檔然後在呼叫pybryt來自動評測使用者的程式。</a:t>
            </a:r>
            <a:endParaRPr/>
          </a:p>
          <a:p>
            <a:pPr indent="-3840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首先，我們得先在mysite裡面編輯一個文字檔(requirements.txt)，這個文字檔是來讓Docker知道我們運用到了哪些套件，等到Docker啟動時，會幫我們安裝這些套件，而我們要在這個文字檔裡新增Django&gt;=4.0這段文字。</a:t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3933056"/>
            <a:ext cx="3982698" cy="1872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>
                <a:solidFill>
                  <a:schemeClr val="dk1"/>
                </a:solidFill>
              </a:rPr>
              <a:t>Docker</a:t>
            </a:r>
            <a:endParaRPr/>
          </a:p>
        </p:txBody>
      </p:sp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593439" y="1412776"/>
            <a:ext cx="8352928" cy="5825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接下來我們還要新增一個文字檔(Dockerfile)，這個是用來定義Docker的啟動環境，我們需要輸入下面這段程式。</a:t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2132856"/>
            <a:ext cx="7128792" cy="4536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>
                <a:solidFill>
                  <a:schemeClr val="dk1"/>
                </a:solidFill>
              </a:rPr>
              <a:t>Docker</a:t>
            </a:r>
            <a:endParaRPr/>
          </a:p>
        </p:txBody>
      </p:sp>
      <p:sp>
        <p:nvSpPr>
          <p:cNvPr id="164" name="Google Shape;164;p22"/>
          <p:cNvSpPr txBox="1"/>
          <p:nvPr>
            <p:ph idx="1" type="body"/>
          </p:nvPr>
        </p:nvSpPr>
        <p:spPr>
          <a:xfrm>
            <a:off x="611560" y="904706"/>
            <a:ext cx="8352928" cy="5825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接下來我們還要新增一個.yml檔案(docker-compose.yml)，這是用於建立資料夾映射，可以把用戶上傳的檔案放到指定的資料夾裡面， 像是下面，可以讓用戶上傳的檔案放到/media裡。</a:t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165" name="Google Shape;1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2208970"/>
            <a:ext cx="6336704" cy="4284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>
                <a:solidFill>
                  <a:schemeClr val="dk1"/>
                </a:solidFill>
              </a:rPr>
              <a:t>Docker</a:t>
            </a:r>
            <a:endParaRPr/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611560" y="904706"/>
            <a:ext cx="8352928" cy="310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接下來我們還要新增一個.yml檔案(docker-compose.yml)，這是用於建立資料夾映射，可以把用戶上傳的檔案放到指定的資料夾裡面， 像是下面，可以讓用戶上傳的檔案放到/media裡。</a:t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172" name="Google Shape;1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1916832"/>
            <a:ext cx="5328592" cy="360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3"/>
          <p:cNvSpPr txBox="1"/>
          <p:nvPr/>
        </p:nvSpPr>
        <p:spPr>
          <a:xfrm>
            <a:off x="639608" y="5645968"/>
            <a:ext cx="8324879" cy="1232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 sz="2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接下來我們要啟動Docker，需輸入以下指令，sudo docker compose up -d –build，-d是讓Docker於背景中執行—build是讓Docker用剛剛的設定檔重新建立映射檔。</a:t>
            </a:r>
            <a:endParaRPr sz="2000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320548" lvl="0" marL="384048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 sz="2000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ibre Franklin"/>
              <a:buNone/>
            </a:pPr>
            <a:r>
              <a:t/>
            </a:r>
            <a:endParaRPr sz="2000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>
                <a:solidFill>
                  <a:schemeClr val="dk1"/>
                </a:solidFill>
              </a:rPr>
              <a:t>Docker</a:t>
            </a:r>
            <a:endParaRPr/>
          </a:p>
        </p:txBody>
      </p:sp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611560" y="904706"/>
            <a:ext cx="8352928" cy="1060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接下來我們要讓Django知道要把檔案存在哪裡以及建立一個接收檔案的資料庫的資料表，我們要打開mysite/settings.py，來設定Django。新增以下兩項</a:t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180" name="Google Shape;18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1965110"/>
            <a:ext cx="5976664" cy="149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4"/>
          <p:cNvSpPr txBox="1"/>
          <p:nvPr/>
        </p:nvSpPr>
        <p:spPr>
          <a:xfrm>
            <a:off x="395536" y="3573016"/>
            <a:ext cx="8352928" cy="1060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 sz="2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接下來我們要打開mysite/urls.py增加兩個import以及一段程式</a:t>
            </a:r>
            <a:endParaRPr sz="2000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ibre Franklin"/>
              <a:buNone/>
            </a:pPr>
            <a:r>
              <a:t/>
            </a:r>
            <a:endParaRPr sz="2000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82" name="Google Shape;18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258" y="4103218"/>
            <a:ext cx="6121726" cy="959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258" y="5198039"/>
            <a:ext cx="8234859" cy="959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>
                <a:solidFill>
                  <a:schemeClr val="dk1"/>
                </a:solidFill>
              </a:rPr>
              <a:t>Docker</a:t>
            </a:r>
            <a:endParaRPr/>
          </a:p>
        </p:txBody>
      </p:sp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611560" y="904706"/>
            <a:ext cx="8352928" cy="1060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接下來我們建立一個負責接收檔案的 Model (polls/models.py)，新增一個class名為UserUpload用於管理使用者上傳的文件。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190" name="Google Shape;19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1700808"/>
            <a:ext cx="6647940" cy="2880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>
                <a:solidFill>
                  <a:schemeClr val="dk1"/>
                </a:solidFill>
              </a:rPr>
              <a:t>Docker</a:t>
            </a:r>
            <a:endParaRPr/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611560" y="904706"/>
            <a:ext cx="8352928" cy="223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由於我們現在的Django位於Docker一個名字為web的容器裡面，所以我們需要輸入這段程式以建立遷移檔(因為資料庫的結構變了) 。</a:t>
            </a:r>
            <a:endParaRPr/>
          </a:p>
          <a:p>
            <a:pPr indent="-3205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None/>
            </a:pPr>
            <a:r>
              <a:t/>
            </a:r>
            <a:endParaRPr/>
          </a:p>
          <a:p>
            <a:pPr indent="-384048" lvl="0" marL="384048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在輸入這段程式已正式更新資料庫。</a:t>
            </a:r>
            <a:endParaRPr/>
          </a:p>
        </p:txBody>
      </p:sp>
      <p:sp>
        <p:nvSpPr>
          <p:cNvPr id="197" name="Google Shape;197;p26"/>
          <p:cNvSpPr txBox="1"/>
          <p:nvPr/>
        </p:nvSpPr>
        <p:spPr>
          <a:xfrm>
            <a:off x="611560" y="2573064"/>
            <a:ext cx="8280920" cy="369332"/>
          </a:xfrm>
          <a:prstGeom prst="rect">
            <a:avLst/>
          </a:prstGeom>
          <a:solidFill>
            <a:schemeClr val="dk1"/>
          </a:solidFill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sudo docker compose exec web python manage.py migrate</a:t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647564" y="1559674"/>
            <a:ext cx="8280920" cy="369332"/>
          </a:xfrm>
          <a:prstGeom prst="rect">
            <a:avLst/>
          </a:prstGeom>
          <a:solidFill>
            <a:schemeClr val="dk1"/>
          </a:solidFill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sudo docker compose exec web python manage.py makemigrations </a:t>
            </a:r>
            <a:endParaRPr/>
          </a:p>
        </p:txBody>
      </p:sp>
      <p:sp>
        <p:nvSpPr>
          <p:cNvPr id="199" name="Google Shape;199;p26"/>
          <p:cNvSpPr txBox="1"/>
          <p:nvPr/>
        </p:nvSpPr>
        <p:spPr>
          <a:xfrm>
            <a:off x="539552" y="3140968"/>
            <a:ext cx="8352928" cy="223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 sz="2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再來我們要把他註冊到管理員後台(Admin)，打開polls的admin.py，加入下面這段。然後輸入這段程式以新增一個管理員帳號以供登入查看。</a:t>
            </a:r>
            <a:endParaRPr sz="2000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00" name="Google Shape;20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4484176"/>
            <a:ext cx="3884033" cy="223626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/>
        </p:nvSpPr>
        <p:spPr>
          <a:xfrm>
            <a:off x="715173" y="3910111"/>
            <a:ext cx="8280920" cy="369332"/>
          </a:xfrm>
          <a:prstGeom prst="rect">
            <a:avLst/>
          </a:prstGeom>
          <a:solidFill>
            <a:schemeClr val="dk1"/>
          </a:solidFill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sudo docker compose exec web python manage.py createsuperuser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type="title"/>
          </p:nvPr>
        </p:nvSpPr>
        <p:spPr>
          <a:xfrm>
            <a:off x="611560" y="260648"/>
            <a:ext cx="7488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>
                <a:solidFill>
                  <a:schemeClr val="dk1"/>
                </a:solidFill>
              </a:rPr>
              <a:t>Docker</a:t>
            </a:r>
            <a:endParaRPr/>
          </a:p>
        </p:txBody>
      </p:sp>
      <p:sp>
        <p:nvSpPr>
          <p:cNvPr id="207" name="Google Shape;207;p27"/>
          <p:cNvSpPr txBox="1"/>
          <p:nvPr>
            <p:ph idx="1" type="body"/>
          </p:nvPr>
        </p:nvSpPr>
        <p:spPr>
          <a:xfrm>
            <a:off x="611560" y="685806"/>
            <a:ext cx="83529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我們現在要新增個templates來創作個Html模板以來測試UserUpdate是否能夠正常的運行，輸入這段程式以新增一個新的模板。</a:t>
            </a:r>
            <a:endParaRPr/>
          </a:p>
        </p:txBody>
      </p:sp>
      <p:sp>
        <p:nvSpPr>
          <p:cNvPr id="208" name="Google Shape;208;p27"/>
          <p:cNvSpPr txBox="1"/>
          <p:nvPr/>
        </p:nvSpPr>
        <p:spPr>
          <a:xfrm>
            <a:off x="726218" y="1350388"/>
            <a:ext cx="8280900" cy="369300"/>
          </a:xfrm>
          <a:prstGeom prst="rect">
            <a:avLst/>
          </a:prstGeom>
          <a:solidFill>
            <a:schemeClr val="dk1"/>
          </a:solidFill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715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nano polls/templates/polls/upload.html</a:t>
            </a:r>
            <a:endParaRPr/>
          </a:p>
        </p:txBody>
      </p:sp>
      <p:sp>
        <p:nvSpPr>
          <p:cNvPr id="209" name="Google Shape;209;p27"/>
          <p:cNvSpPr txBox="1"/>
          <p:nvPr/>
        </p:nvSpPr>
        <p:spPr>
          <a:xfrm>
            <a:off x="726225" y="1719699"/>
            <a:ext cx="7349100" cy="5079600"/>
          </a:xfrm>
          <a:prstGeom prst="rect">
            <a:avLst/>
          </a:prstGeom>
          <a:solidFill>
            <a:schemeClr val="dk1"/>
          </a:solidFill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&lt;!DOCTYPE html&gt;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&lt;html&gt;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&lt;head&gt;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&lt;title&gt;檔案上傳測試&lt;/title&gt;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&lt;/head&gt;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&lt;body&gt;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&lt;h2&gt;上傳檔案到 Django 後端&lt;/h2&gt;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&lt;form method="post" enctype="multipart/form-data"&gt;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{% csrf_token %}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&lt;p&gt;標題：&lt;input type="text" name="title" required&gt; &lt;/p&gt;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&lt;p&gt;選擇檔案：&lt;input type="file" name="myfile" required&gt;&lt;/p&gt;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&lt;button type="submit"&gt;開始上傳&lt;/button&gt;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&lt;/form&gt;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&lt;br&gt;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&lt;a href="/admin/"&gt;回到後台查看&lt;/a&gt;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&lt;/body&gt;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&lt;/html&gt;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>
                <a:solidFill>
                  <a:schemeClr val="dk1"/>
                </a:solidFill>
              </a:rPr>
              <a:t>Docker</a:t>
            </a:r>
            <a:endParaRPr/>
          </a:p>
        </p:txBody>
      </p:sp>
      <p:sp>
        <p:nvSpPr>
          <p:cNvPr id="215" name="Google Shape;215;p28"/>
          <p:cNvSpPr txBox="1"/>
          <p:nvPr>
            <p:ph idx="1" type="body"/>
          </p:nvPr>
        </p:nvSpPr>
        <p:spPr>
          <a:xfrm>
            <a:off x="611560" y="904706"/>
            <a:ext cx="8352928" cy="86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我們現在要</a:t>
            </a:r>
            <a:r>
              <a:rPr lang="en-US"/>
              <a:t>編輯view.py來設定上傳的標題以及檔案、存資料庫、跳轉等動作。</a:t>
            </a:r>
            <a:endParaRPr/>
          </a:p>
        </p:txBody>
      </p:sp>
      <p:sp>
        <p:nvSpPr>
          <p:cNvPr id="216" name="Google Shape;216;p28"/>
          <p:cNvSpPr txBox="1"/>
          <p:nvPr/>
        </p:nvSpPr>
        <p:spPr>
          <a:xfrm>
            <a:off x="647568" y="1610713"/>
            <a:ext cx="8280900" cy="5079600"/>
          </a:xfrm>
          <a:prstGeom prst="rect">
            <a:avLst/>
          </a:prstGeom>
          <a:solidFill>
            <a:schemeClr val="dk1"/>
          </a:solidFill>
          <a:ln cap="flat" cmpd="sng" w="349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from django.shortcuts import render, redirect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from .models import UserUpload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def upload_file(request):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if request.method == 'POST':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# 獲取表單文字與檔案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title = request.POST.get('title')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file = request.FILES.get('myfile') 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# 存入資料庫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new_upload = UserUpload(title=title, file=file)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new_upload.save()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    return redirect('/admin/polls/userupload/') # 上傳完自動跳轉回後台列表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ymbols"/>
              <a:buChar char="●"/>
            </a:pPr>
            <a:r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  return render(request, 'polls/upload.html')</a:t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Franklin"/>
              <a:buChar char="●"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>
                <a:solidFill>
                  <a:schemeClr val="dk1"/>
                </a:solidFill>
              </a:rPr>
              <a:t>Docker</a:t>
            </a:r>
            <a:endParaRPr/>
          </a:p>
        </p:txBody>
      </p:sp>
      <p:sp>
        <p:nvSpPr>
          <p:cNvPr id="222" name="Google Shape;222;p29"/>
          <p:cNvSpPr txBox="1"/>
          <p:nvPr>
            <p:ph idx="1" type="body"/>
          </p:nvPr>
        </p:nvSpPr>
        <p:spPr>
          <a:xfrm>
            <a:off x="611560" y="904706"/>
            <a:ext cx="8352928" cy="86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接下來為剛剛創建的Html建立Url導向，打開polls底下的urls,py，新增下面這樣的path。</a:t>
            </a:r>
            <a:endParaRPr/>
          </a:p>
        </p:txBody>
      </p:sp>
      <p:pic>
        <p:nvPicPr>
          <p:cNvPr id="223" name="Google Shape;2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1772816"/>
            <a:ext cx="7523617" cy="86811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 txBox="1"/>
          <p:nvPr/>
        </p:nvSpPr>
        <p:spPr>
          <a:xfrm>
            <a:off x="611560" y="2780928"/>
            <a:ext cx="8352928" cy="868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 sz="2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接下來我們打開</a:t>
            </a:r>
            <a:r>
              <a:rPr lang="en-US" sz="2000" u="sng">
                <a:solidFill>
                  <a:schemeClr val="hlink"/>
                </a:solidFill>
                <a:latin typeface="Libre Franklin"/>
                <a:ea typeface="Libre Franklin"/>
                <a:cs typeface="Libre Franklin"/>
                <a:sym typeface="Libre Franklin"/>
                <a:hlinkClick r:id="rId4"/>
              </a:rPr>
              <a:t>http://127.0.0.1:8000/polls/upload/</a:t>
            </a:r>
            <a:r>
              <a:rPr lang="en-US" sz="2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，看到以下頁面。</a:t>
            </a:r>
            <a:endParaRPr sz="2000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25" name="Google Shape;22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5616" y="3301242"/>
            <a:ext cx="5401429" cy="3296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611560" y="260648"/>
            <a:ext cx="7488832" cy="6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Franklin"/>
              <a:buNone/>
            </a:pPr>
            <a:r>
              <a:rPr b="1" lang="en-US">
                <a:solidFill>
                  <a:schemeClr val="dk1"/>
                </a:solidFill>
              </a:rPr>
              <a:t>Docker</a:t>
            </a:r>
            <a:endParaRPr/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611560" y="904706"/>
            <a:ext cx="8352928" cy="122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/>
              <a:t>輸入標題，點擊Browse..選擇上傳的檔案，然後點擊上傳，點擊完就會自動導入到admin的頁面，可以看到UserUpload裡就有剛剛上傳的測試1</a:t>
            </a:r>
            <a:endParaRPr/>
          </a:p>
        </p:txBody>
      </p:sp>
      <p:pic>
        <p:nvPicPr>
          <p:cNvPr id="232" name="Google Shape;2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2129405"/>
            <a:ext cx="4867954" cy="2467319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0"/>
          <p:cNvSpPr txBox="1"/>
          <p:nvPr/>
        </p:nvSpPr>
        <p:spPr>
          <a:xfrm>
            <a:off x="611560" y="4869160"/>
            <a:ext cx="8352928" cy="122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●"/>
            </a:pPr>
            <a:r>
              <a:rPr lang="en-US" sz="20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回到終端輸入ls -l media/uploads/也可以看到上傳的檔案出現在這邊。</a:t>
            </a:r>
            <a:endParaRPr sz="2000">
              <a:solidFill>
                <a:schemeClr val="dk2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34" name="Google Shape;23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608" y="5405530"/>
            <a:ext cx="7700206" cy="1191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ctrTitle"/>
          </p:nvPr>
        </p:nvSpPr>
        <p:spPr>
          <a:xfrm>
            <a:off x="685800" y="2564904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Libre Franklin"/>
              <a:buNone/>
            </a:pPr>
            <a:r>
              <a:rPr lang="en-US"/>
              <a:t>END</a:t>
            </a:r>
            <a:endParaRPr/>
          </a:p>
        </p:txBody>
      </p:sp>
      <p:sp>
        <p:nvSpPr>
          <p:cNvPr id="240" name="Google Shape;240;p31"/>
          <p:cNvSpPr txBox="1"/>
          <p:nvPr>
            <p:ph idx="12" type="sldNum"/>
          </p:nvPr>
        </p:nvSpPr>
        <p:spPr>
          <a:xfrm>
            <a:off x="7373012" y="6453386"/>
            <a:ext cx="119721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裁剪">
  <a:themeElements>
    <a:clrScheme name="裁剪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