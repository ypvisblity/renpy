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65" r:id="rId3"/>
    <p:sldId id="297" r:id="rId4"/>
    <p:sldId id="299" r:id="rId5"/>
    <p:sldId id="298" r:id="rId6"/>
    <p:sldId id="300" r:id="rId7"/>
    <p:sldId id="301" r:id="rId8"/>
    <p:sldId id="302" r:id="rId9"/>
    <p:sldId id="303" r:id="rId10"/>
    <p:sldId id="304" r:id="rId11"/>
    <p:sldId id="274" r:id="rId12"/>
    <p:sldId id="275" r:id="rId13"/>
    <p:sldId id="276" r:id="rId14"/>
    <p:sldId id="277" r:id="rId15"/>
    <p:sldId id="278" r:id="rId16"/>
    <p:sldId id="287" r:id="rId17"/>
    <p:sldId id="289" r:id="rId18"/>
    <p:sldId id="290" r:id="rId19"/>
    <p:sldId id="291" r:id="rId20"/>
    <p:sldId id="292" r:id="rId21"/>
    <p:sldId id="293" r:id="rId22"/>
    <p:sldId id="26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BB95DC8-3C02-44AB-B1ED-631A26AB7D99}">
          <p14:sldIdLst>
            <p14:sldId id="256"/>
            <p14:sldId id="265"/>
            <p14:sldId id="297"/>
            <p14:sldId id="299"/>
            <p14:sldId id="298"/>
            <p14:sldId id="300"/>
            <p14:sldId id="301"/>
            <p14:sldId id="302"/>
            <p14:sldId id="303"/>
            <p14:sldId id="304"/>
            <p14:sldId id="274"/>
            <p14:sldId id="275"/>
            <p14:sldId id="276"/>
            <p14:sldId id="277"/>
            <p14:sldId id="278"/>
            <p14:sldId id="287"/>
            <p14:sldId id="289"/>
            <p14:sldId id="290"/>
            <p14:sldId id="291"/>
            <p14:sldId id="292"/>
            <p14:sldId id="293"/>
          </p14:sldIdLst>
        </p14:section>
        <p14:section name="未命名的章節" id="{F44A88FC-5764-4BC3-ABBF-5EAB90BC7E1E}">
          <p14:sldIdLst/>
        </p14:section>
        <p14:section name="未命名" id="{AB201B5D-527D-45AB-B57D-ED06D7FF839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0" autoAdjust="0"/>
    <p:restoredTop sz="93063" autoAdjust="0"/>
  </p:normalViewPr>
  <p:slideViewPr>
    <p:cSldViewPr>
      <p:cViewPr varScale="1">
        <p:scale>
          <a:sx n="92" d="100"/>
          <a:sy n="92" d="100"/>
        </p:scale>
        <p:origin x="1916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11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6.xml"/><Relationship Id="rId13" Type="http://schemas.openxmlformats.org/officeDocument/2006/relationships/slide" Target="slides/slide21.xml"/><Relationship Id="rId3" Type="http://schemas.openxmlformats.org/officeDocument/2006/relationships/slide" Target="slides/slide11.xml"/><Relationship Id="rId7" Type="http://schemas.openxmlformats.org/officeDocument/2006/relationships/slide" Target="slides/slide15.xml"/><Relationship Id="rId12" Type="http://schemas.openxmlformats.org/officeDocument/2006/relationships/slide" Target="slides/slide20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14.xml"/><Relationship Id="rId11" Type="http://schemas.openxmlformats.org/officeDocument/2006/relationships/slide" Target="slides/slide19.xml"/><Relationship Id="rId5" Type="http://schemas.openxmlformats.org/officeDocument/2006/relationships/slide" Target="slides/slide13.xml"/><Relationship Id="rId10" Type="http://schemas.openxmlformats.org/officeDocument/2006/relationships/slide" Target="slides/slide18.xml"/><Relationship Id="rId4" Type="http://schemas.openxmlformats.org/officeDocument/2006/relationships/slide" Target="slides/slide12.xml"/><Relationship Id="rId9" Type="http://schemas.openxmlformats.org/officeDocument/2006/relationships/slide" Target="slides/slide17.xml"/><Relationship Id="rId14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10137-1A81-4E0D-9032-609E98C676AE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C839D-53C0-477E-9499-3CBD2E0855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48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A29149-C5EC-49F5-B776-734C8347F9B8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6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1866-9651-4908-B57D-19F66F0CB226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6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6B79E9-7AAB-4684-B228-C54A80412DF5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80313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ED6E-AB36-46F9-B3E7-BAEC20D2097B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18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0E48-F43F-4A80-B766-141B04CC0EF6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3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353DF-7321-47E7-9181-A5F37F0EA25E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46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6700A-E63E-433A-BB48-9AACA55EC76A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68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4BBD1A-C821-4C1E-B76C-29EF781C868F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568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B7CC28-8F5B-4A97-8B55-03B21E511C09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216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B6F8-1FD1-49D9-9A91-8C76D5C4DDDA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19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B52-2634-497B-A0D7-869663A1893C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0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0FDC957E-D632-4B34-80D9-1804E7FA74AE}" type="datetime1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0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localhost:8000/polls/1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/>
          <a:lstStyle/>
          <a:p>
            <a:r>
              <a:rPr lang="zh-TW" altLang="en-US" dirty="0"/>
              <a:t>第八週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72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12EFF-453D-AFCC-EA00-9AC9F10B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F9B01E-4D7A-0768-08F3-29B7EC22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文獻</a:t>
            </a:r>
            <a:endParaRPr lang="en-US" altLang="zh-TW" dirty="0"/>
          </a:p>
          <a:p>
            <a:r>
              <a:rPr lang="en-US" altLang="zh-TW" dirty="0" err="1"/>
              <a:t>django</a:t>
            </a:r>
            <a:r>
              <a:rPr lang="en-US" altLang="zh-TW" dirty="0"/>
              <a:t> – part5 </a:t>
            </a:r>
            <a:r>
              <a:rPr lang="zh-TW" altLang="en-US" dirty="0"/>
              <a:t>自動測試</a:t>
            </a:r>
            <a:r>
              <a:rPr lang="en-US" altLang="zh-TW" dirty="0"/>
              <a:t>-----</a:t>
            </a:r>
            <a:r>
              <a:rPr lang="zh-TW" altLang="en-US" dirty="0"/>
              <a:t> </a:t>
            </a:r>
            <a:r>
              <a:rPr lang="en-US" altLang="zh-TW" dirty="0"/>
              <a:t>3~8</a:t>
            </a:r>
          </a:p>
          <a:p>
            <a:r>
              <a:rPr lang="en-US" altLang="zh-TW" dirty="0" err="1"/>
              <a:t>django</a:t>
            </a:r>
            <a:r>
              <a:rPr lang="en-US" altLang="zh-TW" dirty="0"/>
              <a:t> – part6 </a:t>
            </a:r>
            <a:r>
              <a:rPr lang="zh-TW" altLang="en-US" dirty="0"/>
              <a:t>自訂外觀與風格</a:t>
            </a:r>
            <a:r>
              <a:rPr lang="en-US" altLang="zh-TW" dirty="0"/>
              <a:t>-----</a:t>
            </a:r>
            <a:r>
              <a:rPr lang="zh-TW" altLang="en-US" dirty="0"/>
              <a:t> </a:t>
            </a:r>
            <a:r>
              <a:rPr lang="en-US" altLang="zh-TW" dirty="0"/>
              <a:t>9~10</a:t>
            </a:r>
          </a:p>
          <a:p>
            <a:r>
              <a:rPr lang="en-US" altLang="zh-TW" dirty="0"/>
              <a:t>AI</a:t>
            </a:r>
            <a:r>
              <a:rPr lang="zh-TW" altLang="en-US" dirty="0"/>
              <a:t>輔助程式生成修改測試</a:t>
            </a:r>
            <a:r>
              <a:rPr lang="en-US" altLang="zh-TW" dirty="0"/>
              <a:t>-----</a:t>
            </a:r>
            <a:r>
              <a:rPr lang="zh-TW" altLang="en-US" dirty="0"/>
              <a:t> </a:t>
            </a:r>
            <a:r>
              <a:rPr lang="en-US" altLang="zh-TW"/>
              <a:t>11~21</a:t>
            </a:r>
            <a:endParaRPr lang="en-US" altLang="zh-TW" dirty="0"/>
          </a:p>
          <a:p>
            <a:endParaRPr lang="en-US" altLang="zh-TW" dirty="0">
              <a:hlinkClick r:id="rId2" action="ppaction://hlinksldjump"/>
            </a:endParaRPr>
          </a:p>
        </p:txBody>
      </p:sp>
    </p:spTree>
    <p:extLst>
      <p:ext uri="{BB962C8B-B14F-4D97-AF65-F5344CB8AC3E}">
        <p14:creationId xmlns:p14="http://schemas.microsoft.com/office/powerpoint/2010/main" val="171170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7E72-8652-ADA8-1736-CAD1C997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AD6A764-2441-B42A-3F39-B762F42B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part5 </a:t>
            </a:r>
            <a:r>
              <a:rPr lang="zh-TW" altLang="en-US" dirty="0">
                <a:latin typeface="+mn-ea"/>
              </a:rPr>
              <a:t>自動測試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D3176304-E1CB-0913-9709-4BBB6E99C8CD}"/>
              </a:ext>
            </a:extLst>
          </p:cNvPr>
          <p:cNvSpPr txBox="1">
            <a:spLocks/>
          </p:cNvSpPr>
          <p:nvPr/>
        </p:nvSpPr>
        <p:spPr>
          <a:xfrm>
            <a:off x="755576" y="1814722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自動測試優點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3D50A42-8AB2-E25E-E65A-BDD50AED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A60898B-7597-B179-D4DD-63166A3FB33A}"/>
              </a:ext>
            </a:extLst>
          </p:cNvPr>
          <p:cNvSpPr txBox="1"/>
          <p:nvPr/>
        </p:nvSpPr>
        <p:spPr>
          <a:xfrm>
            <a:off x="827584" y="915616"/>
            <a:ext cx="8128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自動測試是檢查程式運行狀況的例行程序。</a:t>
            </a:r>
            <a:endParaRPr lang="en-US" altLang="zh-TW" dirty="0"/>
          </a:p>
          <a:p>
            <a:r>
              <a:rPr lang="zh-TW" altLang="en-US" dirty="0"/>
              <a:t>有些測試用來檢查小細節，像是某些方法是否回傳預期的值；有些測試用來己查整體的運作，像是使用者的各種輸入是否能顯示預期的結果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1C745B-4E41-39C7-E049-5841F53E1146}"/>
              </a:ext>
            </a:extLst>
          </p:cNvPr>
          <p:cNvSpPr txBox="1"/>
          <p:nvPr/>
        </p:nvSpPr>
        <p:spPr>
          <a:xfrm>
            <a:off x="807656" y="2239874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測試可以節省時間。編寫測試會比自行手動測試程序來的省時間，自動化測試只需要幾秒內就能得知，它還能幫助識別代碼導致的意外行為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8528A7-FF67-9DB2-BBB6-6A9BC80E0597}"/>
              </a:ext>
            </a:extLst>
          </p:cNvPr>
          <p:cNvSpPr txBox="1"/>
          <p:nvPr/>
        </p:nvSpPr>
        <p:spPr>
          <a:xfrm>
            <a:off x="791611" y="2886205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測試能讓程式碼更讓其他人接受。其他開發者可能會拒絕查看你的程式碼因為它缺乏測試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72D941-A477-AFC8-635D-E688989F214B}"/>
              </a:ext>
            </a:extLst>
          </p:cNvPr>
          <p:cNvSpPr txBox="1"/>
          <p:nvPr/>
        </p:nvSpPr>
        <p:spPr>
          <a:xfrm>
            <a:off x="775566" y="3515633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測試幫助團隊分工合作。測試可以確保不會在團隊不知情的情況破壞破壞程式碼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AA2661EE-C553-9AD6-19D5-9B6E0BCA159A}"/>
              </a:ext>
            </a:extLst>
          </p:cNvPr>
          <p:cNvSpPr txBox="1">
            <a:spLocks/>
          </p:cNvSpPr>
          <p:nvPr/>
        </p:nvSpPr>
        <p:spPr>
          <a:xfrm>
            <a:off x="755576" y="4318720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基本的測試策略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CA31877-3B03-874B-622B-0C77C5AD5AED}"/>
              </a:ext>
            </a:extLst>
          </p:cNvPr>
          <p:cNvSpPr txBox="1"/>
          <p:nvPr/>
        </p:nvSpPr>
        <p:spPr>
          <a:xfrm>
            <a:off x="755576" y="4755891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開發的過程中有一種方法叫做「</a:t>
            </a:r>
            <a:r>
              <a:rPr lang="zh-TW" altLang="zh-TW" dirty="0"/>
              <a:t>測試驅動開發</a:t>
            </a:r>
            <a:r>
              <a:rPr lang="zh-TW" altLang="en-US" dirty="0"/>
              <a:t>」，在寫程式之前就先編寫測試。通常大部分人都會做到這件事，先創造問題然後再編寫程式解決。</a:t>
            </a:r>
          </a:p>
        </p:txBody>
      </p:sp>
    </p:spTree>
    <p:extLst>
      <p:ext uri="{BB962C8B-B14F-4D97-AF65-F5344CB8AC3E}">
        <p14:creationId xmlns:p14="http://schemas.microsoft.com/office/powerpoint/2010/main" val="193702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69A2-4679-3A8C-27E6-25D2EEAE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AB5B438-202A-8A36-B46F-AEDE1312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part5 </a:t>
            </a:r>
            <a:r>
              <a:rPr lang="zh-TW" altLang="en-US" dirty="0">
                <a:latin typeface="+mn-ea"/>
              </a:rPr>
              <a:t>自動測試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03196F5-C567-97EC-41A8-753A7E214BA6}"/>
              </a:ext>
            </a:extLst>
          </p:cNvPr>
          <p:cNvSpPr txBox="1">
            <a:spLocks/>
          </p:cNvSpPr>
          <p:nvPr/>
        </p:nvSpPr>
        <p:spPr>
          <a:xfrm>
            <a:off x="755576" y="97613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發現</a:t>
            </a:r>
            <a:r>
              <a:rPr lang="en-US" altLang="zh-TW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bug</a:t>
            </a:r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範例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F7EE9C-D7AE-7B82-FC9B-47917D54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D3F5CE-ABDA-7574-C53A-87CBFD978132}"/>
              </a:ext>
            </a:extLst>
          </p:cNvPr>
          <p:cNvSpPr txBox="1"/>
          <p:nvPr/>
        </p:nvSpPr>
        <p:spPr>
          <a:xfrm>
            <a:off x="827584" y="1505866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上次的</a:t>
            </a:r>
            <a:r>
              <a:rPr lang="en-US" altLang="zh-TW" dirty="0"/>
              <a:t>polls</a:t>
            </a:r>
            <a:r>
              <a:rPr lang="zh-TW" altLang="en-US" dirty="0"/>
              <a:t>程序有錯誤需要修復，</a:t>
            </a:r>
            <a:r>
              <a:rPr lang="en-US" altLang="zh-TW" dirty="0" err="1"/>
              <a:t>Question.was_published_recently</a:t>
            </a:r>
            <a:r>
              <a:rPr lang="en-US" altLang="zh-TW" dirty="0"/>
              <a:t>()</a:t>
            </a:r>
            <a:r>
              <a:rPr lang="zh-TW" altLang="en-US" dirty="0"/>
              <a:t>方法會回傳</a:t>
            </a:r>
            <a:r>
              <a:rPr lang="en-US" altLang="zh-TW" dirty="0"/>
              <a:t>true</a:t>
            </a:r>
            <a:r>
              <a:rPr lang="zh-TW" altLang="en-US" dirty="0"/>
              <a:t>如果在最近</a:t>
            </a:r>
            <a:r>
              <a:rPr lang="en-US" altLang="zh-TW" dirty="0"/>
              <a:t>1</a:t>
            </a:r>
            <a:r>
              <a:rPr lang="zh-TW" altLang="en-US" dirty="0"/>
              <a:t>天發布，但是如果</a:t>
            </a:r>
            <a:r>
              <a:rPr lang="en-US" altLang="zh-TW" dirty="0"/>
              <a:t>Question</a:t>
            </a:r>
            <a:r>
              <a:rPr lang="zh-TW" altLang="en-US" dirty="0"/>
              <a:t>的</a:t>
            </a:r>
            <a:r>
              <a:rPr lang="en-US" altLang="zh-TW" dirty="0" err="1"/>
              <a:t>pub_date</a:t>
            </a:r>
            <a:r>
              <a:rPr lang="zh-TW" altLang="en-US" dirty="0"/>
              <a:t>設定在未來也會回傳</a:t>
            </a:r>
            <a:r>
              <a:rPr lang="en-US" altLang="zh-TW" dirty="0"/>
              <a:t>true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1A3BE1-CC2D-0205-171B-FB9FB2DA9A05}"/>
              </a:ext>
            </a:extLst>
          </p:cNvPr>
          <p:cNvSpPr txBox="1"/>
          <p:nvPr/>
        </p:nvSpPr>
        <p:spPr>
          <a:xfrm>
            <a:off x="770568" y="2407153"/>
            <a:ext cx="8337936" cy="369331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FFFFFF"/>
                </a:solidFill>
              </a:rPr>
              <a:t>$ python manage.py shell</a:t>
            </a:r>
          </a:p>
          <a:p>
            <a:endParaRPr lang="en-US" altLang="zh-TW" dirty="0">
              <a:solidFill>
                <a:srgbClr val="FFFFFF"/>
              </a:solidFill>
            </a:endParaRPr>
          </a:p>
          <a:p>
            <a:r>
              <a:rPr lang="en-US" altLang="zh-TW" dirty="0">
                <a:solidFill>
                  <a:srgbClr val="FFFFFF"/>
                </a:solidFill>
              </a:rPr>
              <a:t>&gt;&gt;&gt; import datetime</a:t>
            </a:r>
          </a:p>
          <a:p>
            <a:r>
              <a:rPr lang="en-US" altLang="zh-TW" dirty="0">
                <a:solidFill>
                  <a:srgbClr val="FFFFFF"/>
                </a:solidFill>
              </a:rPr>
              <a:t>&gt;&gt;&gt; from </a:t>
            </a:r>
            <a:r>
              <a:rPr lang="en-US" altLang="zh-TW" dirty="0" err="1">
                <a:solidFill>
                  <a:srgbClr val="FFFFFF"/>
                </a:solidFill>
              </a:rPr>
              <a:t>django.utils</a:t>
            </a:r>
            <a:r>
              <a:rPr lang="en-US" altLang="zh-TW" dirty="0">
                <a:solidFill>
                  <a:srgbClr val="FFFFFF"/>
                </a:solidFill>
              </a:rPr>
              <a:t> import </a:t>
            </a:r>
            <a:r>
              <a:rPr lang="en-US" altLang="zh-TW" dirty="0" err="1">
                <a:solidFill>
                  <a:srgbClr val="FFFFFF"/>
                </a:solidFill>
              </a:rPr>
              <a:t>timezone</a:t>
            </a:r>
            <a:endParaRPr lang="en-US" altLang="zh-TW" dirty="0">
              <a:solidFill>
                <a:srgbClr val="FFFFFF"/>
              </a:solidFill>
            </a:endParaRPr>
          </a:p>
          <a:p>
            <a:r>
              <a:rPr lang="en-US" altLang="zh-TW" dirty="0">
                <a:solidFill>
                  <a:srgbClr val="FFFFFF"/>
                </a:solidFill>
              </a:rPr>
              <a:t>&gt;&gt;&gt; from </a:t>
            </a:r>
            <a:r>
              <a:rPr lang="en-US" altLang="zh-TW" dirty="0" err="1">
                <a:solidFill>
                  <a:srgbClr val="FFFFFF"/>
                </a:solidFill>
              </a:rPr>
              <a:t>polls.models</a:t>
            </a:r>
            <a:r>
              <a:rPr lang="en-US" altLang="zh-TW" dirty="0">
                <a:solidFill>
                  <a:srgbClr val="FFFFFF"/>
                </a:solidFill>
              </a:rPr>
              <a:t> import Question</a:t>
            </a:r>
          </a:p>
          <a:p>
            <a:endParaRPr lang="en-US" altLang="zh-TW" dirty="0">
              <a:solidFill>
                <a:srgbClr val="FFFFFF"/>
              </a:solidFill>
            </a:endParaRPr>
          </a:p>
          <a:p>
            <a:r>
              <a:rPr lang="zh-TW" altLang="en-US" dirty="0">
                <a:solidFill>
                  <a:srgbClr val="FFFFFF"/>
                </a:solidFill>
              </a:rPr>
              <a:t>創造</a:t>
            </a:r>
            <a:r>
              <a:rPr lang="en-US" altLang="zh-TW" dirty="0">
                <a:solidFill>
                  <a:srgbClr val="FFFFFF"/>
                </a:solidFill>
              </a:rPr>
              <a:t>Question</a:t>
            </a:r>
            <a:r>
              <a:rPr lang="zh-TW" altLang="en-US" dirty="0">
                <a:solidFill>
                  <a:srgbClr val="FFFFFF"/>
                </a:solidFill>
              </a:rPr>
              <a:t>，把</a:t>
            </a:r>
            <a:r>
              <a:rPr lang="en-US" altLang="zh-TW" dirty="0" err="1">
                <a:solidFill>
                  <a:srgbClr val="FFFFFF"/>
                </a:solidFill>
              </a:rPr>
              <a:t>pub_date</a:t>
            </a:r>
            <a:r>
              <a:rPr lang="zh-TW" altLang="en-US" dirty="0">
                <a:solidFill>
                  <a:srgbClr val="FFFFFF"/>
                </a:solidFill>
              </a:rPr>
              <a:t>調成未來</a:t>
            </a:r>
            <a:r>
              <a:rPr lang="en-US" altLang="zh-TW" dirty="0">
                <a:solidFill>
                  <a:srgbClr val="FFFFFF"/>
                </a:solidFill>
              </a:rPr>
              <a:t>30</a:t>
            </a:r>
            <a:r>
              <a:rPr lang="zh-TW" altLang="en-US" dirty="0">
                <a:solidFill>
                  <a:srgbClr val="FFFFFF"/>
                </a:solidFill>
              </a:rPr>
              <a:t>天</a:t>
            </a:r>
            <a:endParaRPr lang="en-US" altLang="zh-TW" dirty="0">
              <a:solidFill>
                <a:srgbClr val="FFFFFF"/>
              </a:solidFill>
            </a:endParaRPr>
          </a:p>
          <a:p>
            <a:r>
              <a:rPr lang="en-US" altLang="zh-TW" dirty="0">
                <a:solidFill>
                  <a:srgbClr val="FFFFFF"/>
                </a:solidFill>
              </a:rPr>
              <a:t>&gt;&gt;&gt; </a:t>
            </a:r>
            <a:r>
              <a:rPr lang="en-US" altLang="zh-TW" dirty="0" err="1">
                <a:solidFill>
                  <a:srgbClr val="FFFFFF"/>
                </a:solidFill>
              </a:rPr>
              <a:t>future_question</a:t>
            </a:r>
            <a:r>
              <a:rPr lang="en-US" altLang="zh-TW" dirty="0">
                <a:solidFill>
                  <a:srgbClr val="FFFFFF"/>
                </a:solidFill>
              </a:rPr>
              <a:t> = Question(</a:t>
            </a:r>
            <a:r>
              <a:rPr lang="en-US" altLang="zh-TW" dirty="0" err="1">
                <a:solidFill>
                  <a:srgbClr val="FFFFFF"/>
                </a:solidFill>
              </a:rPr>
              <a:t>pub_date</a:t>
            </a:r>
            <a:r>
              <a:rPr lang="en-US" altLang="zh-TW" dirty="0">
                <a:solidFill>
                  <a:srgbClr val="FFFFFF"/>
                </a:solidFill>
              </a:rPr>
              <a:t>=</a:t>
            </a:r>
            <a:r>
              <a:rPr lang="en-US" altLang="zh-TW" dirty="0" err="1">
                <a:solidFill>
                  <a:srgbClr val="FFFFFF"/>
                </a:solidFill>
              </a:rPr>
              <a:t>timezone.now</a:t>
            </a:r>
            <a:r>
              <a:rPr lang="en-US" altLang="zh-TW" dirty="0">
                <a:solidFill>
                  <a:srgbClr val="FFFFFF"/>
                </a:solidFill>
              </a:rPr>
              <a:t>() + </a:t>
            </a:r>
            <a:r>
              <a:rPr lang="en-US" altLang="zh-TW" dirty="0" err="1">
                <a:solidFill>
                  <a:srgbClr val="FFFFFF"/>
                </a:solidFill>
              </a:rPr>
              <a:t>datetime.timedelta</a:t>
            </a:r>
            <a:r>
              <a:rPr lang="en-US" altLang="zh-TW" dirty="0">
                <a:solidFill>
                  <a:srgbClr val="FFFFFF"/>
                </a:solidFill>
              </a:rPr>
              <a:t>(days=30))</a:t>
            </a:r>
          </a:p>
          <a:p>
            <a:endParaRPr lang="en-US" altLang="zh-TW" dirty="0">
              <a:solidFill>
                <a:srgbClr val="FFFFFF"/>
              </a:solidFill>
            </a:endParaRPr>
          </a:p>
          <a:p>
            <a:r>
              <a:rPr lang="zh-TW" altLang="en-US" dirty="0">
                <a:solidFill>
                  <a:srgbClr val="FFFFFF"/>
                </a:solidFill>
              </a:rPr>
              <a:t>檢查是否最近發布</a:t>
            </a:r>
            <a:endParaRPr lang="en-US" altLang="zh-TW" dirty="0">
              <a:solidFill>
                <a:srgbClr val="FFFFFF"/>
              </a:solidFill>
            </a:endParaRPr>
          </a:p>
          <a:p>
            <a:r>
              <a:rPr lang="en-US" altLang="zh-TW" dirty="0">
                <a:solidFill>
                  <a:srgbClr val="FFFFFF"/>
                </a:solidFill>
              </a:rPr>
              <a:t>&gt;&gt;&gt; </a:t>
            </a:r>
            <a:r>
              <a:rPr lang="en-US" altLang="zh-TW" dirty="0" err="1">
                <a:solidFill>
                  <a:srgbClr val="FFFFFF"/>
                </a:solidFill>
              </a:rPr>
              <a:t>future_question.was_published_recently</a:t>
            </a:r>
            <a:r>
              <a:rPr lang="en-US" altLang="zh-TW" dirty="0">
                <a:solidFill>
                  <a:srgbClr val="FFFFFF"/>
                </a:solidFill>
              </a:rPr>
              <a:t>()</a:t>
            </a:r>
          </a:p>
          <a:p>
            <a:r>
              <a:rPr lang="en-US" altLang="zh-TW" dirty="0">
                <a:solidFill>
                  <a:srgbClr val="FFFFFF"/>
                </a:solidFill>
              </a:rPr>
              <a:t>True</a:t>
            </a:r>
            <a:endParaRPr lang="zh-TW" altLang="en-US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3DDB0D58-3FB9-967E-FA4E-7DCBD9DE1183}"/>
              </a:ext>
            </a:extLst>
          </p:cNvPr>
          <p:cNvSpPr txBox="1"/>
          <p:nvPr/>
        </p:nvSpPr>
        <p:spPr>
          <a:xfrm>
            <a:off x="770568" y="2130154"/>
            <a:ext cx="648072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200" b="1" dirty="0">
                <a:solidFill>
                  <a:srgbClr val="FFFFFF"/>
                </a:solidFill>
              </a:rPr>
              <a:t>內容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E3819B2-67C5-402C-A94C-726664B11B4B}"/>
              </a:ext>
            </a:extLst>
          </p:cNvPr>
          <p:cNvSpPr txBox="1"/>
          <p:nvPr/>
        </p:nvSpPr>
        <p:spPr>
          <a:xfrm>
            <a:off x="683568" y="6170762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結果證實此錯誤是實際存在的</a:t>
            </a:r>
          </a:p>
        </p:txBody>
      </p:sp>
    </p:spTree>
    <p:extLst>
      <p:ext uri="{BB962C8B-B14F-4D97-AF65-F5344CB8AC3E}">
        <p14:creationId xmlns:p14="http://schemas.microsoft.com/office/powerpoint/2010/main" val="201226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425C-471C-EE84-E9AA-EBB38E0F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D52D9E83-D935-DCBA-7150-FA8C156A7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part5 </a:t>
            </a:r>
            <a:r>
              <a:rPr lang="zh-TW" altLang="en-US" dirty="0">
                <a:latin typeface="+mn-ea"/>
              </a:rPr>
              <a:t>自動測試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DF0B9D1-961A-BB0B-19BF-DB45B3FA342E}"/>
              </a:ext>
            </a:extLst>
          </p:cNvPr>
          <p:cNvSpPr txBox="1">
            <a:spLocks/>
          </p:cNvSpPr>
          <p:nvPr/>
        </p:nvSpPr>
        <p:spPr>
          <a:xfrm>
            <a:off x="755576" y="97613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創造自動測試來接露</a:t>
            </a:r>
            <a:r>
              <a:rPr lang="en-US" altLang="zh-TW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bug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BA89005-94A6-2102-116E-A868F08E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E309A4-CE86-4F21-AFDB-2A29B945F960}"/>
              </a:ext>
            </a:extLst>
          </p:cNvPr>
          <p:cNvSpPr txBox="1"/>
          <p:nvPr/>
        </p:nvSpPr>
        <p:spPr>
          <a:xfrm>
            <a:off x="827584" y="1505866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上一頁使用</a:t>
            </a:r>
            <a:r>
              <a:rPr lang="en-US" altLang="zh-TW" dirty="0"/>
              <a:t>shell</a:t>
            </a:r>
            <a:r>
              <a:rPr lang="zh-TW" altLang="en-US" dirty="0"/>
              <a:t>來檢查問題，如果要自動測試需要寫在程序的</a:t>
            </a:r>
            <a:r>
              <a:rPr lang="en-US" altLang="zh-TW" dirty="0"/>
              <a:t>tests.py</a:t>
            </a:r>
            <a:r>
              <a:rPr lang="zh-TW" altLang="en-US" dirty="0"/>
              <a:t>裡面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01736D-1882-DB1A-035D-F5B37C594BE2}"/>
              </a:ext>
            </a:extLst>
          </p:cNvPr>
          <p:cNvSpPr txBox="1"/>
          <p:nvPr/>
        </p:nvSpPr>
        <p:spPr>
          <a:xfrm>
            <a:off x="755576" y="2239265"/>
            <a:ext cx="8337936" cy="224676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import datetime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from </a:t>
            </a:r>
            <a:r>
              <a:rPr lang="en-US" altLang="zh-TW" sz="1400" dirty="0" err="1">
                <a:solidFill>
                  <a:srgbClr val="FFFFFF"/>
                </a:solidFill>
              </a:rPr>
              <a:t>django.test</a:t>
            </a:r>
            <a:r>
              <a:rPr lang="en-US" altLang="zh-TW" sz="1400" dirty="0">
                <a:solidFill>
                  <a:srgbClr val="FFFFFF"/>
                </a:solidFill>
              </a:rPr>
              <a:t> import </a:t>
            </a:r>
            <a:r>
              <a:rPr lang="en-US" altLang="zh-TW" sz="1400" dirty="0" err="1">
                <a:solidFill>
                  <a:srgbClr val="FFFFFF"/>
                </a:solidFill>
              </a:rPr>
              <a:t>TestCase</a:t>
            </a:r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from </a:t>
            </a:r>
            <a:r>
              <a:rPr lang="en-US" altLang="zh-TW" sz="1400" dirty="0" err="1">
                <a:solidFill>
                  <a:srgbClr val="FFFFFF"/>
                </a:solidFill>
              </a:rPr>
              <a:t>django.utils</a:t>
            </a:r>
            <a:r>
              <a:rPr lang="en-US" altLang="zh-TW" sz="1400" dirty="0">
                <a:solidFill>
                  <a:srgbClr val="FFFFFF"/>
                </a:solidFill>
              </a:rPr>
              <a:t> import </a:t>
            </a:r>
            <a:r>
              <a:rPr lang="en-US" altLang="zh-TW" sz="1400" dirty="0" err="1">
                <a:solidFill>
                  <a:srgbClr val="FFFFFF"/>
                </a:solidFill>
              </a:rPr>
              <a:t>timezone</a:t>
            </a:r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from .models import Question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class </a:t>
            </a:r>
            <a:r>
              <a:rPr lang="en-US" altLang="zh-TW" sz="1400" dirty="0" err="1">
                <a:solidFill>
                  <a:srgbClr val="FFFFFF"/>
                </a:solidFill>
              </a:rPr>
              <a:t>QuestionModelTests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TestCase</a:t>
            </a:r>
            <a:r>
              <a:rPr lang="en-US" altLang="zh-TW" sz="1400" dirty="0">
                <a:solidFill>
                  <a:srgbClr val="FFFFFF"/>
                </a:solidFill>
              </a:rPr>
              <a:t>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def </a:t>
            </a:r>
            <a:r>
              <a:rPr lang="en-US" altLang="zh-TW" sz="1400" dirty="0" err="1">
                <a:solidFill>
                  <a:srgbClr val="FFFFFF"/>
                </a:solidFill>
              </a:rPr>
              <a:t>test_was_published_recently_with_future_question</a:t>
            </a:r>
            <a:r>
              <a:rPr lang="en-US" altLang="zh-TW" sz="1400" dirty="0">
                <a:solidFill>
                  <a:srgbClr val="FFFFFF"/>
                </a:solidFill>
              </a:rPr>
              <a:t>(self):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	time = </a:t>
            </a:r>
            <a:r>
              <a:rPr lang="en-US" altLang="zh-TW" sz="1400" dirty="0" err="1">
                <a:solidFill>
                  <a:srgbClr val="FFFFFF"/>
                </a:solidFill>
              </a:rPr>
              <a:t>timezone.now</a:t>
            </a:r>
            <a:r>
              <a:rPr lang="en-US" altLang="zh-TW" sz="1400" dirty="0">
                <a:solidFill>
                  <a:srgbClr val="FFFFFF"/>
                </a:solidFill>
              </a:rPr>
              <a:t>() + </a:t>
            </a:r>
            <a:r>
              <a:rPr lang="en-US" altLang="zh-TW" sz="1400" dirty="0" err="1">
                <a:solidFill>
                  <a:srgbClr val="FFFFFF"/>
                </a:solidFill>
              </a:rPr>
              <a:t>datetime.timedelta</a:t>
            </a:r>
            <a:r>
              <a:rPr lang="en-US" altLang="zh-TW" sz="1400" dirty="0">
                <a:solidFill>
                  <a:srgbClr val="FFFFFF"/>
                </a:solidFill>
              </a:rPr>
              <a:t>(days=30)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	</a:t>
            </a:r>
            <a:r>
              <a:rPr lang="en-US" altLang="zh-TW" sz="1400" dirty="0" err="1">
                <a:solidFill>
                  <a:srgbClr val="FFFFFF"/>
                </a:solidFill>
              </a:rPr>
              <a:t>future_question</a:t>
            </a:r>
            <a:r>
              <a:rPr lang="en-US" altLang="zh-TW" sz="1400" dirty="0">
                <a:solidFill>
                  <a:srgbClr val="FFFFFF"/>
                </a:solidFill>
              </a:rPr>
              <a:t> = Question(</a:t>
            </a:r>
            <a:r>
              <a:rPr lang="en-US" altLang="zh-TW" sz="1400" dirty="0" err="1">
                <a:solidFill>
                  <a:srgbClr val="FFFFFF"/>
                </a:solidFill>
              </a:rPr>
              <a:t>pub_date</a:t>
            </a:r>
            <a:r>
              <a:rPr lang="en-US" altLang="zh-TW" sz="1400" dirty="0">
                <a:solidFill>
                  <a:srgbClr val="FFFFFF"/>
                </a:solidFill>
              </a:rPr>
              <a:t>=time)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	</a:t>
            </a:r>
            <a:r>
              <a:rPr lang="en-US" altLang="zh-TW" sz="1400" dirty="0" err="1">
                <a:solidFill>
                  <a:srgbClr val="FFFFFF"/>
                </a:solidFill>
              </a:rPr>
              <a:t>self.assertIs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future_question.was_published_recently</a:t>
            </a:r>
            <a:r>
              <a:rPr lang="en-US" altLang="zh-TW" sz="1400" dirty="0">
                <a:solidFill>
                  <a:srgbClr val="FFFFFF"/>
                </a:solidFill>
              </a:rPr>
              <a:t>(), False)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FA238AAD-8A74-468E-3491-ED2489E48C3E}"/>
              </a:ext>
            </a:extLst>
          </p:cNvPr>
          <p:cNvSpPr txBox="1"/>
          <p:nvPr/>
        </p:nvSpPr>
        <p:spPr>
          <a:xfrm>
            <a:off x="755576" y="1962266"/>
            <a:ext cx="106512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tests.py</a:t>
            </a:r>
            <a:r>
              <a:rPr lang="zh-TW" altLang="en-US" sz="1200" b="1" dirty="0">
                <a:solidFill>
                  <a:srgbClr val="FFFFFF"/>
                </a:solidFill>
              </a:rPr>
              <a:t> 內容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2747E9B-3CD9-8F12-4045-25ADF61646A5}"/>
              </a:ext>
            </a:extLst>
          </p:cNvPr>
          <p:cNvSpPr txBox="1"/>
          <p:nvPr/>
        </p:nvSpPr>
        <p:spPr>
          <a:xfrm>
            <a:off x="755576" y="4847113"/>
            <a:ext cx="8337936" cy="30777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$ python manage.py test polls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15" name="文字方塊 13">
            <a:extLst>
              <a:ext uri="{FF2B5EF4-FFF2-40B4-BE49-F238E27FC236}">
                <a16:creationId xmlns:a16="http://schemas.microsoft.com/office/drawing/2014/main" id="{9777BB40-7158-A66C-401D-D231FE9ED789}"/>
              </a:ext>
            </a:extLst>
          </p:cNvPr>
          <p:cNvSpPr txBox="1"/>
          <p:nvPr/>
        </p:nvSpPr>
        <p:spPr>
          <a:xfrm>
            <a:off x="755576" y="4570114"/>
            <a:ext cx="106512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200" b="1" dirty="0">
                <a:solidFill>
                  <a:srgbClr val="FFFFFF"/>
                </a:solidFill>
              </a:rPr>
              <a:t>終端機執行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3F3FCB-E49F-8314-BE91-22168A0260EC}"/>
              </a:ext>
            </a:extLst>
          </p:cNvPr>
          <p:cNvSpPr txBox="1"/>
          <p:nvPr/>
        </p:nvSpPr>
        <p:spPr>
          <a:xfrm>
            <a:off x="611560" y="5208192"/>
            <a:ext cx="8128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運作自動測試的過程</a:t>
            </a:r>
            <a:r>
              <a:rPr lang="en-US" altLang="zh-TW" dirty="0"/>
              <a:t>manage.py test polls</a:t>
            </a:r>
            <a:r>
              <a:rPr lang="zh-TW" altLang="en-US" dirty="0"/>
              <a:t>查看</a:t>
            </a:r>
            <a:r>
              <a:rPr lang="en-US" altLang="zh-TW" dirty="0"/>
              <a:t>polls</a:t>
            </a:r>
            <a:r>
              <a:rPr lang="zh-TW" altLang="en-US" dirty="0"/>
              <a:t>程序的測試，找到</a:t>
            </a:r>
            <a:r>
              <a:rPr lang="en-US" altLang="zh-TW" dirty="0" err="1"/>
              <a:t>django.test.TestCase</a:t>
            </a:r>
            <a:r>
              <a:rPr lang="zh-TW" altLang="en-US" dirty="0"/>
              <a:t>的子類別，創造一個特別的資料庫來測試，尋找測試方法，在</a:t>
            </a:r>
            <a:r>
              <a:rPr lang="en-US" altLang="zh-TW" dirty="0" err="1"/>
              <a:t>test_was_published_recently_with_future_question</a:t>
            </a:r>
            <a:r>
              <a:rPr lang="zh-TW" altLang="en-US" dirty="0"/>
              <a:t>裡面創建了</a:t>
            </a:r>
            <a:r>
              <a:rPr lang="en-US" altLang="zh-TW" dirty="0"/>
              <a:t>Question</a:t>
            </a:r>
            <a:r>
              <a:rPr lang="zh-TW" altLang="en-US" dirty="0"/>
              <a:t>實體，</a:t>
            </a:r>
            <a:r>
              <a:rPr lang="en-US" altLang="zh-TW" dirty="0" err="1"/>
              <a:t>pub_date</a:t>
            </a:r>
            <a:r>
              <a:rPr lang="zh-TW" altLang="en-US" dirty="0"/>
              <a:t>的值是未來的</a:t>
            </a:r>
            <a:r>
              <a:rPr lang="en-US" altLang="zh-TW" dirty="0"/>
              <a:t>30</a:t>
            </a:r>
            <a:r>
              <a:rPr lang="zh-TW" altLang="en-US" dirty="0"/>
              <a:t>天，</a:t>
            </a:r>
            <a:r>
              <a:rPr lang="en-US" altLang="zh-TW" dirty="0" err="1"/>
              <a:t>assertIs</a:t>
            </a:r>
            <a:r>
              <a:rPr lang="en-US" altLang="zh-TW" dirty="0"/>
              <a:t>()</a:t>
            </a:r>
            <a:r>
              <a:rPr lang="zh-TW" altLang="en-US" dirty="0"/>
              <a:t>方法發現</a:t>
            </a:r>
            <a:r>
              <a:rPr lang="en-US" altLang="zh-TW" dirty="0" err="1"/>
              <a:t>was_published_recently</a:t>
            </a:r>
            <a:r>
              <a:rPr lang="en-US" altLang="zh-TW" dirty="0"/>
              <a:t>()</a:t>
            </a:r>
            <a:r>
              <a:rPr lang="zh-TW" altLang="en-US" dirty="0"/>
              <a:t>回傳</a:t>
            </a:r>
            <a:r>
              <a:rPr lang="en-US" altLang="zh-TW" dirty="0"/>
              <a:t>true</a:t>
            </a:r>
            <a:r>
              <a:rPr lang="zh-TW" altLang="en-US" dirty="0"/>
              <a:t>，但是預期的結果是</a:t>
            </a:r>
            <a:r>
              <a:rPr lang="en-US" altLang="zh-TW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03515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3E9F-0E24-7C4A-9A35-AA378A2B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E551241-2249-DA16-29B0-B9D6A7423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part5 </a:t>
            </a:r>
            <a:r>
              <a:rPr lang="zh-TW" altLang="en-US" dirty="0">
                <a:latin typeface="+mn-ea"/>
              </a:rPr>
              <a:t>自動測試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AB55778-A2B7-B5E1-976F-5B88102093D0}"/>
              </a:ext>
            </a:extLst>
          </p:cNvPr>
          <p:cNvSpPr txBox="1">
            <a:spLocks/>
          </p:cNvSpPr>
          <p:nvPr/>
        </p:nvSpPr>
        <p:spPr>
          <a:xfrm>
            <a:off x="722432" y="90066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創造自動測試來接露</a:t>
            </a:r>
            <a:r>
              <a:rPr lang="en-US" altLang="zh-TW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bug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FA0A4E5-D9C4-FF62-0DC4-66F2BA95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CF1E73-ED48-7DFD-3C66-843023E845BD}"/>
              </a:ext>
            </a:extLst>
          </p:cNvPr>
          <p:cNvSpPr txBox="1"/>
          <p:nvPr/>
        </p:nvSpPr>
        <p:spPr>
          <a:xfrm>
            <a:off x="753200" y="1358608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檢測結果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1A049E-0E46-DD22-CD7A-5B95443E45CB}"/>
              </a:ext>
            </a:extLst>
          </p:cNvPr>
          <p:cNvSpPr txBox="1"/>
          <p:nvPr/>
        </p:nvSpPr>
        <p:spPr>
          <a:xfrm>
            <a:off x="681192" y="2019518"/>
            <a:ext cx="8337936" cy="3539430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Creating test database for alias 'default'...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System check identified no issues (0 silenced).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F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======================================================================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FAIL: </a:t>
            </a:r>
            <a:r>
              <a:rPr lang="en-US" altLang="zh-TW" sz="1400" dirty="0" err="1">
                <a:solidFill>
                  <a:srgbClr val="FFFFFF"/>
                </a:solidFill>
              </a:rPr>
              <a:t>test_was_published_recently_with_future_question</a:t>
            </a:r>
            <a:r>
              <a:rPr lang="en-US" altLang="zh-TW" sz="1400" dirty="0">
                <a:solidFill>
                  <a:srgbClr val="FFFFFF"/>
                </a:solidFill>
              </a:rPr>
              <a:t> (</a:t>
            </a:r>
            <a:r>
              <a:rPr lang="en-US" altLang="zh-TW" sz="1400" dirty="0" err="1">
                <a:solidFill>
                  <a:srgbClr val="FFFFFF"/>
                </a:solidFill>
              </a:rPr>
              <a:t>polls.tests.QuestionModelTests</a:t>
            </a:r>
            <a:r>
              <a:rPr lang="en-US" altLang="zh-TW" sz="1400" dirty="0">
                <a:solidFill>
                  <a:srgbClr val="FFFFFF"/>
                </a:solidFill>
              </a:rPr>
              <a:t>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----------------------------------------------------------------------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Traceback (most recent call last):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File "/path/to/</a:t>
            </a:r>
            <a:r>
              <a:rPr lang="en-US" altLang="zh-TW" sz="1400" dirty="0" err="1">
                <a:solidFill>
                  <a:srgbClr val="FFFFFF"/>
                </a:solidFill>
              </a:rPr>
              <a:t>mysite</a:t>
            </a:r>
            <a:r>
              <a:rPr lang="en-US" altLang="zh-TW" sz="1400" dirty="0">
                <a:solidFill>
                  <a:srgbClr val="FFFFFF"/>
                </a:solidFill>
              </a:rPr>
              <a:t>/polls/tests.py", line 16, in </a:t>
            </a:r>
            <a:r>
              <a:rPr lang="en-US" altLang="zh-TW" sz="1400" dirty="0" err="1">
                <a:solidFill>
                  <a:srgbClr val="FFFFFF"/>
                </a:solidFill>
              </a:rPr>
              <a:t>test_was_published_recently_with_future_question</a:t>
            </a:r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    </a:t>
            </a:r>
            <a:r>
              <a:rPr lang="en-US" altLang="zh-TW" sz="1400" dirty="0" err="1">
                <a:solidFill>
                  <a:srgbClr val="FFFFFF"/>
                </a:solidFill>
              </a:rPr>
              <a:t>self.assertIs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future_question.was_published_recently</a:t>
            </a:r>
            <a:r>
              <a:rPr lang="en-US" altLang="zh-TW" sz="1400" dirty="0">
                <a:solidFill>
                  <a:srgbClr val="FFFFFF"/>
                </a:solidFill>
              </a:rPr>
              <a:t>(), False)</a:t>
            </a:r>
          </a:p>
          <a:p>
            <a:r>
              <a:rPr lang="en-US" altLang="zh-TW" sz="1400" dirty="0" err="1">
                <a:solidFill>
                  <a:srgbClr val="FFFFFF"/>
                </a:solidFill>
              </a:rPr>
              <a:t>AssertionError</a:t>
            </a:r>
            <a:r>
              <a:rPr lang="en-US" altLang="zh-TW" sz="1400" dirty="0">
                <a:solidFill>
                  <a:srgbClr val="FFFFFF"/>
                </a:solidFill>
              </a:rPr>
              <a:t>: True is not False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----------------------------------------------------------------------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Ran 1 test in 0.001s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FAILED (failures=1)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Destroying test database for alias 'default'...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2BFC2DC-A2DE-6771-B8AA-3F631FB1E03D}"/>
              </a:ext>
            </a:extLst>
          </p:cNvPr>
          <p:cNvSpPr txBox="1"/>
          <p:nvPr/>
        </p:nvSpPr>
        <p:spPr>
          <a:xfrm>
            <a:off x="681192" y="1742519"/>
            <a:ext cx="106512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200" b="1" dirty="0">
                <a:solidFill>
                  <a:srgbClr val="FFFFFF"/>
                </a:solidFill>
              </a:rPr>
              <a:t>終端機結果</a:t>
            </a:r>
          </a:p>
        </p:txBody>
      </p:sp>
    </p:spTree>
    <p:extLst>
      <p:ext uri="{BB962C8B-B14F-4D97-AF65-F5344CB8AC3E}">
        <p14:creationId xmlns:p14="http://schemas.microsoft.com/office/powerpoint/2010/main" val="148883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BBFB-9A4C-B0DC-0A69-77E2377E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BCF5F37-B234-0D05-B843-A170F352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part5 </a:t>
            </a:r>
            <a:r>
              <a:rPr lang="zh-TW" altLang="en-US" dirty="0">
                <a:latin typeface="+mn-ea"/>
              </a:rPr>
              <a:t>自動測試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D0FCB11B-55A2-8345-A6E9-496A571DAEC8}"/>
              </a:ext>
            </a:extLst>
          </p:cNvPr>
          <p:cNvSpPr txBox="1">
            <a:spLocks/>
          </p:cNvSpPr>
          <p:nvPr/>
        </p:nvSpPr>
        <p:spPr>
          <a:xfrm>
            <a:off x="755576" y="97613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創造自動測試來接露</a:t>
            </a:r>
            <a:r>
              <a:rPr lang="en-US" altLang="zh-TW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bug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3BD22DA-FF4E-D605-157F-161764B9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0E2B63-8CE5-DC39-2111-A771F70FD896}"/>
              </a:ext>
            </a:extLst>
          </p:cNvPr>
          <p:cNvSpPr txBox="1"/>
          <p:nvPr/>
        </p:nvSpPr>
        <p:spPr>
          <a:xfrm>
            <a:off x="609907" y="2874352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再次檢測結果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FD6FCE9-CDC5-056F-E49E-65479F5B00F7}"/>
              </a:ext>
            </a:extLst>
          </p:cNvPr>
          <p:cNvSpPr txBox="1"/>
          <p:nvPr/>
        </p:nvSpPr>
        <p:spPr>
          <a:xfrm>
            <a:off x="714336" y="2094988"/>
            <a:ext cx="8337936" cy="738664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def </a:t>
            </a:r>
            <a:r>
              <a:rPr lang="en-US" altLang="zh-TW" sz="1400" dirty="0" err="1">
                <a:solidFill>
                  <a:srgbClr val="FFFFFF"/>
                </a:solidFill>
              </a:rPr>
              <a:t>was_published_recently</a:t>
            </a:r>
            <a:r>
              <a:rPr lang="en-US" altLang="zh-TW" sz="1400" dirty="0">
                <a:solidFill>
                  <a:srgbClr val="FFFFFF"/>
                </a:solidFill>
              </a:rPr>
              <a:t>(self):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now = </a:t>
            </a:r>
            <a:r>
              <a:rPr lang="en-US" altLang="zh-TW" sz="1400" dirty="0" err="1">
                <a:solidFill>
                  <a:srgbClr val="FFFFFF"/>
                </a:solidFill>
              </a:rPr>
              <a:t>timezone.now</a:t>
            </a:r>
            <a:r>
              <a:rPr lang="en-US" altLang="zh-TW" sz="1400" dirty="0">
                <a:solidFill>
                  <a:srgbClr val="FFFFFF"/>
                </a:solidFill>
              </a:rPr>
              <a:t>()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return now - </a:t>
            </a:r>
            <a:r>
              <a:rPr lang="en-US" altLang="zh-TW" sz="1400" dirty="0" err="1">
                <a:solidFill>
                  <a:srgbClr val="FFFFFF"/>
                </a:solidFill>
              </a:rPr>
              <a:t>datetime.timedelta</a:t>
            </a:r>
            <a:r>
              <a:rPr lang="en-US" altLang="zh-TW" sz="1400" dirty="0">
                <a:solidFill>
                  <a:srgbClr val="FFFFFF"/>
                </a:solidFill>
              </a:rPr>
              <a:t>(days=1) &lt;= </a:t>
            </a:r>
            <a:r>
              <a:rPr lang="en-US" altLang="zh-TW" sz="1400" dirty="0" err="1">
                <a:solidFill>
                  <a:srgbClr val="FFFFFF"/>
                </a:solidFill>
              </a:rPr>
              <a:t>self.pub_date</a:t>
            </a:r>
            <a:r>
              <a:rPr lang="en-US" altLang="zh-TW" sz="1400" dirty="0">
                <a:solidFill>
                  <a:srgbClr val="FFFFFF"/>
                </a:solidFill>
              </a:rPr>
              <a:t> &lt;= now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56110C6-5A90-A574-8BFB-6D33BFB24EA4}"/>
              </a:ext>
            </a:extLst>
          </p:cNvPr>
          <p:cNvSpPr txBox="1"/>
          <p:nvPr/>
        </p:nvSpPr>
        <p:spPr>
          <a:xfrm>
            <a:off x="714336" y="1817989"/>
            <a:ext cx="119336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Models.py</a:t>
            </a:r>
            <a:r>
              <a:rPr lang="zh-TW" altLang="en-US" sz="1200" b="1" dirty="0">
                <a:solidFill>
                  <a:srgbClr val="FFFFFF"/>
                </a:solidFill>
              </a:rPr>
              <a:t>內容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E115940-09AC-C1EF-B018-27FD5B098410}"/>
              </a:ext>
            </a:extLst>
          </p:cNvPr>
          <p:cNvSpPr txBox="1"/>
          <p:nvPr/>
        </p:nvSpPr>
        <p:spPr>
          <a:xfrm>
            <a:off x="609907" y="1424652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接下來把錯誤給修好，讓只有過去</a:t>
            </a:r>
            <a:r>
              <a:rPr lang="en-US" altLang="zh-TW" dirty="0"/>
              <a:t>1</a:t>
            </a:r>
            <a:r>
              <a:rPr lang="zh-TW" altLang="en-US" dirty="0"/>
              <a:t>天會回傳</a:t>
            </a:r>
            <a:r>
              <a:rPr lang="en-US" altLang="zh-TW" dirty="0"/>
              <a:t>true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AB62C2B-D96B-02A2-FC9C-596CF10C4754}"/>
              </a:ext>
            </a:extLst>
          </p:cNvPr>
          <p:cNvSpPr txBox="1"/>
          <p:nvPr/>
        </p:nvSpPr>
        <p:spPr>
          <a:xfrm>
            <a:off x="678424" y="3527354"/>
            <a:ext cx="8337936" cy="1815882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Creating test database for alias 'default'...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System check identified no issues (0 silenced).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----------------------------------------------------------------------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Ran 1 test in 0.001s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OK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Destroying test database for alias 'default'...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id="{D5E93887-D10E-2614-E32B-7E965041D9F4}"/>
              </a:ext>
            </a:extLst>
          </p:cNvPr>
          <p:cNvSpPr txBox="1"/>
          <p:nvPr/>
        </p:nvSpPr>
        <p:spPr>
          <a:xfrm>
            <a:off x="678424" y="3250355"/>
            <a:ext cx="106512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200" b="1" dirty="0">
                <a:solidFill>
                  <a:srgbClr val="FFFFFF"/>
                </a:solidFill>
              </a:rPr>
              <a:t>終端機結果</a:t>
            </a:r>
          </a:p>
        </p:txBody>
      </p:sp>
    </p:spTree>
    <p:extLst>
      <p:ext uri="{BB962C8B-B14F-4D97-AF65-F5344CB8AC3E}">
        <p14:creationId xmlns:p14="http://schemas.microsoft.com/office/powerpoint/2010/main" val="4157277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BE07E-96C1-DEF4-D373-47DBD39A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C8E0C05-F771-F5ED-F999-8504AE6A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part5 </a:t>
            </a:r>
            <a:r>
              <a:rPr lang="zh-TW" altLang="en-US" dirty="0">
                <a:latin typeface="+mn-ea"/>
              </a:rPr>
              <a:t>自動測試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1290E3E-7FFC-6A71-DF93-837D6848E6F3}"/>
              </a:ext>
            </a:extLst>
          </p:cNvPr>
          <p:cNvSpPr txBox="1">
            <a:spLocks/>
          </p:cNvSpPr>
          <p:nvPr/>
        </p:nvSpPr>
        <p:spPr>
          <a:xfrm>
            <a:off x="755576" y="97613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創造自動測試來接露</a:t>
            </a:r>
            <a:r>
              <a:rPr lang="en-US" altLang="zh-TW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bug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117AC54-BA8F-262F-E85B-CAFAFB32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0528F34-3DBC-90DE-40F3-EBA2D99AD708}"/>
              </a:ext>
            </a:extLst>
          </p:cNvPr>
          <p:cNvSpPr txBox="1"/>
          <p:nvPr/>
        </p:nvSpPr>
        <p:spPr>
          <a:xfrm>
            <a:off x="755576" y="1497838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可以對同個類別新增多個測試方法，來用不同方向測試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1D129F3-A663-1019-3014-C46DE5999952}"/>
              </a:ext>
            </a:extLst>
          </p:cNvPr>
          <p:cNvSpPr txBox="1"/>
          <p:nvPr/>
        </p:nvSpPr>
        <p:spPr>
          <a:xfrm>
            <a:off x="755576" y="2239265"/>
            <a:ext cx="8337936" cy="224676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def </a:t>
            </a:r>
            <a:r>
              <a:rPr lang="en-US" altLang="zh-TW" sz="1400" dirty="0" err="1">
                <a:solidFill>
                  <a:srgbClr val="FFFFFF"/>
                </a:solidFill>
              </a:rPr>
              <a:t>test_was_published_recently_with_old_question</a:t>
            </a:r>
            <a:r>
              <a:rPr lang="en-US" altLang="zh-TW" sz="1400" dirty="0">
                <a:solidFill>
                  <a:srgbClr val="FFFFFF"/>
                </a:solidFill>
              </a:rPr>
              <a:t>(self):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time = </a:t>
            </a:r>
            <a:r>
              <a:rPr lang="en-US" altLang="zh-TW" sz="1400" dirty="0" err="1">
                <a:solidFill>
                  <a:srgbClr val="FFFFFF"/>
                </a:solidFill>
              </a:rPr>
              <a:t>timezone.now</a:t>
            </a:r>
            <a:r>
              <a:rPr lang="en-US" altLang="zh-TW" sz="1400" dirty="0">
                <a:solidFill>
                  <a:srgbClr val="FFFFFF"/>
                </a:solidFill>
              </a:rPr>
              <a:t>() - </a:t>
            </a:r>
            <a:r>
              <a:rPr lang="en-US" altLang="zh-TW" sz="1400" dirty="0" err="1">
                <a:solidFill>
                  <a:srgbClr val="FFFFFF"/>
                </a:solidFill>
              </a:rPr>
              <a:t>datetime.timedelta</a:t>
            </a:r>
            <a:r>
              <a:rPr lang="en-US" altLang="zh-TW" sz="1400" dirty="0">
                <a:solidFill>
                  <a:srgbClr val="FFFFFF"/>
                </a:solidFill>
              </a:rPr>
              <a:t>(days=1, seconds=1)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</a:t>
            </a:r>
            <a:r>
              <a:rPr lang="en-US" altLang="zh-TW" sz="1400" dirty="0" err="1">
                <a:solidFill>
                  <a:srgbClr val="FFFFFF"/>
                </a:solidFill>
              </a:rPr>
              <a:t>old_question</a:t>
            </a:r>
            <a:r>
              <a:rPr lang="en-US" altLang="zh-TW" sz="1400" dirty="0">
                <a:solidFill>
                  <a:srgbClr val="FFFFFF"/>
                </a:solidFill>
              </a:rPr>
              <a:t> = Question(</a:t>
            </a:r>
            <a:r>
              <a:rPr lang="en-US" altLang="zh-TW" sz="1400" dirty="0" err="1">
                <a:solidFill>
                  <a:srgbClr val="FFFFFF"/>
                </a:solidFill>
              </a:rPr>
              <a:t>pub_date</a:t>
            </a:r>
            <a:r>
              <a:rPr lang="en-US" altLang="zh-TW" sz="1400" dirty="0">
                <a:solidFill>
                  <a:srgbClr val="FFFFFF"/>
                </a:solidFill>
              </a:rPr>
              <a:t>=time)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</a:t>
            </a:r>
            <a:r>
              <a:rPr lang="en-US" altLang="zh-TW" sz="1400" dirty="0" err="1">
                <a:solidFill>
                  <a:srgbClr val="FFFFFF"/>
                </a:solidFill>
              </a:rPr>
              <a:t>self.assertIs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old_question.was_published_recently</a:t>
            </a:r>
            <a:r>
              <a:rPr lang="en-US" altLang="zh-TW" sz="1400" dirty="0">
                <a:solidFill>
                  <a:srgbClr val="FFFFFF"/>
                </a:solidFill>
              </a:rPr>
              <a:t>(), False)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def </a:t>
            </a:r>
            <a:r>
              <a:rPr lang="en-US" altLang="zh-TW" sz="1400" dirty="0" err="1">
                <a:solidFill>
                  <a:srgbClr val="FFFFFF"/>
                </a:solidFill>
              </a:rPr>
              <a:t>test_was_published_recently_with_recent_question</a:t>
            </a:r>
            <a:r>
              <a:rPr lang="en-US" altLang="zh-TW" sz="1400" dirty="0">
                <a:solidFill>
                  <a:srgbClr val="FFFFFF"/>
                </a:solidFill>
              </a:rPr>
              <a:t>(self):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time = </a:t>
            </a:r>
            <a:r>
              <a:rPr lang="en-US" altLang="zh-TW" sz="1400" dirty="0" err="1">
                <a:solidFill>
                  <a:srgbClr val="FFFFFF"/>
                </a:solidFill>
              </a:rPr>
              <a:t>timezone.now</a:t>
            </a:r>
            <a:r>
              <a:rPr lang="en-US" altLang="zh-TW" sz="1400" dirty="0">
                <a:solidFill>
                  <a:srgbClr val="FFFFFF"/>
                </a:solidFill>
              </a:rPr>
              <a:t>() - </a:t>
            </a:r>
            <a:r>
              <a:rPr lang="en-US" altLang="zh-TW" sz="1400" dirty="0" err="1">
                <a:solidFill>
                  <a:srgbClr val="FFFFFF"/>
                </a:solidFill>
              </a:rPr>
              <a:t>datetime.timedelta</a:t>
            </a:r>
            <a:r>
              <a:rPr lang="en-US" altLang="zh-TW" sz="1400" dirty="0">
                <a:solidFill>
                  <a:srgbClr val="FFFFFF"/>
                </a:solidFill>
              </a:rPr>
              <a:t>(hours=23, minutes=59, seconds=59)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</a:t>
            </a:r>
            <a:r>
              <a:rPr lang="en-US" altLang="zh-TW" sz="1400" dirty="0" err="1">
                <a:solidFill>
                  <a:srgbClr val="FFFFFF"/>
                </a:solidFill>
              </a:rPr>
              <a:t>recent_question</a:t>
            </a:r>
            <a:r>
              <a:rPr lang="en-US" altLang="zh-TW" sz="1400" dirty="0">
                <a:solidFill>
                  <a:srgbClr val="FFFFFF"/>
                </a:solidFill>
              </a:rPr>
              <a:t> = 	Question(</a:t>
            </a:r>
            <a:r>
              <a:rPr lang="en-US" altLang="zh-TW" sz="1400" dirty="0" err="1">
                <a:solidFill>
                  <a:srgbClr val="FFFFFF"/>
                </a:solidFill>
              </a:rPr>
              <a:t>pub_date</a:t>
            </a:r>
            <a:r>
              <a:rPr lang="en-US" altLang="zh-TW" sz="1400" dirty="0">
                <a:solidFill>
                  <a:srgbClr val="FFFFFF"/>
                </a:solidFill>
              </a:rPr>
              <a:t>=time)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</a:t>
            </a:r>
            <a:r>
              <a:rPr lang="en-US" altLang="zh-TW" sz="1400" dirty="0" err="1">
                <a:solidFill>
                  <a:srgbClr val="FFFFFF"/>
                </a:solidFill>
              </a:rPr>
              <a:t>self.assertIs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recent_question.was_published_recently</a:t>
            </a:r>
            <a:r>
              <a:rPr lang="en-US" altLang="zh-TW" sz="1400" dirty="0">
                <a:solidFill>
                  <a:srgbClr val="FFFFFF"/>
                </a:solidFill>
              </a:rPr>
              <a:t>(), True)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939AA507-AAA4-B0B9-75B1-16D03BAC39F9}"/>
              </a:ext>
            </a:extLst>
          </p:cNvPr>
          <p:cNvSpPr txBox="1"/>
          <p:nvPr/>
        </p:nvSpPr>
        <p:spPr>
          <a:xfrm>
            <a:off x="755576" y="1962266"/>
            <a:ext cx="106512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tests.py</a:t>
            </a:r>
            <a:r>
              <a:rPr lang="zh-TW" altLang="en-US" sz="1200" b="1" dirty="0">
                <a:solidFill>
                  <a:srgbClr val="FFFFFF"/>
                </a:solidFill>
              </a:rPr>
              <a:t> 內容</a:t>
            </a:r>
          </a:p>
        </p:txBody>
      </p:sp>
    </p:spTree>
    <p:extLst>
      <p:ext uri="{BB962C8B-B14F-4D97-AF65-F5344CB8AC3E}">
        <p14:creationId xmlns:p14="http://schemas.microsoft.com/office/powerpoint/2010/main" val="115998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18473-955F-E082-09B7-0ED6673B7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158F598-8439-4413-A8A7-2A0C52732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part6 </a:t>
            </a:r>
            <a:r>
              <a:rPr lang="zh-TW" altLang="en-US" dirty="0">
                <a:latin typeface="+mn-ea"/>
              </a:rPr>
              <a:t>自訂外觀與風格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175D96A-DCD6-3005-45CC-F862CD29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EF3262F-2793-ABD3-43D3-19CB01A2D9B8}"/>
              </a:ext>
            </a:extLst>
          </p:cNvPr>
          <p:cNvSpPr txBox="1"/>
          <p:nvPr/>
        </p:nvSpPr>
        <p:spPr>
          <a:xfrm>
            <a:off x="738808" y="1007949"/>
            <a:ext cx="8128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在</a:t>
            </a:r>
            <a:r>
              <a:rPr lang="en-US" altLang="zh-TW" dirty="0"/>
              <a:t>polls</a:t>
            </a:r>
            <a:r>
              <a:rPr lang="zh-TW" altLang="en-US" dirty="0"/>
              <a:t>目錄下創建一個</a:t>
            </a:r>
            <a:r>
              <a:rPr lang="en-US" altLang="zh-TW" dirty="0"/>
              <a:t>static</a:t>
            </a:r>
            <a:r>
              <a:rPr lang="zh-TW" altLang="en-US" dirty="0"/>
              <a:t>後，</a:t>
            </a:r>
            <a:r>
              <a:rPr lang="en-US" altLang="zh-TW" dirty="0" err="1"/>
              <a:t>django</a:t>
            </a:r>
            <a:r>
              <a:rPr lang="zh-TW" altLang="en-US" dirty="0"/>
              <a:t>會在此查看靜態檔案。</a:t>
            </a:r>
            <a:endParaRPr lang="en-US" altLang="zh-TW" dirty="0"/>
          </a:p>
          <a:p>
            <a:r>
              <a:rPr lang="zh-TW" altLang="en-US" dirty="0"/>
              <a:t>然後在</a:t>
            </a:r>
            <a:r>
              <a:rPr lang="en-US" altLang="zh-TW" dirty="0"/>
              <a:t>static</a:t>
            </a:r>
            <a:r>
              <a:rPr lang="zh-TW" altLang="en-US" dirty="0"/>
              <a:t>目錄創建</a:t>
            </a:r>
            <a:r>
              <a:rPr lang="en-US" altLang="zh-TW" dirty="0"/>
              <a:t>polls</a:t>
            </a:r>
            <a:r>
              <a:rPr lang="zh-TW" altLang="en-US" dirty="0"/>
              <a:t>目錄，最後在</a:t>
            </a:r>
            <a:r>
              <a:rPr lang="en-US" altLang="zh-TW" dirty="0"/>
              <a:t>polls</a:t>
            </a:r>
            <a:r>
              <a:rPr lang="zh-TW" altLang="en-US" dirty="0"/>
              <a:t>目錄創建</a:t>
            </a:r>
            <a:r>
              <a:rPr lang="en-US" altLang="zh-TW" dirty="0"/>
              <a:t>style.css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結果範例如下：</a:t>
            </a:r>
            <a:r>
              <a:rPr lang="en-US" altLang="zh-TW" dirty="0"/>
              <a:t>polls/static/polls/style.css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8B4DD67-B496-B115-73BA-8A2B662C4487}"/>
              </a:ext>
            </a:extLst>
          </p:cNvPr>
          <p:cNvSpPr txBox="1"/>
          <p:nvPr/>
        </p:nvSpPr>
        <p:spPr>
          <a:xfrm>
            <a:off x="738808" y="3326284"/>
            <a:ext cx="8337936" cy="160043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A {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color: green;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}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Body {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	background: #ffefc4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}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001F4BF9-2FC0-9E21-5CDC-111D3D43A5C4}"/>
              </a:ext>
            </a:extLst>
          </p:cNvPr>
          <p:cNvSpPr txBox="1"/>
          <p:nvPr/>
        </p:nvSpPr>
        <p:spPr>
          <a:xfrm>
            <a:off x="738808" y="3049285"/>
            <a:ext cx="106512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style.css</a:t>
            </a:r>
            <a:r>
              <a:rPr lang="zh-TW" altLang="en-US" sz="1200" b="1" dirty="0">
                <a:solidFill>
                  <a:srgbClr val="FFFFFF"/>
                </a:solidFill>
              </a:rPr>
              <a:t>內容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124307C-8B04-4C22-3FAA-07CA41A3F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09" y="5296055"/>
            <a:ext cx="3752511" cy="145367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1CEA5AA-8D79-9584-319E-A2484653EC4C}"/>
              </a:ext>
            </a:extLst>
          </p:cNvPr>
          <p:cNvSpPr txBox="1"/>
          <p:nvPr/>
        </p:nvSpPr>
        <p:spPr>
          <a:xfrm>
            <a:off x="611560" y="4926722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顯示結果</a:t>
            </a:r>
            <a:endParaRPr lang="en-US" altLang="zh-TW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DD3F32F-24CD-5387-BAAD-6CDEF32F5E90}"/>
              </a:ext>
            </a:extLst>
          </p:cNvPr>
          <p:cNvSpPr txBox="1"/>
          <p:nvPr/>
        </p:nvSpPr>
        <p:spPr>
          <a:xfrm>
            <a:off x="738808" y="1966098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Django</a:t>
            </a:r>
            <a:r>
              <a:rPr lang="zh-TW" altLang="en-US" dirty="0"/>
              <a:t>的</a:t>
            </a:r>
            <a:r>
              <a:rPr lang="en-US" altLang="zh-TW" dirty="0"/>
              <a:t>STATICFILES_FINDERS</a:t>
            </a:r>
            <a:r>
              <a:rPr lang="zh-TW" altLang="en-US" dirty="0"/>
              <a:t>包含一組清單方便尋找靜態檔案，其中</a:t>
            </a:r>
            <a:r>
              <a:rPr lang="en-US" altLang="zh-TW" dirty="0" err="1"/>
              <a:t>AppDirectoriesFinder</a:t>
            </a:r>
            <a:r>
              <a:rPr lang="zh-TW" altLang="en-US" dirty="0"/>
              <a:t>會在每個</a:t>
            </a:r>
            <a:r>
              <a:rPr lang="en-US" altLang="zh-TW" dirty="0"/>
              <a:t>INSTALLED_APPS</a:t>
            </a:r>
            <a:r>
              <a:rPr lang="zh-TW" altLang="en-US" dirty="0"/>
              <a:t>尋找名字為</a:t>
            </a:r>
            <a:r>
              <a:rPr lang="en-US" altLang="zh-TW" dirty="0"/>
              <a:t>”static”</a:t>
            </a:r>
            <a:r>
              <a:rPr lang="zh-TW" altLang="en-US" dirty="0"/>
              <a:t>的子目錄。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74530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F1CD-41A7-F66C-222D-DFF663A14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E13ECAC-7D4C-220D-071A-930B55CA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part6 </a:t>
            </a:r>
            <a:r>
              <a:rPr lang="zh-TW" altLang="en-US" dirty="0">
                <a:latin typeface="+mn-ea"/>
              </a:rPr>
              <a:t>自訂外觀與風格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9C0645F-E6C4-C1FC-FFC7-386EDC42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F0F2C4-0DC7-DCAA-7887-06F8AB8AD350}"/>
              </a:ext>
            </a:extLst>
          </p:cNvPr>
          <p:cNvSpPr txBox="1"/>
          <p:nvPr/>
        </p:nvSpPr>
        <p:spPr>
          <a:xfrm>
            <a:off x="738808" y="1007949"/>
            <a:ext cx="8128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更多修改</a:t>
            </a:r>
            <a:r>
              <a:rPr lang="en-US" altLang="zh-TW" dirty="0"/>
              <a:t>style.css</a:t>
            </a:r>
            <a:r>
              <a:rPr lang="zh-TW" altLang="en-US" dirty="0"/>
              <a:t>的範例。</a:t>
            </a:r>
            <a:endParaRPr lang="en-US" altLang="zh-TW" dirty="0"/>
          </a:p>
          <a:p>
            <a:r>
              <a:rPr lang="zh-TW" altLang="en-US" dirty="0"/>
              <a:t>如果要需要新增圖片，放置在</a:t>
            </a:r>
            <a:r>
              <a:rPr lang="en-US" altLang="zh-TW" dirty="0"/>
              <a:t>polls/static/polls/images   (</a:t>
            </a:r>
            <a:r>
              <a:rPr lang="zh-TW" altLang="en-US" dirty="0"/>
              <a:t>和</a:t>
            </a:r>
            <a:r>
              <a:rPr lang="en-US" altLang="zh-TW" dirty="0"/>
              <a:t>style.css</a:t>
            </a:r>
            <a:r>
              <a:rPr lang="zh-TW" altLang="en-US" dirty="0"/>
              <a:t>同個目錄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並在</a:t>
            </a:r>
            <a:r>
              <a:rPr lang="en-US" altLang="zh-TW" dirty="0" err="1"/>
              <a:t>css</a:t>
            </a:r>
            <a:r>
              <a:rPr lang="zh-TW" altLang="en-US" dirty="0"/>
              <a:t>使用相對位置。</a:t>
            </a:r>
            <a:endParaRPr lang="en-US" altLang="zh-TW" dirty="0"/>
          </a:p>
          <a:p>
            <a:r>
              <a:rPr lang="zh-TW" altLang="en-US" dirty="0"/>
              <a:t>重新載入</a:t>
            </a:r>
            <a:r>
              <a:rPr lang="en-US" altLang="zh-TW" dirty="0">
                <a:hlinkClick r:id="rId2"/>
              </a:rPr>
              <a:t>http://localhost:8000/polls/1/</a:t>
            </a:r>
            <a:r>
              <a:rPr lang="zh-TW" altLang="en-US" dirty="0"/>
              <a:t>後，會直接載入更改的外觀</a:t>
            </a:r>
            <a:endParaRPr lang="en-US" altLang="zh-TW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DA31457-D994-FDC7-5F57-FE68345C1D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08" y="2996952"/>
            <a:ext cx="7112896" cy="375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8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93D5-967F-4BE9-3382-0A6958C1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149230-77E1-A059-0816-17243710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用生成式</a:t>
            </a:r>
            <a:r>
              <a:rPr lang="en-US" altLang="zh-TW" dirty="0"/>
              <a:t>AI</a:t>
            </a:r>
            <a:r>
              <a:rPr lang="zh-TW" altLang="en-US" dirty="0"/>
              <a:t>寫程式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1000E1-901A-DAC1-24CF-6D16D2AD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生成式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AI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和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Gemini</a:t>
            </a: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生成式人工智慧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	(Generative AI, GenAI)</a:t>
            </a:r>
          </a:p>
          <a:p>
            <a:pPr lvl="2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能根據要求，產出各種訊息的人工智慧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3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輸入：以自然語言給予的</a:t>
            </a:r>
            <a:r>
              <a:rPr lang="zh-TW" altLang="en-US" i="0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指令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(Prompt)</a:t>
            </a:r>
          </a:p>
          <a:p>
            <a:pPr lvl="3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輸出：文字、圖片、</a:t>
            </a:r>
            <a:r>
              <a:rPr lang="zh-TW" altLang="en-US" i="0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程式碼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、各種檔案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2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大規模語言模型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(Large Language Model, LLM)</a:t>
            </a:r>
          </a:p>
          <a:p>
            <a:pPr lvl="3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運用機器學習技術，尤其為深度學習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3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透過大量的資料來訓練模型，讓他學習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記憶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 marL="384048" lvl="3">
              <a:lnSpc>
                <a:spcPct val="100000"/>
              </a:lnSpc>
              <a:spcBef>
                <a:spcPts val="1000"/>
              </a:spcBef>
              <a:buSzPct val="100000"/>
              <a:buFont typeface="Franklin Gothic Book" panose="020B0503020102020204" pitchFamily="34" charset="0"/>
              <a:buChar char="■"/>
            </a:pPr>
            <a:r>
              <a:rPr lang="en-US" altLang="zh-TW" sz="2000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Gemini</a:t>
            </a:r>
          </a:p>
          <a:p>
            <a:pPr marL="841248" lvl="4">
              <a:lnSpc>
                <a:spcPct val="100000"/>
              </a:lnSpc>
              <a:spcBef>
                <a:spcPts val="10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Google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公司在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2023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年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月公開的人工智慧聊天機器人，名字為</a:t>
            </a:r>
            <a:r>
              <a:rPr lang="en-US" altLang="zh-TW" dirty="0"/>
              <a:t>Bard</a:t>
            </a:r>
            <a:r>
              <a:rPr lang="zh-TW" altLang="en-US" dirty="0"/>
              <a:t>，後來在</a:t>
            </a:r>
            <a:r>
              <a:rPr lang="en-US" altLang="zh-TW" dirty="0"/>
              <a:t>2024</a:t>
            </a:r>
            <a:r>
              <a:rPr lang="zh-TW" altLang="en-US" dirty="0"/>
              <a:t>年</a:t>
            </a:r>
            <a:r>
              <a:rPr lang="en-US" altLang="zh-TW" dirty="0"/>
              <a:t>2</a:t>
            </a:r>
            <a:r>
              <a:rPr lang="zh-TW" altLang="en-US" dirty="0"/>
              <a:t>月</a:t>
            </a:r>
            <a:r>
              <a:rPr lang="en-US" altLang="zh-TW" dirty="0"/>
              <a:t>8</a:t>
            </a:r>
            <a:r>
              <a:rPr lang="zh-TW" altLang="en-US" dirty="0"/>
              <a:t>日改名為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Gemini</a:t>
            </a:r>
          </a:p>
          <a:p>
            <a:pPr marL="457200" lvl="4" indent="0">
              <a:lnSpc>
                <a:spcPct val="100000"/>
              </a:lnSpc>
              <a:spcBef>
                <a:spcPts val="1000"/>
              </a:spcBef>
              <a:buSzPct val="50000"/>
              <a:buNone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4211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918ED-6363-421B-24F1-8B3CB0A18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A5ED5-A73A-A26B-A5DB-6294A953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生成式</a:t>
            </a:r>
            <a:r>
              <a:rPr lang="en-US" altLang="zh-TW" dirty="0"/>
              <a:t>AI</a:t>
            </a:r>
            <a:r>
              <a:rPr lang="zh-TW" altLang="en-US" dirty="0"/>
              <a:t>為什麼可以產出程式</a:t>
            </a:r>
            <a:r>
              <a:rPr lang="en-US" altLang="zh-TW" dirty="0"/>
              <a:t>?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386009-938D-216B-9574-EDD624851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因為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AI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模型已經看過大量的程式碼，從中學習程式設計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如同存著大量的自然語言文章，目前已有大量公開程式碼可用於訓練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而我們需要的應用程式，無論任何類型應該都出現過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2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只是運用場景不同的變化題目，需要細部調整、套用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987552" lvl="2" indent="0">
              <a:lnSpc>
                <a:spcPct val="100000"/>
              </a:lnSpc>
              <a:buSzPct val="50000"/>
              <a:buNone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384048" lvl="3">
              <a:lnSpc>
                <a:spcPct val="100000"/>
              </a:lnSpc>
              <a:spcBef>
                <a:spcPts val="10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以往的程式設計：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841248" lvl="4">
              <a:lnSpc>
                <a:spcPct val="100000"/>
              </a:lnSpc>
              <a:spcBef>
                <a:spcPts val="10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題目場景敘述→以指定程式語言撰寫的程式碼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384048" lvl="3">
              <a:lnSpc>
                <a:spcPct val="100000"/>
              </a:lnSpc>
              <a:spcBef>
                <a:spcPts val="10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用生成式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AI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寫程式：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841248" lvl="4">
              <a:lnSpc>
                <a:spcPct val="100000"/>
              </a:lnSpc>
              <a:spcBef>
                <a:spcPts val="10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題目場景敘述→ </a:t>
            </a:r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自然語言提示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→指定程式語言的程式碼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0A11A840-46E1-4284-D44A-11C562AF5894}"/>
              </a:ext>
            </a:extLst>
          </p:cNvPr>
          <p:cNvCxnSpPr/>
          <p:nvPr/>
        </p:nvCxnSpPr>
        <p:spPr>
          <a:xfrm>
            <a:off x="2843808" y="4797152"/>
            <a:ext cx="72008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83E5D11-FD29-2A35-4123-BD098003D76C}"/>
              </a:ext>
            </a:extLst>
          </p:cNvPr>
          <p:cNvSpPr txBox="1"/>
          <p:nvPr/>
        </p:nvSpPr>
        <p:spPr>
          <a:xfrm>
            <a:off x="2051720" y="5224554"/>
            <a:ext cx="187220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1400" dirty="0"/>
              <a:t>是否能明確表達意圖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3D84DFD-0631-F82D-97D1-8D7C8946DF45}"/>
              </a:ext>
            </a:extLst>
          </p:cNvPr>
          <p:cNvCxnSpPr>
            <a:cxnSpLocks/>
          </p:cNvCxnSpPr>
          <p:nvPr/>
        </p:nvCxnSpPr>
        <p:spPr>
          <a:xfrm flipV="1">
            <a:off x="4355976" y="4293096"/>
            <a:ext cx="584448" cy="216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6EBA4B-A4A4-C116-1F46-91CBD2580695}"/>
              </a:ext>
            </a:extLst>
          </p:cNvPr>
          <p:cNvSpPr txBox="1"/>
          <p:nvPr/>
        </p:nvSpPr>
        <p:spPr>
          <a:xfrm>
            <a:off x="4940424" y="4091907"/>
            <a:ext cx="187220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1400" dirty="0"/>
              <a:t>生成式</a:t>
            </a:r>
            <a:r>
              <a:rPr lang="en-US" altLang="zh-TW" sz="1400" dirty="0"/>
              <a:t>AI(</a:t>
            </a:r>
            <a:r>
              <a:rPr lang="en-US" altLang="zh-TW" sz="1400" dirty="0" err="1"/>
              <a:t>Genimi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90382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101E-3793-30FE-39BA-C30C6A2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DFE6B-6493-50C8-8B1B-2EB0C1C6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生成程式對與錯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21775C-0618-99C7-42DE-58F7E9F0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生成的程式可以信任嗎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?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是否會有錯誤呢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?</a:t>
            </a: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畢竟是透過我們給予的自然語言提示產生出來的程式碼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2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可能我們的指令不夠精準、正確，以至於</a:t>
            </a:r>
            <a:r>
              <a:rPr lang="zh-TW" altLang="en-US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生成程式碼「詞不達意」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，不符需求、或有錯誤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2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如同以往搜尋引擎、教科書，能來找到答案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3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但有賴於使用者的理解與判斷，來修改成合適的程式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3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也像是位程式設計專家讓我們諮詢、等待我們指示工作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3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但還是有賴於</a:t>
            </a:r>
            <a:r>
              <a:rPr lang="zh-TW" altLang="en-US" b="1" i="0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程式開發者的需求與描述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，才能得到有效的解答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457200" lvl="4" indent="0">
              <a:lnSpc>
                <a:spcPct val="100000"/>
              </a:lnSpc>
              <a:spcBef>
                <a:spcPts val="1000"/>
              </a:spcBef>
              <a:buSzPct val="50000"/>
              <a:buNone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2350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4AE97-9BCF-2323-2737-B432FA37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C87866-0475-4668-AFC0-650A80F7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寫程式是在解決問題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A4D9DA-92D6-1DAE-6B30-975A9E68D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程式設計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寫程式，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programming)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是針對應用問題的題目，撰寫出適合的程式來解決，例如：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做一個影像辨識的程式來判斷昆蟲種類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做一個統計圖表的程式來分析數據資料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如果只用「題目」去問</a:t>
            </a:r>
            <a:r>
              <a:rPr lang="en-US" altLang="zh-TW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Genimi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相當於用題目搜尋答案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(what)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，而非自己解題！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但事實上是各種不同的場景→</a:t>
            </a:r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變化題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如同學生解題，應該要明確說明做法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(how)</a:t>
            </a:r>
          </a:p>
          <a:p>
            <a:pPr lvl="2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提示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Gemini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生成什麼樣的程式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457200" lvl="4" indent="0">
              <a:lnSpc>
                <a:spcPct val="100000"/>
              </a:lnSpc>
              <a:spcBef>
                <a:spcPts val="1000"/>
              </a:spcBef>
              <a:buSzPct val="50000"/>
              <a:buNone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615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E0B45-89E8-3E9B-8E3C-2A944704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B973F5-7F3C-7699-FD41-680567EF9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一個題目有多個解法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0CCD09-4524-AF73-80EF-9FAE9F7CD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真實世界的問題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題目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往往有許多的解法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不像考試會限縮範圍，有唯一的答案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比如說，設計一張椅子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需求是什麼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?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e.g. 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打算給大人或孩童坐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跟據該需求訂好規格描述， 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e.g. 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耐重、高度、椅背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…</a:t>
            </a: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依此規格進行實作，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e.g. 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選定材料、裁切、組裝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…</a:t>
            </a: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程式設計也是如此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究竟需要什麼程式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?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清楚</a:t>
            </a:r>
            <a:r>
              <a:rPr lang="zh-TW" altLang="en-US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描述需求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才能做好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下明確的提示讓</a:t>
            </a:r>
            <a:r>
              <a:rPr lang="en-US" altLang="zh-TW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Genimi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據此產出</a:t>
            </a:r>
            <a:r>
              <a:rPr lang="zh-TW" altLang="en-US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滿足需求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的程式！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457200" lvl="4" indent="0">
              <a:lnSpc>
                <a:spcPct val="100000"/>
              </a:lnSpc>
              <a:spcBef>
                <a:spcPts val="1000"/>
              </a:spcBef>
              <a:buSzPct val="50000"/>
              <a:buNone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8594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6A98-9186-AF70-5A53-8C917E12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4A447-3AAC-2283-39E0-998529BF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實作</a:t>
            </a:r>
            <a:r>
              <a:rPr lang="en-US" altLang="zh-TW" dirty="0"/>
              <a:t>-</a:t>
            </a:r>
            <a:r>
              <a:rPr lang="zh-TW" altLang="en-US" dirty="0"/>
              <a:t>貪食蛇練習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61B041-8499-DFA7-CF2D-CA4F0C336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7920880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如果我們需要一個可以玩貪食蛇的遊戲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….</a:t>
            </a: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b="1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提示：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我想要做一個貪食蛇的遊戲，請問我要怎麼做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?</a:t>
            </a: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TW" b="1" i="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Genimi</a:t>
            </a:r>
            <a:r>
              <a:rPr lang="zh-TW" altLang="en-US" b="1" i="0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可能的回應</a:t>
            </a:r>
            <a:r>
              <a:rPr lang="zh-TW" altLang="en-US" b="1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如下：</a:t>
            </a:r>
            <a:endParaRPr lang="en-US" altLang="zh-TW" b="1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B0BFA4A-CBA2-9523-DC80-5018709AA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132856"/>
            <a:ext cx="3672408" cy="223464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415B88C-B13E-1B90-C218-85B20F099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753783"/>
            <a:ext cx="4738573" cy="310421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2DA27E5-A932-E421-6866-2319D1A914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829" y="1763159"/>
            <a:ext cx="3176680" cy="239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51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3178-3194-76E3-91EC-857D5BF4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B97002A1-DD8C-BD06-1720-18108A3BA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47" y="4922058"/>
            <a:ext cx="4226109" cy="170473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B21DDD1-D179-0857-148B-EC234123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實作</a:t>
            </a:r>
            <a:r>
              <a:rPr lang="en-US" altLang="zh-TW" dirty="0"/>
              <a:t>-</a:t>
            </a:r>
            <a:r>
              <a:rPr lang="zh-TW" altLang="en-US" dirty="0"/>
              <a:t>貪食蛇練習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2EDB4C-4CB1-431F-B712-9B11AFB5C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3096344" cy="582575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提示：</a:t>
            </a:r>
            <a:endParaRPr lang="en-US" altLang="zh-TW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我想要做貪食蛇的遊戲程式，請遵照以下規則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我想要使用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python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程式語言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必須使用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python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的圖案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請加上註解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4.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要有設定目標分數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5.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使用鍵盤的上下左右鍵來操控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請給我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正確程式碼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程式說明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預期結果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</a:pPr>
            <a:r>
              <a:rPr lang="en-US" altLang="zh-TW" b="1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Genimi</a:t>
            </a:r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可能的回應如右：</a:t>
            </a:r>
            <a:endParaRPr lang="en-US" altLang="zh-TW" b="1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78AB94-ECF1-021A-6409-9196A77285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777" y="1083575"/>
            <a:ext cx="3229022" cy="256144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809C63E-E35C-D019-8E84-958F8F086B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8" y="2780928"/>
            <a:ext cx="3459551" cy="233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53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4E5A-34CE-152A-CEB7-0127D616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0BDCFB-3732-74A9-C25D-5BD957BF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實作</a:t>
            </a:r>
            <a:r>
              <a:rPr lang="en-US" altLang="zh-TW" dirty="0"/>
              <a:t>-</a:t>
            </a:r>
            <a:r>
              <a:rPr lang="zh-TW" altLang="en-US" dirty="0"/>
              <a:t>貪食蛇練習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487FAC-96C6-50F0-E566-62A4B50E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3384376" cy="582575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提示：</a:t>
            </a:r>
            <a:endParaRPr lang="en-US" altLang="zh-TW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我想要做貪食蛇的遊戲程式，請遵照以下規則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我想要使用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python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程式語言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必須使用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python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的圖案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請加上註解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4.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要有設定目標分數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5.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使用鍵盤的上下左右鍵來操控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請給我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1.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正確程式碼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程式說明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SzPct val="50000"/>
              <a:buNone/>
            </a:pP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3.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預期結果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CC540C-BBC5-DE5D-961B-C08ED8D71911}"/>
              </a:ext>
            </a:extLst>
          </p:cNvPr>
          <p:cNvSpPr/>
          <p:nvPr/>
        </p:nvSpPr>
        <p:spPr>
          <a:xfrm>
            <a:off x="611560" y="1988840"/>
            <a:ext cx="3312368" cy="2708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5BF00A-92E1-03F5-C164-0514A2DF6FD2}"/>
              </a:ext>
            </a:extLst>
          </p:cNvPr>
          <p:cNvSpPr/>
          <p:nvPr/>
        </p:nvSpPr>
        <p:spPr>
          <a:xfrm>
            <a:off x="611560" y="5021796"/>
            <a:ext cx="1761936" cy="13955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C41795E-F09C-A096-5F80-21B2835475F6}"/>
              </a:ext>
            </a:extLst>
          </p:cNvPr>
          <p:cNvSpPr txBox="1">
            <a:spLocks/>
          </p:cNvSpPr>
          <p:nvPr/>
        </p:nvSpPr>
        <p:spPr>
          <a:xfrm>
            <a:off x="4211960" y="1848272"/>
            <a:ext cx="4788024" cy="3960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可見前一次我們問得不好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…</a:t>
            </a:r>
          </a:p>
          <a:p>
            <a:pPr lvl="1" indent="-720000">
              <a:lnSpc>
                <a:spcPct val="100000"/>
              </a:lnSpc>
              <a:buSzPct val="50000"/>
              <a:buNone/>
            </a:pPr>
            <a:r>
              <a:rPr lang="zh-TW" altLang="en-US" b="1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提示：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我想要做一個貪食蛇的遊戲，請問我要怎麼做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?</a:t>
            </a:r>
          </a:p>
          <a:p>
            <a:pPr lvl="1" indent="-720000">
              <a:lnSpc>
                <a:spcPct val="100000"/>
              </a:lnSpc>
              <a:buSzPct val="50000"/>
              <a:buNone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indent="0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如果沒有</a:t>
            </a:r>
            <a:r>
              <a:rPr lang="zh-TW" altLang="en-US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明確的</a:t>
            </a:r>
            <a:r>
              <a:rPr lang="zh-TW" altLang="en-US" b="1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需求</a:t>
            </a:r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，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描述要什麼樣的程式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…</a:t>
            </a:r>
          </a:p>
          <a:p>
            <a:pPr lvl="1" indent="0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可能只有相關的建議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 indent="0">
              <a:lnSpc>
                <a:spcPct val="100000"/>
              </a:lnSpc>
              <a:buSzPct val="50000"/>
              <a:buNone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indent="0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如果沒有</a:t>
            </a:r>
            <a:r>
              <a:rPr lang="zh-TW" altLang="en-US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明確要求</a:t>
            </a:r>
            <a:r>
              <a:rPr lang="zh-TW" altLang="en-US" b="1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產出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什麼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…</a:t>
            </a:r>
          </a:p>
          <a:p>
            <a:pPr lvl="1" indent="0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不一定可以拿到我們要的資訊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390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DE8B-ACC3-038D-748F-484E709E5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B60B9-EBE5-B362-6E1B-446FE921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運用</a:t>
            </a:r>
            <a:r>
              <a:rPr lang="en-US" altLang="zh-TW" dirty="0" err="1"/>
              <a:t>Genimi</a:t>
            </a:r>
            <a:r>
              <a:rPr lang="zh-TW" altLang="en-US" dirty="0"/>
              <a:t>寫程式的要領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8904BF-451E-F777-8F41-55F302419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7776864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從題目到需求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現實上的應用場景都是不同的</a:t>
            </a:r>
            <a:r>
              <a:rPr lang="zh-TW" altLang="en-US" b="1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變化題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釐清自己的</a:t>
            </a:r>
            <a:r>
              <a:rPr lang="zh-TW" altLang="en-US" i="0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程式需求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與規格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從需求到提示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不要只是拿題目去問，而是從需求來</a:t>
            </a:r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描述要什麼</a:t>
            </a:r>
            <a:endParaRPr lang="en-US" altLang="zh-TW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期望程式</a:t>
            </a:r>
            <a:r>
              <a:rPr lang="zh-TW" altLang="en-US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輸入、輸出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什麼、要做到什麼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不要只想拿題目去問現成的答案，而是在</a:t>
            </a:r>
            <a:r>
              <a:rPr lang="en-US" altLang="zh-TW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Genimi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的協助下，來製作自己的程式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符合需求、可理解、可解釋、可負責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2268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1FA81-EF89-BBDC-41C0-03A5D545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D3D187-56FA-EEB7-8CE0-FA16081B4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逐步提示以改善程式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8C2322-7043-9159-8321-ACB61877F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觀察程式執行的</a:t>
            </a:r>
            <a:r>
              <a:rPr lang="zh-TW" altLang="en-US" b="1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正確性</a:t>
            </a:r>
            <a:endParaRPr lang="en-US" altLang="zh-TW" b="1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從圖表等輸出結果判斷，和既有的資訊作比較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確定</a:t>
            </a:r>
            <a:r>
              <a:rPr lang="zh-TW" altLang="en-US" i="0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往對的方向走</a:t>
            </a:r>
            <a:endParaRPr lang="en-US" altLang="zh-TW" i="0" u="sng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善用程式執行的</a:t>
            </a:r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錯誤訊息</a:t>
            </a:r>
            <a:endParaRPr lang="en-US" altLang="zh-TW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透過生成的</a:t>
            </a:r>
            <a:r>
              <a:rPr lang="zh-TW" altLang="en-US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程式碼註解、回應的修正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要點來找出問題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也可以將錯誤訊息回饋於提示</a:t>
            </a: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530352" lvl="1" indent="0">
              <a:lnSpc>
                <a:spcPct val="100000"/>
              </a:lnSpc>
              <a:buSzPct val="50000"/>
              <a:buNone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仔細</a:t>
            </a:r>
            <a:r>
              <a:rPr lang="zh-TW" altLang="en-US" b="1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觀察並思考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程式的執行結果</a:t>
            </a:r>
            <a:r>
              <a:rPr lang="zh-TW" altLang="en-US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→須培養批判性思維</a:t>
            </a:r>
            <a:r>
              <a:rPr lang="en-US" altLang="zh-TW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(Critical Thinking)</a:t>
            </a: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執行時沒有錯誤不代表沒問題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1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不見得要理解程式碼每個範例，但</a:t>
            </a:r>
            <a:r>
              <a:rPr lang="zh-TW" altLang="en-US" i="0" u="sng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可以問、可以給範例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5949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BC7F7-2CDC-C407-A11F-33DBDBBE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5A98C0-6233-C906-6001-41D58B53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zh-TW" altLang="en-US" dirty="0"/>
              <a:t>執行畫面和遇到的問題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248B2-BD03-21EA-BD6A-F7672F1A5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執行</a:t>
            </a:r>
            <a:r>
              <a:rPr lang="en-US" altLang="zh-TW" i="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pygame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時，要先安裝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en-US" altLang="zh-TW" dirty="0"/>
              <a:t>pip install </a:t>
            </a:r>
            <a:r>
              <a:rPr lang="en-US" altLang="zh-TW" dirty="0" err="1"/>
              <a:t>pygame</a:t>
            </a: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TW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Google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i="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colab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沒有辦法使用</a:t>
            </a:r>
            <a:r>
              <a:rPr lang="en-US" altLang="zh-TW" i="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pygame</a:t>
            </a:r>
            <a:r>
              <a:rPr lang="zh-TW" altLang="en-US" i="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的函式</a:t>
            </a:r>
            <a:endParaRPr lang="en-US" altLang="zh-TW" i="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22C982E1-0E36-1D47-E138-43CA1228F7B8}"/>
              </a:ext>
            </a:extLst>
          </p:cNvPr>
          <p:cNvGrpSpPr/>
          <p:nvPr/>
        </p:nvGrpSpPr>
        <p:grpSpPr>
          <a:xfrm>
            <a:off x="623785" y="1268760"/>
            <a:ext cx="2665836" cy="2369941"/>
            <a:chOff x="623784" y="1268760"/>
            <a:chExt cx="2801809" cy="2480817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71D239D4-9B44-ABCF-E4F1-B0297E0B4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784" y="1268760"/>
              <a:ext cx="2801809" cy="1995398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EACAE1B5-393A-ECD0-7450-D7804AD1AE54}"/>
                </a:ext>
              </a:extLst>
            </p:cNvPr>
            <p:cNvSpPr txBox="1"/>
            <p:nvPr/>
          </p:nvSpPr>
          <p:spPr>
            <a:xfrm>
              <a:off x="1098513" y="3362966"/>
              <a:ext cx="2009890" cy="386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進入遊戲的畫面</a:t>
              </a: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2590DEA1-CD48-15A1-A6EE-875E3D79734F}"/>
              </a:ext>
            </a:extLst>
          </p:cNvPr>
          <p:cNvGrpSpPr/>
          <p:nvPr/>
        </p:nvGrpSpPr>
        <p:grpSpPr>
          <a:xfrm>
            <a:off x="3497081" y="1268759"/>
            <a:ext cx="2665836" cy="2403913"/>
            <a:chOff x="3497080" y="1268759"/>
            <a:chExt cx="2801809" cy="2516378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B8D8EE2E-1F28-F820-B951-308F065CD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7080" y="1268759"/>
              <a:ext cx="2801809" cy="2006050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5697CC52-FE19-1656-1B84-8AB170A2A550}"/>
                </a:ext>
              </a:extLst>
            </p:cNvPr>
            <p:cNvSpPr txBox="1"/>
            <p:nvPr/>
          </p:nvSpPr>
          <p:spPr>
            <a:xfrm>
              <a:off x="4002701" y="3398526"/>
              <a:ext cx="1910699" cy="386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遊戲過關的畫面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F9FC1CB0-EF40-9EBF-7862-0EA80A453771}"/>
              </a:ext>
            </a:extLst>
          </p:cNvPr>
          <p:cNvGrpSpPr/>
          <p:nvPr/>
        </p:nvGrpSpPr>
        <p:grpSpPr>
          <a:xfrm>
            <a:off x="6319601" y="1268759"/>
            <a:ext cx="2644887" cy="2392772"/>
            <a:chOff x="6319601" y="1268759"/>
            <a:chExt cx="2779791" cy="2504716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BA17DA3C-3499-7B2E-46F0-BCD7883EA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32" r="1447"/>
            <a:stretch>
              <a:fillRect/>
            </a:stretch>
          </p:blipFill>
          <p:spPr>
            <a:xfrm>
              <a:off x="6319601" y="1268759"/>
              <a:ext cx="2779791" cy="2016989"/>
            </a:xfrm>
            <a:prstGeom prst="rect">
              <a:avLst/>
            </a:prstGeom>
          </p:spPr>
        </p:pic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6EE8B1BB-7CC6-B0FA-47F9-D0899E91BF81}"/>
                </a:ext>
              </a:extLst>
            </p:cNvPr>
            <p:cNvSpPr txBox="1"/>
            <p:nvPr/>
          </p:nvSpPr>
          <p:spPr>
            <a:xfrm>
              <a:off x="6814213" y="3386864"/>
              <a:ext cx="1910699" cy="386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遊戲失敗的畫面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5360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/>
          <a:lstStyle/>
          <a:p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933819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裁剪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TM10001105[[fn=裁剪]]</Template>
  <TotalTime>5516</TotalTime>
  <Words>2194</Words>
  <Application>Microsoft Office PowerPoint</Application>
  <PresentationFormat>如螢幕大小 (4:3)</PresentationFormat>
  <Paragraphs>258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Aptos</vt:lpstr>
      <vt:lpstr>微軟正黑體</vt:lpstr>
      <vt:lpstr>微軟正黑體 Light</vt:lpstr>
      <vt:lpstr>新細明體</vt:lpstr>
      <vt:lpstr>Franklin Gothic Book</vt:lpstr>
      <vt:lpstr>Wingdings</vt:lpstr>
      <vt:lpstr>裁剪</vt:lpstr>
      <vt:lpstr>第八週</vt:lpstr>
      <vt:lpstr>目錄</vt:lpstr>
      <vt:lpstr>django – part5 自動測試</vt:lpstr>
      <vt:lpstr>django – part5 自動測試</vt:lpstr>
      <vt:lpstr>django – part5 自動測試</vt:lpstr>
      <vt:lpstr>django – part5 自動測試</vt:lpstr>
      <vt:lpstr>django – part5 自動測試</vt:lpstr>
      <vt:lpstr>django – part5 自動測試</vt:lpstr>
      <vt:lpstr>django – part6 自訂外觀與風格</vt:lpstr>
      <vt:lpstr>django – part6 自訂外觀與風格</vt:lpstr>
      <vt:lpstr>用生成式AI寫程式</vt:lpstr>
      <vt:lpstr>生成式AI為什麼可以產出程式?</vt:lpstr>
      <vt:lpstr>生成程式對與錯</vt:lpstr>
      <vt:lpstr>寫程式是在解決問題</vt:lpstr>
      <vt:lpstr>一個題目有多個解法</vt:lpstr>
      <vt:lpstr>實作-貪食蛇練習</vt:lpstr>
      <vt:lpstr>實作-貪食蛇練習</vt:lpstr>
      <vt:lpstr>實作-貪食蛇練習</vt:lpstr>
      <vt:lpstr>運用Genimi寫程式的要領</vt:lpstr>
      <vt:lpstr>逐步提示以改善程式</vt:lpstr>
      <vt:lpstr>執行畫面和遇到的問題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Ren’Py內部語法</dc:title>
  <dc:creator>甘</dc:creator>
  <cp:lastModifiedBy>張雅媛</cp:lastModifiedBy>
  <cp:revision>127</cp:revision>
  <dcterms:created xsi:type="dcterms:W3CDTF">2026-03-01T17:53:11Z</dcterms:created>
  <dcterms:modified xsi:type="dcterms:W3CDTF">2026-04-27T07:29:50Z</dcterms:modified>
</cp:coreProperties>
</file>